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63" r:id="rId2"/>
    <p:sldId id="257" r:id="rId3"/>
    <p:sldId id="265" r:id="rId4"/>
    <p:sldId id="266" r:id="rId5"/>
    <p:sldId id="267" r:id="rId6"/>
    <p:sldId id="278" r:id="rId7"/>
    <p:sldId id="269" r:id="rId8"/>
    <p:sldId id="279" r:id="rId9"/>
    <p:sldId id="276" r:id="rId10"/>
    <p:sldId id="274" r:id="rId11"/>
    <p:sldId id="272" r:id="rId12"/>
    <p:sldId id="273" r:id="rId13"/>
    <p:sldId id="271" r:id="rId14"/>
    <p:sldId id="262" r:id="rId15"/>
    <p:sldId id="275" r:id="rId16"/>
  </p:sldIdLst>
  <p:sldSz cx="18288000" cy="10287000"/>
  <p:notesSz cx="6858000" cy="9144000"/>
  <p:embeddedFontLst>
    <p:embeddedFont>
      <p:font typeface="HK Modular" panose="020B0604020202020204" charset="0"/>
      <p:regular r:id="rId17"/>
      <p:bold r:id="rId18"/>
    </p:embeddedFont>
    <p:embeddedFont>
      <p:font typeface="Modular" panose="020B0604020202020204" charset="0"/>
      <p:regular r:id="rId19"/>
    </p:embeddedFont>
    <p:embeddedFont>
      <p:font typeface="Univers Condensed Light" panose="020B0306020202040204" pitchFamily="34" charset="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2" autoAdjust="0"/>
    <p:restoredTop sz="94552" autoAdjust="0"/>
  </p:normalViewPr>
  <p:slideViewPr>
    <p:cSldViewPr>
      <p:cViewPr varScale="1">
        <p:scale>
          <a:sx n="79" d="100"/>
          <a:sy n="79" d="100"/>
        </p:scale>
        <p:origin x="168"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image" Target="../media/image5.png"/><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
        <p:nvSpPr>
          <p:cNvPr id="7" name="Freeform 2">
            <a:extLst>
              <a:ext uri="{FF2B5EF4-FFF2-40B4-BE49-F238E27FC236}">
                <a16:creationId xmlns:a16="http://schemas.microsoft.com/office/drawing/2014/main" id="{8342520F-794C-7305-C66B-EE3BEE6192CA}"/>
              </a:ext>
            </a:extLst>
          </p:cNvPr>
          <p:cNvSpPr/>
          <p:nvPr userDrawn="1"/>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3"/>
            <a:stretch>
              <a:fillRect t="-3888" b="-3888"/>
            </a:stretch>
          </a:blipFill>
        </p:spPr>
        <p:txBody>
          <a:bodyPr/>
          <a:lstStyle/>
          <a:p>
            <a:endParaRPr lang="en-US"/>
          </a:p>
        </p:txBody>
      </p:sp>
      <p:sp>
        <p:nvSpPr>
          <p:cNvPr id="8" name="Freeform 3">
            <a:extLst>
              <a:ext uri="{FF2B5EF4-FFF2-40B4-BE49-F238E27FC236}">
                <a16:creationId xmlns:a16="http://schemas.microsoft.com/office/drawing/2014/main" id="{15A49D2E-9EAA-97D3-98A7-DA751A70BFD5}"/>
              </a:ext>
            </a:extLst>
          </p:cNvPr>
          <p:cNvSpPr/>
          <p:nvPr userDrawn="1"/>
        </p:nvSpPr>
        <p:spPr>
          <a:xfrm rot="544721">
            <a:off x="303694" y="3390868"/>
            <a:ext cx="3903087" cy="4159201"/>
          </a:xfrm>
          <a:custGeom>
            <a:avLst/>
            <a:gdLst/>
            <a:ahLst/>
            <a:cxnLst/>
            <a:rect l="l" t="t" r="r" b="b"/>
            <a:pathLst>
              <a:path w="3903087" h="4159201">
                <a:moveTo>
                  <a:pt x="0" y="0"/>
                </a:moveTo>
                <a:lnTo>
                  <a:pt x="3903087" y="0"/>
                </a:lnTo>
                <a:lnTo>
                  <a:pt x="3903087" y="4159201"/>
                </a:lnTo>
                <a:lnTo>
                  <a:pt x="0" y="4159201"/>
                </a:lnTo>
                <a:lnTo>
                  <a:pt x="0" y="0"/>
                </a:lnTo>
                <a:close/>
              </a:path>
            </a:pathLst>
          </a:custGeom>
          <a:blipFill>
            <a:blip r:embed="rId14">
              <a:alphaModFix amt="81000"/>
            </a:blip>
            <a:stretch>
              <a:fillRect l="-15711" t="-12758" r="-83968" b="-18411"/>
            </a:stretch>
          </a:blipFill>
        </p:spPr>
        <p:txBody>
          <a:bodyPr/>
          <a:lstStyle/>
          <a:p>
            <a:endParaRPr lang="en-US"/>
          </a:p>
        </p:txBody>
      </p:sp>
      <p:sp>
        <p:nvSpPr>
          <p:cNvPr id="9" name="Freeform 4">
            <a:extLst>
              <a:ext uri="{FF2B5EF4-FFF2-40B4-BE49-F238E27FC236}">
                <a16:creationId xmlns:a16="http://schemas.microsoft.com/office/drawing/2014/main" id="{2E853F9F-5C2C-D2B1-72A3-2870CA0D2F1B}"/>
              </a:ext>
            </a:extLst>
          </p:cNvPr>
          <p:cNvSpPr/>
          <p:nvPr userDrawn="1"/>
        </p:nvSpPr>
        <p:spPr>
          <a:xfrm rot="-3376037">
            <a:off x="8257739" y="2467182"/>
            <a:ext cx="11377085" cy="11574449"/>
          </a:xfrm>
          <a:custGeom>
            <a:avLst/>
            <a:gdLst/>
            <a:ahLst/>
            <a:cxnLst/>
            <a:rect l="l" t="t" r="r" b="b"/>
            <a:pathLst>
              <a:path w="11377085" h="11574449">
                <a:moveTo>
                  <a:pt x="0" y="0"/>
                </a:moveTo>
                <a:lnTo>
                  <a:pt x="11377085" y="0"/>
                </a:lnTo>
                <a:lnTo>
                  <a:pt x="11377085" y="11574450"/>
                </a:lnTo>
                <a:lnTo>
                  <a:pt x="0" y="11574450"/>
                </a:lnTo>
                <a:lnTo>
                  <a:pt x="0" y="0"/>
                </a:lnTo>
                <a:close/>
              </a:path>
            </a:pathLst>
          </a:custGeom>
          <a:blipFill>
            <a:blip r:embed="rId15"/>
            <a:stretch>
              <a:fillRect l="-3318" t="-12104" r="-3318"/>
            </a:stretch>
          </a:blipFill>
        </p:spPr>
        <p:txBody>
          <a:bodyPr/>
          <a:lstStyle/>
          <a:p>
            <a:endParaRPr lang="en-US"/>
          </a:p>
        </p:txBody>
      </p:sp>
      <p:sp>
        <p:nvSpPr>
          <p:cNvPr id="10" name="Freeform 5">
            <a:extLst>
              <a:ext uri="{FF2B5EF4-FFF2-40B4-BE49-F238E27FC236}">
                <a16:creationId xmlns:a16="http://schemas.microsoft.com/office/drawing/2014/main" id="{CF11C043-92AB-99B8-B780-CFEF485C0F09}"/>
              </a:ext>
            </a:extLst>
          </p:cNvPr>
          <p:cNvSpPr/>
          <p:nvPr userDrawn="1"/>
        </p:nvSpPr>
        <p:spPr>
          <a:xfrm>
            <a:off x="13542850" y="1812144"/>
            <a:ext cx="2788651" cy="2210006"/>
          </a:xfrm>
          <a:custGeom>
            <a:avLst/>
            <a:gdLst/>
            <a:ahLst/>
            <a:cxnLst/>
            <a:rect l="l" t="t" r="r" b="b"/>
            <a:pathLst>
              <a:path w="2788651" h="2210006">
                <a:moveTo>
                  <a:pt x="0" y="0"/>
                </a:moveTo>
                <a:lnTo>
                  <a:pt x="2788651" y="0"/>
                </a:lnTo>
                <a:lnTo>
                  <a:pt x="2788651" y="2210006"/>
                </a:lnTo>
                <a:lnTo>
                  <a:pt x="0" y="2210006"/>
                </a:lnTo>
                <a:lnTo>
                  <a:pt x="0" y="0"/>
                </a:lnTo>
                <a:close/>
              </a:path>
            </a:pathLst>
          </a:custGeom>
          <a:blipFill>
            <a:blip r:embed="rId16">
              <a:alphaModFix amt="67000"/>
            </a:blip>
            <a:stretch>
              <a:fillRect/>
            </a:stretch>
          </a:blipFill>
        </p:spPr>
        <p:txBody>
          <a:bodyPr/>
          <a:lstStyle/>
          <a:p>
            <a:endParaRPr lang="en-US"/>
          </a:p>
        </p:txBody>
      </p:sp>
      <p:sp>
        <p:nvSpPr>
          <p:cNvPr id="11" name="Freeform 6">
            <a:extLst>
              <a:ext uri="{FF2B5EF4-FFF2-40B4-BE49-F238E27FC236}">
                <a16:creationId xmlns:a16="http://schemas.microsoft.com/office/drawing/2014/main" id="{37670151-C5C0-5F78-32AE-BAAE113A8FE3}"/>
              </a:ext>
            </a:extLst>
          </p:cNvPr>
          <p:cNvSpPr/>
          <p:nvPr userDrawn="1"/>
        </p:nvSpPr>
        <p:spPr>
          <a:xfrm>
            <a:off x="-234764" y="-208157"/>
            <a:ext cx="18897091" cy="10955265"/>
          </a:xfrm>
          <a:custGeom>
            <a:avLst/>
            <a:gdLst/>
            <a:ahLst/>
            <a:cxnLst/>
            <a:rect l="l" t="t" r="r" b="b"/>
            <a:pathLst>
              <a:path w="18897091" h="10955265">
                <a:moveTo>
                  <a:pt x="0" y="0"/>
                </a:moveTo>
                <a:lnTo>
                  <a:pt x="18897092" y="0"/>
                </a:lnTo>
                <a:lnTo>
                  <a:pt x="18897092" y="10955265"/>
                </a:lnTo>
                <a:lnTo>
                  <a:pt x="0" y="10955265"/>
                </a:lnTo>
                <a:lnTo>
                  <a:pt x="0" y="0"/>
                </a:lnTo>
                <a:close/>
              </a:path>
            </a:pathLst>
          </a:custGeom>
          <a:blipFill>
            <a:blip r:embed="rId17">
              <a:alphaModFix amt="46000"/>
            </a:blip>
            <a:stretch>
              <a:fillRect t="-35304" b="-37188"/>
            </a:stretch>
          </a:blipFill>
        </p:spPr>
        <p:txBody>
          <a:bodyPr/>
          <a:lstStyle/>
          <a:p>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11.sv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8" Type="http://schemas.openxmlformats.org/officeDocument/2006/relationships/hyperlink" Target="https://www.space-track.org/documentation" TargetMode="External"/><Relationship Id="rId3" Type="http://schemas.openxmlformats.org/officeDocument/2006/relationships/image" Target="../media/image7.png"/><Relationship Id="rId7" Type="http://schemas.openxmlformats.org/officeDocument/2006/relationships/image" Target="../media/image14.png"/><Relationship Id="rId12" Type="http://schemas.openxmlformats.org/officeDocument/2006/relationships/image" Target="../media/image16.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hyperlink" Target="https://www.eodms-sgdot.nrcan-rncan.gc.ca/index-en.html" TargetMode="External"/><Relationship Id="rId11" Type="http://schemas.openxmlformats.org/officeDocument/2006/relationships/hyperlink" Target="http://www.cadc-ccda.hia-iha.nrc-cnrc.gc.ca/en/" TargetMode="External"/><Relationship Id="rId5" Type="http://schemas.openxmlformats.org/officeDocument/2006/relationships/image" Target="../media/image13.png"/><Relationship Id="rId10" Type="http://schemas.openxmlformats.org/officeDocument/2006/relationships/hyperlink" Target="https://celestrak.org/satcat/search.php" TargetMode="External"/><Relationship Id="rId4" Type="http://schemas.openxmlformats.org/officeDocument/2006/relationships/image" Target="../media/image8.png"/><Relationship Id="rId9"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0">
            <a:extLst>
              <a:ext uri="{FF2B5EF4-FFF2-40B4-BE49-F238E27FC236}">
                <a16:creationId xmlns:a16="http://schemas.microsoft.com/office/drawing/2014/main" id="{81C156F6-3060-06E7-2FD9-6D86B556CC97}"/>
              </a:ext>
            </a:extLst>
          </p:cNvPr>
          <p:cNvSpPr txBox="1"/>
          <p:nvPr/>
        </p:nvSpPr>
        <p:spPr>
          <a:xfrm>
            <a:off x="5597707" y="2359573"/>
            <a:ext cx="7092586" cy="2740463"/>
          </a:xfrm>
          <a:prstGeom prst="rect">
            <a:avLst/>
          </a:prstGeom>
        </p:spPr>
        <p:txBody>
          <a:bodyPr lIns="0" tIns="0" rIns="0" bIns="0" rtlCol="0" anchor="t">
            <a:spAutoFit/>
          </a:bodyPr>
          <a:lstStyle/>
          <a:p>
            <a:pPr algn="ctr">
              <a:lnSpc>
                <a:spcPts val="8194"/>
              </a:lnSpc>
            </a:pPr>
            <a:r>
              <a:rPr lang="en-US" sz="7125" dirty="0">
                <a:solidFill>
                  <a:srgbClr val="FFFFFF"/>
                </a:solidFill>
                <a:latin typeface="HK Modular"/>
                <a:ea typeface="HK Modular"/>
                <a:cs typeface="HK Modular"/>
                <a:sym typeface="HK Modular"/>
              </a:rPr>
              <a:t>Mission Accepted!</a:t>
            </a:r>
          </a:p>
          <a:p>
            <a:pPr algn="ctr">
              <a:lnSpc>
                <a:spcPts val="5853"/>
              </a:lnSpc>
              <a:spcBef>
                <a:spcPct val="0"/>
              </a:spcBef>
            </a:pPr>
            <a:r>
              <a:rPr lang="en-US" sz="4180" dirty="0">
                <a:solidFill>
                  <a:srgbClr val="FFFFFF"/>
                </a:solidFill>
                <a:latin typeface="HK Modular"/>
                <a:ea typeface="HK Modular"/>
                <a:cs typeface="HK Modular"/>
                <a:sym typeface="HK Modular"/>
              </a:rPr>
              <a:t>Space Hackathon</a:t>
            </a:r>
          </a:p>
        </p:txBody>
      </p:sp>
      <p:sp>
        <p:nvSpPr>
          <p:cNvPr id="3" name="TextBox 11">
            <a:extLst>
              <a:ext uri="{FF2B5EF4-FFF2-40B4-BE49-F238E27FC236}">
                <a16:creationId xmlns:a16="http://schemas.microsoft.com/office/drawing/2014/main" id="{52968D3F-7535-09DC-BC28-1FE08AF6DB1F}"/>
              </a:ext>
            </a:extLst>
          </p:cNvPr>
          <p:cNvSpPr txBox="1"/>
          <p:nvPr/>
        </p:nvSpPr>
        <p:spPr>
          <a:xfrm>
            <a:off x="4639277" y="5307575"/>
            <a:ext cx="9009447" cy="363886"/>
          </a:xfrm>
          <a:prstGeom prst="rect">
            <a:avLst/>
          </a:prstGeom>
        </p:spPr>
        <p:txBody>
          <a:bodyPr lIns="0" tIns="0" rIns="0" bIns="0" rtlCol="0" anchor="t">
            <a:spAutoFit/>
          </a:bodyPr>
          <a:lstStyle/>
          <a:p>
            <a:pPr algn="ctr">
              <a:lnSpc>
                <a:spcPts val="2716"/>
              </a:lnSpc>
            </a:pPr>
            <a:r>
              <a:rPr lang="en-US" sz="2663" spc="63" dirty="0">
                <a:solidFill>
                  <a:srgbClr val="FFFFFF"/>
                </a:solidFill>
                <a:latin typeface="Modular"/>
                <a:ea typeface="Modular"/>
                <a:cs typeface="Modular"/>
                <a:sym typeface="Modular"/>
              </a:rPr>
              <a:t>Using Canadian satellite data to address problems here on Earth</a:t>
            </a:r>
          </a:p>
        </p:txBody>
      </p:sp>
      <p:sp>
        <p:nvSpPr>
          <p:cNvPr id="4" name="TextBox 12">
            <a:extLst>
              <a:ext uri="{FF2B5EF4-FFF2-40B4-BE49-F238E27FC236}">
                <a16:creationId xmlns:a16="http://schemas.microsoft.com/office/drawing/2014/main" id="{2DB2B799-0694-0437-FA22-A9354221DAFC}"/>
              </a:ext>
            </a:extLst>
          </p:cNvPr>
          <p:cNvSpPr txBox="1"/>
          <p:nvPr/>
        </p:nvSpPr>
        <p:spPr>
          <a:xfrm>
            <a:off x="5537178" y="6623256"/>
            <a:ext cx="7213645" cy="390263"/>
          </a:xfrm>
          <a:prstGeom prst="rect">
            <a:avLst/>
          </a:prstGeom>
        </p:spPr>
        <p:txBody>
          <a:bodyPr lIns="0" tIns="0" rIns="0" bIns="0" rtlCol="0" anchor="t">
            <a:spAutoFit/>
          </a:bodyPr>
          <a:lstStyle/>
          <a:p>
            <a:pPr algn="ctr">
              <a:lnSpc>
                <a:spcPts val="2975"/>
              </a:lnSpc>
            </a:pPr>
            <a:r>
              <a:rPr lang="en-US" sz="2917" dirty="0">
                <a:solidFill>
                  <a:srgbClr val="FFFFFF"/>
                </a:solidFill>
                <a:latin typeface="HK Modular"/>
                <a:ea typeface="HK Modular"/>
                <a:cs typeface="HK Modular"/>
                <a:sym typeface="HK Modular"/>
              </a:rPr>
              <a:t>October 2 - 4, 2026</a:t>
            </a:r>
          </a:p>
        </p:txBody>
      </p:sp>
      <p:sp>
        <p:nvSpPr>
          <p:cNvPr id="5" name="TextBox 13">
            <a:extLst>
              <a:ext uri="{FF2B5EF4-FFF2-40B4-BE49-F238E27FC236}">
                <a16:creationId xmlns:a16="http://schemas.microsoft.com/office/drawing/2014/main" id="{AE67C061-1CAA-D2F4-AAEF-3BDCF8F89DD9}"/>
              </a:ext>
            </a:extLst>
          </p:cNvPr>
          <p:cNvSpPr txBox="1"/>
          <p:nvPr/>
        </p:nvSpPr>
        <p:spPr>
          <a:xfrm>
            <a:off x="5946050" y="7204069"/>
            <a:ext cx="6395901" cy="761457"/>
          </a:xfrm>
          <a:prstGeom prst="rect">
            <a:avLst/>
          </a:prstGeom>
        </p:spPr>
        <p:txBody>
          <a:bodyPr lIns="0" tIns="0" rIns="0" bIns="0" rtlCol="0" anchor="t">
            <a:spAutoFit/>
          </a:bodyPr>
          <a:lstStyle/>
          <a:p>
            <a:pPr algn="ctr">
              <a:lnSpc>
                <a:spcPts val="2975"/>
              </a:lnSpc>
            </a:pPr>
            <a:r>
              <a:rPr lang="en-US" sz="2917" dirty="0">
                <a:solidFill>
                  <a:srgbClr val="FFFFFF"/>
                </a:solidFill>
                <a:latin typeface="HK Modular"/>
                <a:ea typeface="HK Modular"/>
                <a:cs typeface="HK Modular"/>
                <a:sym typeface="HK Modular"/>
              </a:rPr>
              <a:t>Goldberg Computer Science Building </a:t>
            </a:r>
          </a:p>
        </p:txBody>
      </p:sp>
      <p:grpSp>
        <p:nvGrpSpPr>
          <p:cNvPr id="6" name="Group 5">
            <a:extLst>
              <a:ext uri="{FF2B5EF4-FFF2-40B4-BE49-F238E27FC236}">
                <a16:creationId xmlns:a16="http://schemas.microsoft.com/office/drawing/2014/main" id="{9661D3FF-EC21-4BE2-9AC3-E0165D03F6DC}"/>
              </a:ext>
            </a:extLst>
          </p:cNvPr>
          <p:cNvGrpSpPr/>
          <p:nvPr/>
        </p:nvGrpSpPr>
        <p:grpSpPr>
          <a:xfrm>
            <a:off x="4639276" y="73463"/>
            <a:ext cx="9174194" cy="1764412"/>
            <a:chOff x="4639276" y="73463"/>
            <a:chExt cx="9174194" cy="1764412"/>
          </a:xfrm>
        </p:grpSpPr>
        <p:sp>
          <p:nvSpPr>
            <p:cNvPr id="7" name="Freeform 7">
              <a:extLst>
                <a:ext uri="{FF2B5EF4-FFF2-40B4-BE49-F238E27FC236}">
                  <a16:creationId xmlns:a16="http://schemas.microsoft.com/office/drawing/2014/main" id="{BF41B277-2820-F3C5-EFB7-24F0C21DD135}"/>
                </a:ext>
              </a:extLst>
            </p:cNvPr>
            <p:cNvSpPr/>
            <p:nvPr/>
          </p:nvSpPr>
          <p:spPr>
            <a:xfrm>
              <a:off x="7418846" y="598857"/>
              <a:ext cx="2892280" cy="1239018"/>
            </a:xfrm>
            <a:custGeom>
              <a:avLst/>
              <a:gdLst/>
              <a:ahLst/>
              <a:cxnLst/>
              <a:rect l="l" t="t" r="r" b="b"/>
              <a:pathLst>
                <a:path w="2250797" h="964214">
                  <a:moveTo>
                    <a:pt x="0" y="0"/>
                  </a:moveTo>
                  <a:lnTo>
                    <a:pt x="2250798" y="0"/>
                  </a:lnTo>
                  <a:lnTo>
                    <a:pt x="2250798" y="964214"/>
                  </a:lnTo>
                  <a:lnTo>
                    <a:pt x="0" y="964214"/>
                  </a:lnTo>
                  <a:lnTo>
                    <a:pt x="0" y="0"/>
                  </a:lnTo>
                  <a:close/>
                </a:path>
              </a:pathLst>
            </a:custGeom>
            <a:blipFill>
              <a:blip r:embed="rId2"/>
              <a:stretch>
                <a:fillRect r="-2149"/>
              </a:stretch>
            </a:blipFill>
          </p:spPr>
          <p:txBody>
            <a:bodyPr/>
            <a:lstStyle/>
            <a:p>
              <a:endParaRPr lang="en-US" dirty="0"/>
            </a:p>
          </p:txBody>
        </p:sp>
        <p:sp>
          <p:nvSpPr>
            <p:cNvPr id="8" name="Freeform 8">
              <a:extLst>
                <a:ext uri="{FF2B5EF4-FFF2-40B4-BE49-F238E27FC236}">
                  <a16:creationId xmlns:a16="http://schemas.microsoft.com/office/drawing/2014/main" id="{562BA943-5A13-5DF1-47F0-A2129EFE7583}"/>
                </a:ext>
              </a:extLst>
            </p:cNvPr>
            <p:cNvSpPr/>
            <p:nvPr/>
          </p:nvSpPr>
          <p:spPr>
            <a:xfrm>
              <a:off x="4639276" y="598857"/>
              <a:ext cx="2365667" cy="1239018"/>
            </a:xfrm>
            <a:custGeom>
              <a:avLst/>
              <a:gdLst/>
              <a:ahLst/>
              <a:cxnLst/>
              <a:rect l="l" t="t" r="r" b="b"/>
              <a:pathLst>
                <a:path w="2365667" h="1239018">
                  <a:moveTo>
                    <a:pt x="0" y="0"/>
                  </a:moveTo>
                  <a:lnTo>
                    <a:pt x="2365667" y="0"/>
                  </a:lnTo>
                  <a:lnTo>
                    <a:pt x="2365667" y="1239018"/>
                  </a:lnTo>
                  <a:lnTo>
                    <a:pt x="0" y="1239018"/>
                  </a:lnTo>
                  <a:lnTo>
                    <a:pt x="0" y="0"/>
                  </a:lnTo>
                  <a:close/>
                </a:path>
              </a:pathLst>
            </a:custGeom>
            <a:blipFill>
              <a:blip r:embed="rId3"/>
              <a:stretch>
                <a:fillRect/>
              </a:stretch>
            </a:blipFill>
          </p:spPr>
          <p:txBody>
            <a:bodyPr/>
            <a:lstStyle/>
            <a:p>
              <a:endParaRPr lang="en-US"/>
            </a:p>
          </p:txBody>
        </p:sp>
        <p:sp>
          <p:nvSpPr>
            <p:cNvPr id="9" name="Freeform 9">
              <a:extLst>
                <a:ext uri="{FF2B5EF4-FFF2-40B4-BE49-F238E27FC236}">
                  <a16:creationId xmlns:a16="http://schemas.microsoft.com/office/drawing/2014/main" id="{7F8709C1-FDEB-1A48-EE2F-5AE78F3A8DF9}"/>
                </a:ext>
              </a:extLst>
            </p:cNvPr>
            <p:cNvSpPr/>
            <p:nvPr/>
          </p:nvSpPr>
          <p:spPr>
            <a:xfrm>
              <a:off x="10723434" y="73463"/>
              <a:ext cx="3090036" cy="1764412"/>
            </a:xfrm>
            <a:custGeom>
              <a:avLst/>
              <a:gdLst/>
              <a:ahLst/>
              <a:cxnLst/>
              <a:rect l="l" t="t" r="r" b="b"/>
              <a:pathLst>
                <a:path w="2520926" h="1439449">
                  <a:moveTo>
                    <a:pt x="0" y="0"/>
                  </a:moveTo>
                  <a:lnTo>
                    <a:pt x="2520927" y="0"/>
                  </a:lnTo>
                  <a:lnTo>
                    <a:pt x="2520927" y="1439449"/>
                  </a:lnTo>
                  <a:lnTo>
                    <a:pt x="0" y="1439449"/>
                  </a:lnTo>
                  <a:lnTo>
                    <a:pt x="0" y="0"/>
                  </a:lnTo>
                  <a:close/>
                </a:path>
              </a:pathLst>
            </a:custGeom>
            <a:blipFill>
              <a:blip r:embed="rId4"/>
              <a:stretch>
                <a:fillRect/>
              </a:stretch>
            </a:blipFill>
          </p:spPr>
          <p:txBody>
            <a:bodyPr/>
            <a:lstStyle/>
            <a:p>
              <a:endParaRPr lang="en-US"/>
            </a:p>
          </p:txBody>
        </p:sp>
      </p:grpSp>
    </p:spTree>
    <p:extLst>
      <p:ext uri="{BB962C8B-B14F-4D97-AF65-F5344CB8AC3E}">
        <p14:creationId xmlns:p14="http://schemas.microsoft.com/office/powerpoint/2010/main" val="32385474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5"/>
          <p:cNvSpPr/>
          <p:nvPr/>
        </p:nvSpPr>
        <p:spPr>
          <a:xfrm>
            <a:off x="13542850" y="1812144"/>
            <a:ext cx="2788651" cy="2210006"/>
          </a:xfrm>
          <a:custGeom>
            <a:avLst/>
            <a:gdLst/>
            <a:ahLst/>
            <a:cxnLst/>
            <a:rect l="l" t="t" r="r" b="b"/>
            <a:pathLst>
              <a:path w="2788651" h="2210006">
                <a:moveTo>
                  <a:pt x="0" y="0"/>
                </a:moveTo>
                <a:lnTo>
                  <a:pt x="2788651" y="0"/>
                </a:lnTo>
                <a:lnTo>
                  <a:pt x="2788651" y="2210006"/>
                </a:lnTo>
                <a:lnTo>
                  <a:pt x="0" y="2210006"/>
                </a:lnTo>
                <a:lnTo>
                  <a:pt x="0" y="0"/>
                </a:lnTo>
                <a:close/>
              </a:path>
            </a:pathLst>
          </a:custGeom>
          <a:blipFill>
            <a:blip r:embed="rId2">
              <a:alphaModFix amt="67000"/>
            </a:blip>
            <a:stretch>
              <a:fillRect/>
            </a:stretch>
          </a:blipFill>
        </p:spPr>
        <p:txBody>
          <a:bodyPr/>
          <a:lstStyle/>
          <a:p>
            <a:endParaRPr lang="en-US"/>
          </a:p>
        </p:txBody>
      </p:sp>
      <p:grpSp>
        <p:nvGrpSpPr>
          <p:cNvPr id="19" name="Group 18">
            <a:extLst>
              <a:ext uri="{FF2B5EF4-FFF2-40B4-BE49-F238E27FC236}">
                <a16:creationId xmlns:a16="http://schemas.microsoft.com/office/drawing/2014/main" id="{D943DA96-6DCF-3BB7-EFCC-E4A766533D8E}"/>
              </a:ext>
            </a:extLst>
          </p:cNvPr>
          <p:cNvGrpSpPr/>
          <p:nvPr/>
        </p:nvGrpSpPr>
        <p:grpSpPr>
          <a:xfrm>
            <a:off x="12104897" y="0"/>
            <a:ext cx="6183103" cy="1128946"/>
            <a:chOff x="271187" y="95718"/>
            <a:chExt cx="6183103" cy="1128946"/>
          </a:xfrm>
        </p:grpSpPr>
        <p:sp>
          <p:nvSpPr>
            <p:cNvPr id="12" name="Freeform 7">
              <a:extLst>
                <a:ext uri="{FF2B5EF4-FFF2-40B4-BE49-F238E27FC236}">
                  <a16:creationId xmlns:a16="http://schemas.microsoft.com/office/drawing/2014/main" id="{18079D82-7537-03B8-853E-171C62633858}"/>
                </a:ext>
              </a:extLst>
            </p:cNvPr>
            <p:cNvSpPr/>
            <p:nvPr/>
          </p:nvSpPr>
          <p:spPr>
            <a:xfrm>
              <a:off x="2534828" y="468440"/>
              <a:ext cx="1765279" cy="756224"/>
            </a:xfrm>
            <a:custGeom>
              <a:avLst/>
              <a:gdLst/>
              <a:ahLst/>
              <a:cxnLst/>
              <a:rect l="l" t="t" r="r" b="b"/>
              <a:pathLst>
                <a:path w="1765279" h="756224">
                  <a:moveTo>
                    <a:pt x="0" y="0"/>
                  </a:moveTo>
                  <a:lnTo>
                    <a:pt x="1765279" y="0"/>
                  </a:lnTo>
                  <a:lnTo>
                    <a:pt x="1765279" y="756225"/>
                  </a:lnTo>
                  <a:lnTo>
                    <a:pt x="0" y="756225"/>
                  </a:lnTo>
                  <a:lnTo>
                    <a:pt x="0" y="0"/>
                  </a:lnTo>
                  <a:close/>
                </a:path>
              </a:pathLst>
            </a:custGeom>
            <a:blipFill>
              <a:blip r:embed="rId3"/>
              <a:stretch>
                <a:fillRect r="-2149"/>
              </a:stretch>
            </a:blipFill>
          </p:spPr>
          <p:txBody>
            <a:bodyPr/>
            <a:lstStyle/>
            <a:p>
              <a:endParaRPr lang="en-US"/>
            </a:p>
          </p:txBody>
        </p:sp>
        <p:sp>
          <p:nvSpPr>
            <p:cNvPr id="13" name="Freeform 8">
              <a:extLst>
                <a:ext uri="{FF2B5EF4-FFF2-40B4-BE49-F238E27FC236}">
                  <a16:creationId xmlns:a16="http://schemas.microsoft.com/office/drawing/2014/main" id="{C2CEFF3C-6DBA-86CD-0B27-E9A852CA5014}"/>
                </a:ext>
              </a:extLst>
            </p:cNvPr>
            <p:cNvSpPr/>
            <p:nvPr/>
          </p:nvSpPr>
          <p:spPr>
            <a:xfrm>
              <a:off x="271187" y="252914"/>
              <a:ext cx="1855370" cy="971750"/>
            </a:xfrm>
            <a:custGeom>
              <a:avLst/>
              <a:gdLst/>
              <a:ahLst/>
              <a:cxnLst/>
              <a:rect l="l" t="t" r="r" b="b"/>
              <a:pathLst>
                <a:path w="1855370" h="971750">
                  <a:moveTo>
                    <a:pt x="0" y="0"/>
                  </a:moveTo>
                  <a:lnTo>
                    <a:pt x="1855370" y="0"/>
                  </a:lnTo>
                  <a:lnTo>
                    <a:pt x="1855370" y="971750"/>
                  </a:lnTo>
                  <a:lnTo>
                    <a:pt x="0" y="971750"/>
                  </a:lnTo>
                  <a:lnTo>
                    <a:pt x="0" y="0"/>
                  </a:lnTo>
                  <a:close/>
                </a:path>
              </a:pathLst>
            </a:custGeom>
            <a:blipFill>
              <a:blip r:embed="rId4"/>
              <a:stretch>
                <a:fillRect/>
              </a:stretch>
            </a:blipFill>
          </p:spPr>
          <p:txBody>
            <a:bodyPr/>
            <a:lstStyle/>
            <a:p>
              <a:endParaRPr lang="en-US"/>
            </a:p>
          </p:txBody>
        </p:sp>
        <p:sp>
          <p:nvSpPr>
            <p:cNvPr id="14" name="Freeform 9">
              <a:extLst>
                <a:ext uri="{FF2B5EF4-FFF2-40B4-BE49-F238E27FC236}">
                  <a16:creationId xmlns:a16="http://schemas.microsoft.com/office/drawing/2014/main" id="{8E036261-81C3-860B-6512-D7EE07911B0F}"/>
                </a:ext>
              </a:extLst>
            </p:cNvPr>
            <p:cNvSpPr/>
            <p:nvPr/>
          </p:nvSpPr>
          <p:spPr>
            <a:xfrm>
              <a:off x="4477151" y="95718"/>
              <a:ext cx="1977139" cy="1128946"/>
            </a:xfrm>
            <a:custGeom>
              <a:avLst/>
              <a:gdLst/>
              <a:ahLst/>
              <a:cxnLst/>
              <a:rect l="l" t="t" r="r" b="b"/>
              <a:pathLst>
                <a:path w="1977139" h="1128946">
                  <a:moveTo>
                    <a:pt x="0" y="0"/>
                  </a:moveTo>
                  <a:lnTo>
                    <a:pt x="1977139" y="0"/>
                  </a:lnTo>
                  <a:lnTo>
                    <a:pt x="1977139" y="1128946"/>
                  </a:lnTo>
                  <a:lnTo>
                    <a:pt x="0" y="1128946"/>
                  </a:lnTo>
                  <a:lnTo>
                    <a:pt x="0" y="0"/>
                  </a:lnTo>
                  <a:close/>
                </a:path>
              </a:pathLst>
            </a:custGeom>
            <a:blipFill>
              <a:blip r:embed="rId5"/>
              <a:stretch>
                <a:fillRect/>
              </a:stretch>
            </a:blipFill>
          </p:spPr>
          <p:txBody>
            <a:bodyPr/>
            <a:lstStyle/>
            <a:p>
              <a:endParaRPr lang="en-US"/>
            </a:p>
          </p:txBody>
        </p:sp>
      </p:grpSp>
      <p:sp>
        <p:nvSpPr>
          <p:cNvPr id="25" name="TextBox 10">
            <a:extLst>
              <a:ext uri="{FF2B5EF4-FFF2-40B4-BE49-F238E27FC236}">
                <a16:creationId xmlns:a16="http://schemas.microsoft.com/office/drawing/2014/main" id="{B1558392-2BC7-0EA0-38D1-0BD70BFA0741}"/>
              </a:ext>
            </a:extLst>
          </p:cNvPr>
          <p:cNvSpPr txBox="1"/>
          <p:nvPr/>
        </p:nvSpPr>
        <p:spPr>
          <a:xfrm>
            <a:off x="132921" y="129301"/>
            <a:ext cx="5201079" cy="746999"/>
          </a:xfrm>
          <a:prstGeom prst="rect">
            <a:avLst/>
          </a:prstGeom>
        </p:spPr>
        <p:txBody>
          <a:bodyPr lIns="0" tIns="0" rIns="0" bIns="0" rtlCol="0" anchor="t">
            <a:spAutoFit/>
          </a:bodyPr>
          <a:lstStyle/>
          <a:p>
            <a:pPr>
              <a:lnSpc>
                <a:spcPts val="6699"/>
              </a:lnSpc>
              <a:spcBef>
                <a:spcPct val="0"/>
              </a:spcBef>
            </a:pPr>
            <a:r>
              <a:rPr lang="en-US" sz="4000" dirty="0">
                <a:solidFill>
                  <a:srgbClr val="FFFFFF"/>
                </a:solidFill>
                <a:latin typeface="HK Modular"/>
                <a:ea typeface="HK Modular"/>
                <a:cs typeface="HK Modular"/>
                <a:sym typeface="HK Modular"/>
              </a:rPr>
              <a:t>Schedule</a:t>
            </a:r>
          </a:p>
        </p:txBody>
      </p:sp>
      <p:graphicFrame>
        <p:nvGraphicFramePr>
          <p:cNvPr id="27" name="Table 26">
            <a:extLst>
              <a:ext uri="{FF2B5EF4-FFF2-40B4-BE49-F238E27FC236}">
                <a16:creationId xmlns:a16="http://schemas.microsoft.com/office/drawing/2014/main" id="{F3BF02E7-C123-4615-32DF-615E94EA20EF}"/>
              </a:ext>
            </a:extLst>
          </p:cNvPr>
          <p:cNvGraphicFramePr>
            <a:graphicFrameLocks noGrp="1"/>
          </p:cNvGraphicFramePr>
          <p:nvPr>
            <p:extLst>
              <p:ext uri="{D42A27DB-BD31-4B8C-83A1-F6EECF244321}">
                <p14:modId xmlns:p14="http://schemas.microsoft.com/office/powerpoint/2010/main" val="1130601142"/>
              </p:ext>
            </p:extLst>
          </p:nvPr>
        </p:nvGraphicFramePr>
        <p:xfrm>
          <a:off x="132920" y="1227369"/>
          <a:ext cx="17909361" cy="6974890"/>
        </p:xfrm>
        <a:graphic>
          <a:graphicData uri="http://schemas.openxmlformats.org/drawingml/2006/table">
            <a:tbl>
              <a:tblPr firstRow="1" bandRow="1">
                <a:tableStyleId>{073A0DAA-6AF3-43AB-8588-CEC1D06C72B9}</a:tableStyleId>
              </a:tblPr>
              <a:tblGrid>
                <a:gridCol w="1041123">
                  <a:extLst>
                    <a:ext uri="{9D8B030D-6E8A-4147-A177-3AD203B41FA5}">
                      <a16:colId xmlns:a16="http://schemas.microsoft.com/office/drawing/2014/main" val="2688406158"/>
                    </a:ext>
                  </a:extLst>
                </a:gridCol>
                <a:gridCol w="4354913">
                  <a:extLst>
                    <a:ext uri="{9D8B030D-6E8A-4147-A177-3AD203B41FA5}">
                      <a16:colId xmlns:a16="http://schemas.microsoft.com/office/drawing/2014/main" val="1320501621"/>
                    </a:ext>
                  </a:extLst>
                </a:gridCol>
                <a:gridCol w="1697355">
                  <a:extLst>
                    <a:ext uri="{9D8B030D-6E8A-4147-A177-3AD203B41FA5}">
                      <a16:colId xmlns:a16="http://schemas.microsoft.com/office/drawing/2014/main" val="3081866897"/>
                    </a:ext>
                  </a:extLst>
                </a:gridCol>
                <a:gridCol w="4049045">
                  <a:extLst>
                    <a:ext uri="{9D8B030D-6E8A-4147-A177-3AD203B41FA5}">
                      <a16:colId xmlns:a16="http://schemas.microsoft.com/office/drawing/2014/main" val="502604441"/>
                    </a:ext>
                  </a:extLst>
                </a:gridCol>
                <a:gridCol w="1697355">
                  <a:extLst>
                    <a:ext uri="{9D8B030D-6E8A-4147-A177-3AD203B41FA5}">
                      <a16:colId xmlns:a16="http://schemas.microsoft.com/office/drawing/2014/main" val="4153792949"/>
                    </a:ext>
                  </a:extLst>
                </a:gridCol>
                <a:gridCol w="5069570">
                  <a:extLst>
                    <a:ext uri="{9D8B030D-6E8A-4147-A177-3AD203B41FA5}">
                      <a16:colId xmlns:a16="http://schemas.microsoft.com/office/drawing/2014/main" val="1233304193"/>
                    </a:ext>
                  </a:extLst>
                </a:gridCol>
              </a:tblGrid>
              <a:tr h="799291">
                <a:tc gridSpan="2">
                  <a:txBody>
                    <a:bodyPr/>
                    <a:lstStyle/>
                    <a:p>
                      <a:pPr algn="ctr"/>
                      <a:r>
                        <a:rPr lang="en-US" sz="4000" dirty="0">
                          <a:latin typeface="HK Modular" panose="020B0604020202020204" charset="0"/>
                        </a:rPr>
                        <a:t>FRI</a:t>
                      </a:r>
                      <a:endParaRPr lang="en-CA" sz="4000" dirty="0">
                        <a:latin typeface="HK Modular" panose="020B0604020202020204" charset="0"/>
                      </a:endParaRPr>
                    </a:p>
                  </a:txBody>
                  <a:tcPr/>
                </a:tc>
                <a:tc hMerge="1">
                  <a:txBody>
                    <a:bodyPr/>
                    <a:lstStyle/>
                    <a:p>
                      <a:endParaRPr lang="en-CA" dirty="0"/>
                    </a:p>
                  </a:txBody>
                  <a:tcPr/>
                </a:tc>
                <a:tc gridSpan="2">
                  <a:txBody>
                    <a:bodyPr/>
                    <a:lstStyle/>
                    <a:p>
                      <a:pPr algn="ctr"/>
                      <a:r>
                        <a:rPr lang="en-US" sz="4000" dirty="0">
                          <a:latin typeface="HK Modular" panose="020B0604020202020204" charset="0"/>
                        </a:rPr>
                        <a:t>SAT</a:t>
                      </a:r>
                    </a:p>
                  </a:txBody>
                  <a:tcPr/>
                </a:tc>
                <a:tc hMerge="1">
                  <a:txBody>
                    <a:bodyPr/>
                    <a:lstStyle/>
                    <a:p>
                      <a:endParaRPr lang="en-CA" dirty="0"/>
                    </a:p>
                  </a:txBody>
                  <a:tcPr/>
                </a:tc>
                <a:tc gridSpan="2">
                  <a:txBody>
                    <a:bodyPr/>
                    <a:lstStyle/>
                    <a:p>
                      <a:pPr algn="ctr"/>
                      <a:r>
                        <a:rPr lang="en-US" sz="4000" dirty="0">
                          <a:latin typeface="HK Modular" panose="020B0604020202020204" charset="0"/>
                        </a:rPr>
                        <a:t>SUN</a:t>
                      </a:r>
                      <a:endParaRPr lang="en-CA" sz="4000" dirty="0">
                        <a:latin typeface="HK Modular" panose="020B0604020202020204" charset="0"/>
                      </a:endParaRPr>
                    </a:p>
                  </a:txBody>
                  <a:tcPr/>
                </a:tc>
                <a:tc hMerge="1">
                  <a:txBody>
                    <a:bodyPr/>
                    <a:lstStyle/>
                    <a:p>
                      <a:endParaRPr lang="en-CA" dirty="0"/>
                    </a:p>
                  </a:txBody>
                  <a:tcPr/>
                </a:tc>
                <a:extLst>
                  <a:ext uri="{0D108BD9-81ED-4DB2-BD59-A6C34878D82A}">
                    <a16:rowId xmlns:a16="http://schemas.microsoft.com/office/drawing/2014/main" val="3261290281"/>
                  </a:ext>
                </a:extLst>
              </a:tr>
              <a:tr h="1214949">
                <a:tc>
                  <a:txBody>
                    <a:bodyPr/>
                    <a:lstStyle/>
                    <a:p>
                      <a:pPr algn="l"/>
                      <a:r>
                        <a:rPr lang="en-US" sz="3200" dirty="0">
                          <a:latin typeface="Univers Condensed Light" panose="020B0306020202040204" pitchFamily="34" charset="0"/>
                        </a:rPr>
                        <a:t>5pm</a:t>
                      </a:r>
                      <a:endParaRPr lang="en-CA" sz="3200" dirty="0">
                        <a:latin typeface="Univers Condensed Light" panose="020B0306020202040204" pitchFamily="34" charset="0"/>
                      </a:endParaRPr>
                    </a:p>
                  </a:txBody>
                  <a:tcPr anchor="ctr"/>
                </a:tc>
                <a:tc>
                  <a:txBody>
                    <a:bodyPr/>
                    <a:lstStyle/>
                    <a:p>
                      <a:pPr algn="l"/>
                      <a:r>
                        <a:rPr lang="en-US" sz="3200" dirty="0">
                          <a:latin typeface="Univers Condensed Light" panose="020B0306020202040204" pitchFamily="34" charset="0"/>
                        </a:rPr>
                        <a:t>Registration Starts</a:t>
                      </a:r>
                      <a:endParaRPr lang="en-CA" sz="3200" dirty="0">
                        <a:latin typeface="Univers Condensed Light" panose="020B0306020202040204" pitchFamily="34" charset="0"/>
                      </a:endParaRPr>
                    </a:p>
                  </a:txBody>
                  <a:tcPr anchor="ctr"/>
                </a:tc>
                <a:tc>
                  <a:txBody>
                    <a:bodyPr/>
                    <a:lstStyle/>
                    <a:p>
                      <a:pPr algn="l"/>
                      <a:r>
                        <a:rPr lang="en-US" sz="3200" dirty="0">
                          <a:latin typeface="Univers Condensed Light" panose="020B0306020202040204" pitchFamily="34" charset="0"/>
                        </a:rPr>
                        <a:t>9am</a:t>
                      </a:r>
                      <a:endParaRPr lang="en-CA" sz="3200" dirty="0">
                        <a:latin typeface="Univers Condensed Light" panose="020B0306020202040204" pitchFamily="34" charset="0"/>
                      </a:endParaRPr>
                    </a:p>
                  </a:txBody>
                  <a:tcPr anchor="ctr"/>
                </a:tc>
                <a:tc>
                  <a:txBody>
                    <a:bodyPr/>
                    <a:lstStyle/>
                    <a:p>
                      <a:pPr algn="l"/>
                      <a:r>
                        <a:rPr lang="en-US" sz="3200" dirty="0">
                          <a:latin typeface="Univers Condensed Light" panose="020B0306020202040204" pitchFamily="34" charset="0"/>
                        </a:rPr>
                        <a:t>Registration Starts</a:t>
                      </a:r>
                      <a:endParaRPr lang="en-CA" sz="3200" dirty="0">
                        <a:latin typeface="Univers Condensed Light" panose="020B0306020202040204" pitchFamily="34" charset="0"/>
                      </a:endParaRPr>
                    </a:p>
                  </a:txBody>
                  <a:tcPr anchor="ctr"/>
                </a:tc>
                <a:tc>
                  <a:txBody>
                    <a:bodyPr/>
                    <a:lstStyle/>
                    <a:p>
                      <a:pPr algn="l"/>
                      <a:r>
                        <a:rPr lang="en-US" sz="3200" dirty="0">
                          <a:latin typeface="Univers Condensed Light" panose="020B0306020202040204" pitchFamily="34" charset="0"/>
                        </a:rPr>
                        <a:t>9am</a:t>
                      </a:r>
                      <a:endParaRPr lang="en-CA" sz="3200" dirty="0">
                        <a:latin typeface="Univers Condensed Light" panose="020B030602020204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dirty="0">
                          <a:latin typeface="Univers Condensed Light" panose="020B0306020202040204" pitchFamily="34" charset="0"/>
                        </a:rPr>
                        <a:t>Registration Starts</a:t>
                      </a:r>
                      <a:endParaRPr lang="en-CA" sz="3200" dirty="0">
                        <a:latin typeface="Univers Condensed Light" panose="020B0306020202040204" pitchFamily="34" charset="0"/>
                      </a:endParaRPr>
                    </a:p>
                  </a:txBody>
                  <a:tcPr anchor="ctr"/>
                </a:tc>
                <a:extLst>
                  <a:ext uri="{0D108BD9-81ED-4DB2-BD59-A6C34878D82A}">
                    <a16:rowId xmlns:a16="http://schemas.microsoft.com/office/drawing/2014/main" val="3304275893"/>
                  </a:ext>
                </a:extLst>
              </a:tr>
              <a:tr h="1265376">
                <a:tc>
                  <a:txBody>
                    <a:bodyPr/>
                    <a:lstStyle/>
                    <a:p>
                      <a:pPr algn="l"/>
                      <a:r>
                        <a:rPr lang="en-US" sz="3200" dirty="0">
                          <a:latin typeface="Univers Condensed Light" panose="020B0306020202040204" pitchFamily="34" charset="0"/>
                        </a:rPr>
                        <a:t>6pm</a:t>
                      </a:r>
                      <a:endParaRPr lang="en-CA" sz="3200" dirty="0">
                        <a:latin typeface="Univers Condensed Light" panose="020B0306020202040204" pitchFamily="34" charset="0"/>
                      </a:endParaRPr>
                    </a:p>
                  </a:txBody>
                  <a:tcPr anchor="ctr"/>
                </a:tc>
                <a:tc>
                  <a:txBody>
                    <a:bodyPr/>
                    <a:lstStyle/>
                    <a:p>
                      <a:pPr algn="l"/>
                      <a:r>
                        <a:rPr lang="en-US" sz="3200" dirty="0">
                          <a:latin typeface="Univers Condensed Light" panose="020B0306020202040204" pitchFamily="34" charset="0"/>
                        </a:rPr>
                        <a:t>Kick-off presentation</a:t>
                      </a:r>
                      <a:endParaRPr lang="en-CA" sz="3200" dirty="0">
                        <a:latin typeface="Univers Condensed Light" panose="020B0306020202040204" pitchFamily="34" charset="0"/>
                      </a:endParaRPr>
                    </a:p>
                  </a:txBody>
                  <a:tcPr anchor="ctr"/>
                </a:tc>
                <a:tc>
                  <a:txBody>
                    <a:bodyPr/>
                    <a:lstStyle/>
                    <a:p>
                      <a:pPr algn="l"/>
                      <a:r>
                        <a:rPr lang="en-US" sz="3200" dirty="0">
                          <a:latin typeface="Univers Condensed Light" panose="020B0306020202040204" pitchFamily="34" charset="0"/>
                        </a:rPr>
                        <a:t>12:30pm</a:t>
                      </a:r>
                      <a:endParaRPr lang="en-CA" sz="3200" dirty="0">
                        <a:latin typeface="Univers Condensed Light" panose="020B0306020202040204" pitchFamily="34" charset="0"/>
                      </a:endParaRPr>
                    </a:p>
                  </a:txBody>
                  <a:tcPr anchor="ctr"/>
                </a:tc>
                <a:tc>
                  <a:txBody>
                    <a:bodyPr/>
                    <a:lstStyle/>
                    <a:p>
                      <a:pPr algn="l"/>
                      <a:r>
                        <a:rPr lang="en-US" sz="3200" dirty="0">
                          <a:latin typeface="Univers Condensed Light" panose="020B0306020202040204" pitchFamily="34" charset="0"/>
                        </a:rPr>
                        <a:t>Lunch</a:t>
                      </a:r>
                      <a:endParaRPr lang="en-CA" sz="3200" dirty="0">
                        <a:latin typeface="Univers Condensed Light" panose="020B0306020202040204" pitchFamily="34" charset="0"/>
                      </a:endParaRPr>
                    </a:p>
                  </a:txBody>
                  <a:tcPr anchor="ctr"/>
                </a:tc>
                <a:tc>
                  <a:txBody>
                    <a:bodyPr/>
                    <a:lstStyle/>
                    <a:p>
                      <a:pPr algn="l"/>
                      <a:r>
                        <a:rPr lang="en-US" sz="3200" dirty="0">
                          <a:latin typeface="Univers Condensed Light" panose="020B0306020202040204" pitchFamily="34" charset="0"/>
                        </a:rPr>
                        <a:t>12:30pm</a:t>
                      </a:r>
                      <a:endParaRPr lang="en-CA" sz="3200" dirty="0">
                        <a:latin typeface="Univers Condensed Light" panose="020B0306020202040204" pitchFamily="34" charset="0"/>
                      </a:endParaRPr>
                    </a:p>
                  </a:txBody>
                  <a:tcPr anchor="ctr"/>
                </a:tc>
                <a:tc>
                  <a:txBody>
                    <a:bodyPr/>
                    <a:lstStyle/>
                    <a:p>
                      <a:pPr algn="l"/>
                      <a:r>
                        <a:rPr lang="en-US" sz="3200" dirty="0">
                          <a:latin typeface="Univers Condensed Light" panose="020B0306020202040204" pitchFamily="34" charset="0"/>
                        </a:rPr>
                        <a:t>Lunch</a:t>
                      </a:r>
                      <a:endParaRPr lang="en-CA" sz="3200" dirty="0">
                        <a:latin typeface="Univers Condensed Light" panose="020B0306020202040204" pitchFamily="34" charset="0"/>
                      </a:endParaRPr>
                    </a:p>
                  </a:txBody>
                  <a:tcPr anchor="ctr"/>
                </a:tc>
                <a:extLst>
                  <a:ext uri="{0D108BD9-81ED-4DB2-BD59-A6C34878D82A}">
                    <a16:rowId xmlns:a16="http://schemas.microsoft.com/office/drawing/2014/main" val="1665750033"/>
                  </a:ext>
                </a:extLst>
              </a:tr>
              <a:tr h="1214949">
                <a:tc>
                  <a:txBody>
                    <a:bodyPr/>
                    <a:lstStyle/>
                    <a:p>
                      <a:pPr algn="l"/>
                      <a:r>
                        <a:rPr lang="en-US" sz="3200" dirty="0">
                          <a:latin typeface="Univers Condensed Light" panose="020B0306020202040204" pitchFamily="34" charset="0"/>
                        </a:rPr>
                        <a:t>7pm</a:t>
                      </a:r>
                      <a:endParaRPr lang="en-CA" sz="3200" dirty="0">
                        <a:latin typeface="Univers Condensed Light" panose="020B0306020202040204" pitchFamily="34" charset="0"/>
                      </a:endParaRPr>
                    </a:p>
                  </a:txBody>
                  <a:tcPr anchor="ctr"/>
                </a:tc>
                <a:tc>
                  <a:txBody>
                    <a:bodyPr/>
                    <a:lstStyle/>
                    <a:p>
                      <a:pPr algn="l"/>
                      <a:r>
                        <a:rPr lang="en-US" sz="3200" dirty="0">
                          <a:latin typeface="Univers Condensed Light" panose="020B0306020202040204" pitchFamily="34" charset="0"/>
                        </a:rPr>
                        <a:t>Dinner</a:t>
                      </a:r>
                      <a:endParaRPr lang="en-CA" sz="3200" dirty="0">
                        <a:latin typeface="Univers Condensed Light" panose="020B0306020202040204" pitchFamily="34" charset="0"/>
                      </a:endParaRPr>
                    </a:p>
                  </a:txBody>
                  <a:tcPr anchor="ctr"/>
                </a:tc>
                <a:tc>
                  <a:txBody>
                    <a:bodyPr/>
                    <a:lstStyle/>
                    <a:p>
                      <a:pPr algn="l"/>
                      <a:r>
                        <a:rPr lang="en-US" sz="3200" dirty="0">
                          <a:latin typeface="Univers Condensed Light" panose="020B0306020202040204" pitchFamily="34" charset="0"/>
                        </a:rPr>
                        <a:t>6pm</a:t>
                      </a:r>
                      <a:endParaRPr lang="en-CA" sz="3200" dirty="0">
                        <a:latin typeface="Univers Condensed Light" panose="020B0306020202040204" pitchFamily="34" charset="0"/>
                      </a:endParaRPr>
                    </a:p>
                  </a:txBody>
                  <a:tcPr anchor="ctr"/>
                </a:tc>
                <a:tc>
                  <a:txBody>
                    <a:bodyPr/>
                    <a:lstStyle/>
                    <a:p>
                      <a:pPr algn="l"/>
                      <a:r>
                        <a:rPr lang="en-US" sz="3200" dirty="0">
                          <a:latin typeface="Univers Condensed Light" panose="020B0306020202040204" pitchFamily="34" charset="0"/>
                        </a:rPr>
                        <a:t>Dinner</a:t>
                      </a:r>
                      <a:endParaRPr lang="en-CA" sz="3200" dirty="0">
                        <a:latin typeface="Univers Condensed Light" panose="020B0306020202040204" pitchFamily="34" charset="0"/>
                      </a:endParaRPr>
                    </a:p>
                  </a:txBody>
                  <a:tcPr anchor="ctr"/>
                </a:tc>
                <a:tc>
                  <a:txBody>
                    <a:bodyPr/>
                    <a:lstStyle/>
                    <a:p>
                      <a:pPr algn="l"/>
                      <a:r>
                        <a:rPr lang="en-US" sz="3200" dirty="0">
                          <a:latin typeface="Univers Condensed Light" panose="020B0306020202040204" pitchFamily="34" charset="0"/>
                        </a:rPr>
                        <a:t>1:30pm</a:t>
                      </a:r>
                      <a:endParaRPr lang="en-CA" sz="3200" dirty="0">
                        <a:latin typeface="Univers Condensed Light" panose="020B0306020202040204" pitchFamily="34" charset="0"/>
                      </a:endParaRPr>
                    </a:p>
                  </a:txBody>
                  <a:tcPr anchor="ctr"/>
                </a:tc>
                <a:tc>
                  <a:txBody>
                    <a:bodyPr/>
                    <a:lstStyle/>
                    <a:p>
                      <a:pPr algn="l"/>
                      <a:r>
                        <a:rPr lang="en-US" sz="3200" b="1" dirty="0">
                          <a:latin typeface="Univers Condensed Light" panose="020B0306020202040204" pitchFamily="34" charset="0"/>
                        </a:rPr>
                        <a:t>Submission Deadline</a:t>
                      </a:r>
                      <a:endParaRPr lang="en-CA" sz="3200" b="1" dirty="0">
                        <a:latin typeface="Univers Condensed Light" panose="020B0306020202040204" pitchFamily="34" charset="0"/>
                      </a:endParaRPr>
                    </a:p>
                  </a:txBody>
                  <a:tcPr anchor="ctr"/>
                </a:tc>
                <a:extLst>
                  <a:ext uri="{0D108BD9-81ED-4DB2-BD59-A6C34878D82A}">
                    <a16:rowId xmlns:a16="http://schemas.microsoft.com/office/drawing/2014/main" val="2189818441"/>
                  </a:ext>
                </a:extLst>
              </a:tr>
              <a:tr h="1265376">
                <a:tc>
                  <a:txBody>
                    <a:bodyPr/>
                    <a:lstStyle/>
                    <a:p>
                      <a:pPr algn="l"/>
                      <a:r>
                        <a:rPr lang="en-US" sz="3200" dirty="0">
                          <a:latin typeface="Univers Condensed Light" panose="020B0306020202040204" pitchFamily="34" charset="0"/>
                        </a:rPr>
                        <a:t>9pm</a:t>
                      </a:r>
                      <a:endParaRPr lang="en-CA" sz="3200" dirty="0">
                        <a:latin typeface="Univers Condensed Light" panose="020B0306020202040204" pitchFamily="34" charset="0"/>
                      </a:endParaRPr>
                    </a:p>
                  </a:txBody>
                  <a:tcPr anchor="ctr"/>
                </a:tc>
                <a:tc>
                  <a:txBody>
                    <a:bodyPr/>
                    <a:lstStyle/>
                    <a:p>
                      <a:pPr algn="l"/>
                      <a:r>
                        <a:rPr lang="en-US" sz="3200" b="0" dirty="0">
                          <a:latin typeface="Univers Condensed Light" panose="020B0306020202040204" pitchFamily="34" charset="0"/>
                        </a:rPr>
                        <a:t>End of day 1</a:t>
                      </a:r>
                      <a:r>
                        <a:rPr lang="en-US" sz="3200" b="1" dirty="0">
                          <a:latin typeface="Univers Condensed Light" panose="020B0306020202040204" pitchFamily="34" charset="0"/>
                        </a:rPr>
                        <a:t>*</a:t>
                      </a:r>
                      <a:endParaRPr lang="en-CA" sz="3200" b="1" dirty="0">
                        <a:latin typeface="Univers Condensed Light" panose="020B0306020202040204" pitchFamily="34" charset="0"/>
                      </a:endParaRPr>
                    </a:p>
                  </a:txBody>
                  <a:tcPr anchor="ctr"/>
                </a:tc>
                <a:tc>
                  <a:txBody>
                    <a:bodyPr/>
                    <a:lstStyle/>
                    <a:p>
                      <a:pPr algn="l"/>
                      <a:r>
                        <a:rPr lang="en-US" sz="3200" dirty="0">
                          <a:latin typeface="Univers Condensed Light" panose="020B0306020202040204" pitchFamily="34" charset="0"/>
                        </a:rPr>
                        <a:t>9pm</a:t>
                      </a:r>
                      <a:endParaRPr lang="en-CA" sz="3200" dirty="0">
                        <a:latin typeface="Univers Condensed Light" panose="020B0306020202040204" pitchFamily="34" charset="0"/>
                      </a:endParaRPr>
                    </a:p>
                  </a:txBody>
                  <a:tcPr anchor="ctr"/>
                </a:tc>
                <a:tc>
                  <a:txBody>
                    <a:bodyPr/>
                    <a:lstStyle/>
                    <a:p>
                      <a:pPr algn="l"/>
                      <a:r>
                        <a:rPr lang="en-US" sz="3200" dirty="0">
                          <a:latin typeface="Univers Condensed Light" panose="020B0306020202040204" pitchFamily="34" charset="0"/>
                        </a:rPr>
                        <a:t>End of day 2</a:t>
                      </a:r>
                      <a:endParaRPr lang="en-CA" sz="3200" dirty="0">
                        <a:latin typeface="Univers Condensed Light" panose="020B0306020202040204" pitchFamily="34" charset="0"/>
                      </a:endParaRPr>
                    </a:p>
                  </a:txBody>
                  <a:tcPr anchor="ctr"/>
                </a:tc>
                <a:tc>
                  <a:txBody>
                    <a:bodyPr/>
                    <a:lstStyle/>
                    <a:p>
                      <a:pPr algn="l"/>
                      <a:r>
                        <a:rPr lang="en-US" sz="3200" dirty="0">
                          <a:latin typeface="Univers Condensed Light" panose="020B0306020202040204" pitchFamily="34" charset="0"/>
                        </a:rPr>
                        <a:t>2pm</a:t>
                      </a:r>
                      <a:endParaRPr lang="en-CA" sz="3200" dirty="0">
                        <a:latin typeface="Univers Condensed Light" panose="020B0306020202040204" pitchFamily="34" charset="0"/>
                      </a:endParaRPr>
                    </a:p>
                  </a:txBody>
                  <a:tcPr anchor="ctr"/>
                </a:tc>
                <a:tc>
                  <a:txBody>
                    <a:bodyPr/>
                    <a:lstStyle/>
                    <a:p>
                      <a:pPr algn="l"/>
                      <a:r>
                        <a:rPr lang="en-US" sz="3200" dirty="0">
                          <a:latin typeface="Univers Condensed Light" panose="020B0306020202040204" pitchFamily="34" charset="0"/>
                        </a:rPr>
                        <a:t>Presentations</a:t>
                      </a:r>
                      <a:endParaRPr lang="en-CA" sz="3200" dirty="0">
                        <a:latin typeface="Univers Condensed Light" panose="020B0306020202040204" pitchFamily="34" charset="0"/>
                      </a:endParaRPr>
                    </a:p>
                  </a:txBody>
                  <a:tcPr anchor="ctr"/>
                </a:tc>
                <a:extLst>
                  <a:ext uri="{0D108BD9-81ED-4DB2-BD59-A6C34878D82A}">
                    <a16:rowId xmlns:a16="http://schemas.microsoft.com/office/drawing/2014/main" val="2158684649"/>
                  </a:ext>
                </a:extLst>
              </a:tr>
              <a:tr h="1214949">
                <a:tc>
                  <a:txBody>
                    <a:bodyPr/>
                    <a:lstStyle/>
                    <a:p>
                      <a:pPr algn="l"/>
                      <a:endParaRPr lang="en-CA" sz="3200" dirty="0">
                        <a:latin typeface="Univers Condensed Light" panose="020B0306020202040204" pitchFamily="34" charset="0"/>
                      </a:endParaRPr>
                    </a:p>
                  </a:txBody>
                  <a:tcPr anchor="ctr"/>
                </a:tc>
                <a:tc>
                  <a:txBody>
                    <a:bodyPr/>
                    <a:lstStyle/>
                    <a:p>
                      <a:pPr algn="l"/>
                      <a:endParaRPr lang="en-CA" sz="3200" dirty="0">
                        <a:latin typeface="Univers Condensed Light" panose="020B0306020202040204" pitchFamily="34" charset="0"/>
                      </a:endParaRPr>
                    </a:p>
                  </a:txBody>
                  <a:tcPr anchor="ctr"/>
                </a:tc>
                <a:tc>
                  <a:txBody>
                    <a:bodyPr/>
                    <a:lstStyle/>
                    <a:p>
                      <a:pPr algn="l"/>
                      <a:endParaRPr lang="en-CA" sz="3200" dirty="0">
                        <a:latin typeface="Univers Condensed Light" panose="020B0306020202040204" pitchFamily="34" charset="0"/>
                      </a:endParaRPr>
                    </a:p>
                  </a:txBody>
                  <a:tcPr anchor="ctr"/>
                </a:tc>
                <a:tc>
                  <a:txBody>
                    <a:bodyPr/>
                    <a:lstStyle/>
                    <a:p>
                      <a:pPr algn="l"/>
                      <a:endParaRPr lang="en-CA" sz="3200" dirty="0">
                        <a:latin typeface="Univers Condensed Light" panose="020B0306020202040204" pitchFamily="34" charset="0"/>
                      </a:endParaRPr>
                    </a:p>
                  </a:txBody>
                  <a:tcPr anchor="ctr"/>
                </a:tc>
                <a:tc>
                  <a:txBody>
                    <a:bodyPr/>
                    <a:lstStyle/>
                    <a:p>
                      <a:pPr algn="l"/>
                      <a:r>
                        <a:rPr lang="en-US" sz="3200" dirty="0">
                          <a:latin typeface="Univers Condensed Light" panose="020B0306020202040204" pitchFamily="34" charset="0"/>
                        </a:rPr>
                        <a:t>4:30pm</a:t>
                      </a:r>
                      <a:endParaRPr lang="en-CA" sz="3200" dirty="0">
                        <a:latin typeface="Univers Condensed Light" panose="020B0306020202040204" pitchFamily="34" charset="0"/>
                      </a:endParaRPr>
                    </a:p>
                  </a:txBody>
                  <a:tcPr anchor="ctr"/>
                </a:tc>
                <a:tc>
                  <a:txBody>
                    <a:bodyPr/>
                    <a:lstStyle/>
                    <a:p>
                      <a:pPr algn="l"/>
                      <a:r>
                        <a:rPr lang="en-US" sz="3200" dirty="0">
                          <a:latin typeface="Univers Condensed Light" panose="020B0306020202040204" pitchFamily="34" charset="0"/>
                        </a:rPr>
                        <a:t>Awards &amp; Closing Ceremony</a:t>
                      </a:r>
                      <a:endParaRPr lang="en-CA" sz="3200" dirty="0">
                        <a:latin typeface="Univers Condensed Light" panose="020B0306020202040204" pitchFamily="34" charset="0"/>
                      </a:endParaRPr>
                    </a:p>
                  </a:txBody>
                  <a:tcPr anchor="ctr"/>
                </a:tc>
                <a:extLst>
                  <a:ext uri="{0D108BD9-81ED-4DB2-BD59-A6C34878D82A}">
                    <a16:rowId xmlns:a16="http://schemas.microsoft.com/office/drawing/2014/main" val="3619617653"/>
                  </a:ext>
                </a:extLst>
              </a:tr>
            </a:tbl>
          </a:graphicData>
        </a:graphic>
      </p:graphicFrame>
      <p:sp>
        <p:nvSpPr>
          <p:cNvPr id="31" name="TextBox 30">
            <a:extLst>
              <a:ext uri="{FF2B5EF4-FFF2-40B4-BE49-F238E27FC236}">
                <a16:creationId xmlns:a16="http://schemas.microsoft.com/office/drawing/2014/main" id="{5F3E073B-3601-BD01-81F7-DB8AD885EAA9}"/>
              </a:ext>
            </a:extLst>
          </p:cNvPr>
          <p:cNvSpPr txBox="1"/>
          <p:nvPr/>
        </p:nvSpPr>
        <p:spPr>
          <a:xfrm>
            <a:off x="-56400" y="8474856"/>
            <a:ext cx="18288000" cy="584775"/>
          </a:xfrm>
          <a:prstGeom prst="rect">
            <a:avLst/>
          </a:prstGeom>
          <a:noFill/>
        </p:spPr>
        <p:txBody>
          <a:bodyPr wrap="square" rtlCol="0">
            <a:spAutoFit/>
          </a:bodyPr>
          <a:lstStyle/>
          <a:p>
            <a:pPr algn="ctr"/>
            <a:r>
              <a:rPr lang="en-CA" sz="3200" b="1" dirty="0">
                <a:solidFill>
                  <a:schemeClr val="accent5">
                    <a:lumMod val="40000"/>
                    <a:lumOff val="60000"/>
                  </a:schemeClr>
                </a:solidFill>
                <a:latin typeface="Univers Condensed Light" panose="020B0306020202040204" pitchFamily="34" charset="0"/>
              </a:rPr>
              <a:t>* Teams need to be confirmed by end of day 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8F22E89-BDF8-2D77-84DB-9653EF59DC9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39449" y="3238500"/>
            <a:ext cx="6629400" cy="2449996"/>
          </a:xfrm>
          <a:prstGeom prst="rect">
            <a:avLst/>
          </a:prstGeom>
        </p:spPr>
      </p:pic>
      <p:sp>
        <p:nvSpPr>
          <p:cNvPr id="17" name="TextBox 16">
            <a:extLst>
              <a:ext uri="{FF2B5EF4-FFF2-40B4-BE49-F238E27FC236}">
                <a16:creationId xmlns:a16="http://schemas.microsoft.com/office/drawing/2014/main" id="{793E6D78-3DBE-2C66-0584-ADF7CEC27AAD}"/>
              </a:ext>
            </a:extLst>
          </p:cNvPr>
          <p:cNvSpPr txBox="1"/>
          <p:nvPr/>
        </p:nvSpPr>
        <p:spPr>
          <a:xfrm>
            <a:off x="284821" y="1773347"/>
            <a:ext cx="10230779" cy="6740307"/>
          </a:xfrm>
          <a:prstGeom prst="rect">
            <a:avLst/>
          </a:prstGeom>
          <a:solidFill>
            <a:srgbClr val="000000">
              <a:alpha val="60000"/>
            </a:srgbClr>
          </a:solidFill>
        </p:spPr>
        <p:txBody>
          <a:bodyPr wrap="square" rtlCol="0">
            <a:spAutoFit/>
          </a:bodyPr>
          <a:lstStyle/>
          <a:p>
            <a:pPr algn="ctr" fontAlgn="base"/>
            <a:r>
              <a:rPr lang="en-CA" sz="3600" dirty="0">
                <a:solidFill>
                  <a:schemeClr val="accent5">
                    <a:lumMod val="40000"/>
                    <a:lumOff val="60000"/>
                  </a:schemeClr>
                </a:solidFill>
                <a:latin typeface="Univers Condensed Light" panose="020B0306020202040204" pitchFamily="34" charset="0"/>
              </a:rPr>
              <a:t>With a 55-year record of firsts and 450+ missions, MDA Space is a trusted space mission partner to the rapidly expanding global space industry. Spanning communications satellites, Earth and space observation, and space exploration and infrastructure, our expertise and innovations are enabling some of the most ambitious missions happening today and making possible our customers’ bold visions for tomorrow. </a:t>
            </a:r>
          </a:p>
          <a:p>
            <a:pPr algn="ctr" fontAlgn="base"/>
            <a:endParaRPr lang="en-CA" sz="3600" dirty="0">
              <a:solidFill>
                <a:schemeClr val="accent5">
                  <a:lumMod val="40000"/>
                  <a:lumOff val="60000"/>
                </a:schemeClr>
              </a:solidFill>
              <a:latin typeface="Univers Condensed Light" panose="020B0306020202040204" pitchFamily="34" charset="0"/>
            </a:endParaRPr>
          </a:p>
          <a:p>
            <a:pPr algn="ctr" fontAlgn="base"/>
            <a:r>
              <a:rPr lang="en-CA" sz="3600" dirty="0">
                <a:solidFill>
                  <a:schemeClr val="accent5">
                    <a:lumMod val="40000"/>
                    <a:lumOff val="60000"/>
                  </a:schemeClr>
                </a:solidFill>
                <a:latin typeface="Univers Condensed Light" panose="020B0306020202040204" pitchFamily="34" charset="0"/>
              </a:rPr>
              <a:t>Building the space between proven and possible, we are pushing boundaries, tackling big challenges, and imagining solutions that inspire and change the world for the better.</a:t>
            </a:r>
            <a:endParaRPr lang="en-CA" sz="4000" dirty="0">
              <a:solidFill>
                <a:schemeClr val="accent5">
                  <a:lumMod val="40000"/>
                  <a:lumOff val="60000"/>
                </a:schemeClr>
              </a:solidFill>
              <a:latin typeface="Univers Condensed Light" panose="020B0306020202040204" pitchFamily="34" charset="0"/>
            </a:endParaRPr>
          </a:p>
        </p:txBody>
      </p:sp>
      <p:grpSp>
        <p:nvGrpSpPr>
          <p:cNvPr id="18" name="Group 17">
            <a:extLst>
              <a:ext uri="{FF2B5EF4-FFF2-40B4-BE49-F238E27FC236}">
                <a16:creationId xmlns:a16="http://schemas.microsoft.com/office/drawing/2014/main" id="{867E43D2-A6A2-72EE-2335-E0CA27EB7034}"/>
              </a:ext>
            </a:extLst>
          </p:cNvPr>
          <p:cNvGrpSpPr/>
          <p:nvPr/>
        </p:nvGrpSpPr>
        <p:grpSpPr>
          <a:xfrm>
            <a:off x="12104897" y="0"/>
            <a:ext cx="6183103" cy="1128946"/>
            <a:chOff x="271187" y="95718"/>
            <a:chExt cx="6183103" cy="1128946"/>
          </a:xfrm>
        </p:grpSpPr>
        <p:sp>
          <p:nvSpPr>
            <p:cNvPr id="19" name="Freeform 7">
              <a:extLst>
                <a:ext uri="{FF2B5EF4-FFF2-40B4-BE49-F238E27FC236}">
                  <a16:creationId xmlns:a16="http://schemas.microsoft.com/office/drawing/2014/main" id="{DFCCCE24-9777-D6AD-89CD-FCCCA7496C0A}"/>
                </a:ext>
              </a:extLst>
            </p:cNvPr>
            <p:cNvSpPr/>
            <p:nvPr/>
          </p:nvSpPr>
          <p:spPr>
            <a:xfrm>
              <a:off x="2534828" y="468440"/>
              <a:ext cx="1765279" cy="756224"/>
            </a:xfrm>
            <a:custGeom>
              <a:avLst/>
              <a:gdLst/>
              <a:ahLst/>
              <a:cxnLst/>
              <a:rect l="l" t="t" r="r" b="b"/>
              <a:pathLst>
                <a:path w="1765279" h="756224">
                  <a:moveTo>
                    <a:pt x="0" y="0"/>
                  </a:moveTo>
                  <a:lnTo>
                    <a:pt x="1765279" y="0"/>
                  </a:lnTo>
                  <a:lnTo>
                    <a:pt x="1765279" y="756225"/>
                  </a:lnTo>
                  <a:lnTo>
                    <a:pt x="0" y="756225"/>
                  </a:lnTo>
                  <a:lnTo>
                    <a:pt x="0" y="0"/>
                  </a:lnTo>
                  <a:close/>
                </a:path>
              </a:pathLst>
            </a:custGeom>
            <a:blipFill>
              <a:blip r:embed="rId3"/>
              <a:stretch>
                <a:fillRect r="-2149"/>
              </a:stretch>
            </a:blipFill>
          </p:spPr>
          <p:txBody>
            <a:bodyPr/>
            <a:lstStyle/>
            <a:p>
              <a:endParaRPr lang="en-US"/>
            </a:p>
          </p:txBody>
        </p:sp>
        <p:sp>
          <p:nvSpPr>
            <p:cNvPr id="20" name="Freeform 8">
              <a:extLst>
                <a:ext uri="{FF2B5EF4-FFF2-40B4-BE49-F238E27FC236}">
                  <a16:creationId xmlns:a16="http://schemas.microsoft.com/office/drawing/2014/main" id="{229EA1E9-135D-012B-87E8-F15B8F37C23C}"/>
                </a:ext>
              </a:extLst>
            </p:cNvPr>
            <p:cNvSpPr/>
            <p:nvPr/>
          </p:nvSpPr>
          <p:spPr>
            <a:xfrm>
              <a:off x="271187" y="252914"/>
              <a:ext cx="1855370" cy="971750"/>
            </a:xfrm>
            <a:custGeom>
              <a:avLst/>
              <a:gdLst/>
              <a:ahLst/>
              <a:cxnLst/>
              <a:rect l="l" t="t" r="r" b="b"/>
              <a:pathLst>
                <a:path w="1855370" h="971750">
                  <a:moveTo>
                    <a:pt x="0" y="0"/>
                  </a:moveTo>
                  <a:lnTo>
                    <a:pt x="1855370" y="0"/>
                  </a:lnTo>
                  <a:lnTo>
                    <a:pt x="1855370" y="971750"/>
                  </a:lnTo>
                  <a:lnTo>
                    <a:pt x="0" y="971750"/>
                  </a:lnTo>
                  <a:lnTo>
                    <a:pt x="0" y="0"/>
                  </a:lnTo>
                  <a:close/>
                </a:path>
              </a:pathLst>
            </a:custGeom>
            <a:blipFill>
              <a:blip r:embed="rId4"/>
              <a:stretch>
                <a:fillRect/>
              </a:stretch>
            </a:blipFill>
          </p:spPr>
          <p:txBody>
            <a:bodyPr/>
            <a:lstStyle/>
            <a:p>
              <a:endParaRPr lang="en-US"/>
            </a:p>
          </p:txBody>
        </p:sp>
        <p:sp>
          <p:nvSpPr>
            <p:cNvPr id="21" name="Freeform 9">
              <a:extLst>
                <a:ext uri="{FF2B5EF4-FFF2-40B4-BE49-F238E27FC236}">
                  <a16:creationId xmlns:a16="http://schemas.microsoft.com/office/drawing/2014/main" id="{A6973BD7-7C1A-0D4C-8805-8FCCCEC1AA57}"/>
                </a:ext>
              </a:extLst>
            </p:cNvPr>
            <p:cNvSpPr/>
            <p:nvPr/>
          </p:nvSpPr>
          <p:spPr>
            <a:xfrm>
              <a:off x="4477151" y="95718"/>
              <a:ext cx="1977139" cy="1128946"/>
            </a:xfrm>
            <a:custGeom>
              <a:avLst/>
              <a:gdLst/>
              <a:ahLst/>
              <a:cxnLst/>
              <a:rect l="l" t="t" r="r" b="b"/>
              <a:pathLst>
                <a:path w="1977139" h="1128946">
                  <a:moveTo>
                    <a:pt x="0" y="0"/>
                  </a:moveTo>
                  <a:lnTo>
                    <a:pt x="1977139" y="0"/>
                  </a:lnTo>
                  <a:lnTo>
                    <a:pt x="1977139" y="1128946"/>
                  </a:lnTo>
                  <a:lnTo>
                    <a:pt x="0" y="1128946"/>
                  </a:lnTo>
                  <a:lnTo>
                    <a:pt x="0" y="0"/>
                  </a:lnTo>
                  <a:close/>
                </a:path>
              </a:pathLst>
            </a:custGeom>
            <a:blipFill>
              <a:blip r:embed="rId5"/>
              <a:stretch>
                <a:fillRect/>
              </a:stretch>
            </a:blipFill>
          </p:spPr>
          <p:txBody>
            <a:bodyPr/>
            <a:lstStyle/>
            <a:p>
              <a:endParaRPr lang="en-US"/>
            </a:p>
          </p:txBody>
        </p:sp>
      </p:grpSp>
      <p:sp>
        <p:nvSpPr>
          <p:cNvPr id="22" name="TextBox 10">
            <a:extLst>
              <a:ext uri="{FF2B5EF4-FFF2-40B4-BE49-F238E27FC236}">
                <a16:creationId xmlns:a16="http://schemas.microsoft.com/office/drawing/2014/main" id="{345556AF-627C-E79B-ABD3-DEE973C6566E}"/>
              </a:ext>
            </a:extLst>
          </p:cNvPr>
          <p:cNvSpPr txBox="1"/>
          <p:nvPr/>
        </p:nvSpPr>
        <p:spPr>
          <a:xfrm>
            <a:off x="132921" y="129301"/>
            <a:ext cx="8020479" cy="746999"/>
          </a:xfrm>
          <a:prstGeom prst="rect">
            <a:avLst/>
          </a:prstGeom>
        </p:spPr>
        <p:txBody>
          <a:bodyPr wrap="square" lIns="0" tIns="0" rIns="0" bIns="0" rtlCol="0" anchor="t">
            <a:spAutoFit/>
          </a:bodyPr>
          <a:lstStyle/>
          <a:p>
            <a:pPr>
              <a:lnSpc>
                <a:spcPts val="6699"/>
              </a:lnSpc>
              <a:spcBef>
                <a:spcPct val="0"/>
              </a:spcBef>
            </a:pPr>
            <a:r>
              <a:rPr lang="en-US" sz="4000" dirty="0">
                <a:solidFill>
                  <a:srgbClr val="FFFFFF"/>
                </a:solidFill>
                <a:latin typeface="HK Modular"/>
                <a:ea typeface="HK Modular"/>
                <a:cs typeface="HK Modular"/>
                <a:sym typeface="HK Modular"/>
              </a:rPr>
              <a:t>Who is </a:t>
            </a:r>
            <a:r>
              <a:rPr lang="en-US" sz="4000" dirty="0" err="1">
                <a:solidFill>
                  <a:srgbClr val="FFFFFF"/>
                </a:solidFill>
                <a:latin typeface="HK Modular"/>
                <a:ea typeface="HK Modular"/>
                <a:cs typeface="HK Modular"/>
                <a:sym typeface="HK Modular"/>
              </a:rPr>
              <a:t>mda</a:t>
            </a:r>
            <a:r>
              <a:rPr lang="en-US" sz="4000" dirty="0">
                <a:solidFill>
                  <a:srgbClr val="FFFFFF"/>
                </a:solidFill>
                <a:latin typeface="HK Modular"/>
                <a:ea typeface="HK Modular"/>
                <a:cs typeface="HK Modular"/>
                <a:sym typeface="HK Modular"/>
              </a:rPr>
              <a:t> space?</a:t>
            </a:r>
          </a:p>
        </p:txBody>
      </p:sp>
    </p:spTree>
    <p:extLst>
      <p:ext uri="{BB962C8B-B14F-4D97-AF65-F5344CB8AC3E}">
        <p14:creationId xmlns:p14="http://schemas.microsoft.com/office/powerpoint/2010/main" val="23337561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74D0CEA-C132-6835-072C-69C5D6419501}"/>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E34B7413-DD73-870F-BD88-93DBF10C77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7596" y="3238500"/>
            <a:ext cx="6847813" cy="3013038"/>
          </a:xfrm>
          <a:prstGeom prst="rect">
            <a:avLst/>
          </a:prstGeom>
        </p:spPr>
      </p:pic>
      <p:sp>
        <p:nvSpPr>
          <p:cNvPr id="13" name="TextBox 12">
            <a:extLst>
              <a:ext uri="{FF2B5EF4-FFF2-40B4-BE49-F238E27FC236}">
                <a16:creationId xmlns:a16="http://schemas.microsoft.com/office/drawing/2014/main" id="{9DD6CF4C-D408-FF6E-69D9-199A61526992}"/>
              </a:ext>
            </a:extLst>
          </p:cNvPr>
          <p:cNvSpPr txBox="1"/>
          <p:nvPr/>
        </p:nvSpPr>
        <p:spPr>
          <a:xfrm>
            <a:off x="284821" y="3158341"/>
            <a:ext cx="10230779" cy="3970318"/>
          </a:xfrm>
          <a:prstGeom prst="rect">
            <a:avLst/>
          </a:prstGeom>
          <a:solidFill>
            <a:srgbClr val="000000">
              <a:alpha val="60000"/>
            </a:srgbClr>
          </a:solidFill>
        </p:spPr>
        <p:txBody>
          <a:bodyPr wrap="square" rtlCol="0">
            <a:spAutoFit/>
          </a:bodyPr>
          <a:lstStyle/>
          <a:p>
            <a:pPr algn="ctr"/>
            <a:r>
              <a:rPr lang="en-US" sz="3600" dirty="0" err="1">
                <a:solidFill>
                  <a:schemeClr val="accent5">
                    <a:lumMod val="40000"/>
                    <a:lumOff val="60000"/>
                  </a:schemeClr>
                </a:solidFill>
                <a:latin typeface="Univers Condensed Light" panose="020B0306020202040204" pitchFamily="34" charset="0"/>
              </a:rPr>
              <a:t>ShiftKey</a:t>
            </a:r>
            <a:r>
              <a:rPr lang="en-US" sz="3600" dirty="0">
                <a:solidFill>
                  <a:schemeClr val="accent5">
                    <a:lumMod val="40000"/>
                    <a:lumOff val="60000"/>
                  </a:schemeClr>
                </a:solidFill>
                <a:latin typeface="Univers Condensed Light" panose="020B0306020202040204" pitchFamily="34" charset="0"/>
              </a:rPr>
              <a:t> Labs is a non-profit organization that empowers students across Atlantic Canada to enhance their tech skills.</a:t>
            </a:r>
          </a:p>
          <a:p>
            <a:pPr algn="ctr"/>
            <a:endParaRPr lang="en-CA" sz="3600" dirty="0">
              <a:solidFill>
                <a:schemeClr val="accent5">
                  <a:lumMod val="40000"/>
                  <a:lumOff val="60000"/>
                </a:schemeClr>
              </a:solidFill>
              <a:latin typeface="Univers Condensed Light" panose="020B0306020202040204" pitchFamily="34" charset="0"/>
            </a:endParaRPr>
          </a:p>
          <a:p>
            <a:pPr algn="ctr"/>
            <a:r>
              <a:rPr lang="en-US" sz="3600" dirty="0">
                <a:solidFill>
                  <a:schemeClr val="accent5">
                    <a:lumMod val="40000"/>
                    <a:lumOff val="60000"/>
                  </a:schemeClr>
                </a:solidFill>
                <a:latin typeface="Univers Condensed Light" panose="020B0306020202040204" pitchFamily="34" charset="0"/>
              </a:rPr>
              <a:t>From AI and Web Development to Cybersecurity and Game Design, our team shares expertise from within the tech community, enabling students to expand their skills and network with industry professionals.</a:t>
            </a:r>
            <a:endParaRPr lang="en-CA" sz="3600" dirty="0">
              <a:solidFill>
                <a:schemeClr val="accent5">
                  <a:lumMod val="40000"/>
                  <a:lumOff val="60000"/>
                </a:schemeClr>
              </a:solidFill>
              <a:latin typeface="Univers Condensed Light" panose="020B0306020202040204" pitchFamily="34" charset="0"/>
            </a:endParaRPr>
          </a:p>
        </p:txBody>
      </p:sp>
      <p:grpSp>
        <p:nvGrpSpPr>
          <p:cNvPr id="17" name="Group 16">
            <a:extLst>
              <a:ext uri="{FF2B5EF4-FFF2-40B4-BE49-F238E27FC236}">
                <a16:creationId xmlns:a16="http://schemas.microsoft.com/office/drawing/2014/main" id="{18868921-A3B9-FB48-EC93-643E7279D365}"/>
              </a:ext>
            </a:extLst>
          </p:cNvPr>
          <p:cNvGrpSpPr/>
          <p:nvPr/>
        </p:nvGrpSpPr>
        <p:grpSpPr>
          <a:xfrm>
            <a:off x="12104897" y="0"/>
            <a:ext cx="6183103" cy="1128946"/>
            <a:chOff x="271187" y="95718"/>
            <a:chExt cx="6183103" cy="1128946"/>
          </a:xfrm>
        </p:grpSpPr>
        <p:sp>
          <p:nvSpPr>
            <p:cNvPr id="18" name="Freeform 7">
              <a:extLst>
                <a:ext uri="{FF2B5EF4-FFF2-40B4-BE49-F238E27FC236}">
                  <a16:creationId xmlns:a16="http://schemas.microsoft.com/office/drawing/2014/main" id="{805012CC-4647-E5DA-AFC5-4837C542C127}"/>
                </a:ext>
              </a:extLst>
            </p:cNvPr>
            <p:cNvSpPr/>
            <p:nvPr/>
          </p:nvSpPr>
          <p:spPr>
            <a:xfrm>
              <a:off x="2534828" y="468440"/>
              <a:ext cx="1765279" cy="756224"/>
            </a:xfrm>
            <a:custGeom>
              <a:avLst/>
              <a:gdLst/>
              <a:ahLst/>
              <a:cxnLst/>
              <a:rect l="l" t="t" r="r" b="b"/>
              <a:pathLst>
                <a:path w="1765279" h="756224">
                  <a:moveTo>
                    <a:pt x="0" y="0"/>
                  </a:moveTo>
                  <a:lnTo>
                    <a:pt x="1765279" y="0"/>
                  </a:lnTo>
                  <a:lnTo>
                    <a:pt x="1765279" y="756225"/>
                  </a:lnTo>
                  <a:lnTo>
                    <a:pt x="0" y="756225"/>
                  </a:lnTo>
                  <a:lnTo>
                    <a:pt x="0" y="0"/>
                  </a:lnTo>
                  <a:close/>
                </a:path>
              </a:pathLst>
            </a:custGeom>
            <a:blipFill>
              <a:blip r:embed="rId3"/>
              <a:stretch>
                <a:fillRect r="-2149"/>
              </a:stretch>
            </a:blipFill>
          </p:spPr>
          <p:txBody>
            <a:bodyPr/>
            <a:lstStyle/>
            <a:p>
              <a:endParaRPr lang="en-US"/>
            </a:p>
          </p:txBody>
        </p:sp>
        <p:sp>
          <p:nvSpPr>
            <p:cNvPr id="19" name="Freeform 8">
              <a:extLst>
                <a:ext uri="{FF2B5EF4-FFF2-40B4-BE49-F238E27FC236}">
                  <a16:creationId xmlns:a16="http://schemas.microsoft.com/office/drawing/2014/main" id="{24B4780B-C203-6C29-19BA-4E8F0C15FEEE}"/>
                </a:ext>
              </a:extLst>
            </p:cNvPr>
            <p:cNvSpPr/>
            <p:nvPr/>
          </p:nvSpPr>
          <p:spPr>
            <a:xfrm>
              <a:off x="271187" y="252914"/>
              <a:ext cx="1855370" cy="971750"/>
            </a:xfrm>
            <a:custGeom>
              <a:avLst/>
              <a:gdLst/>
              <a:ahLst/>
              <a:cxnLst/>
              <a:rect l="l" t="t" r="r" b="b"/>
              <a:pathLst>
                <a:path w="1855370" h="971750">
                  <a:moveTo>
                    <a:pt x="0" y="0"/>
                  </a:moveTo>
                  <a:lnTo>
                    <a:pt x="1855370" y="0"/>
                  </a:lnTo>
                  <a:lnTo>
                    <a:pt x="1855370" y="971750"/>
                  </a:lnTo>
                  <a:lnTo>
                    <a:pt x="0" y="971750"/>
                  </a:lnTo>
                  <a:lnTo>
                    <a:pt x="0" y="0"/>
                  </a:lnTo>
                  <a:close/>
                </a:path>
              </a:pathLst>
            </a:custGeom>
            <a:blipFill>
              <a:blip r:embed="rId4"/>
              <a:stretch>
                <a:fillRect/>
              </a:stretch>
            </a:blipFill>
          </p:spPr>
          <p:txBody>
            <a:bodyPr/>
            <a:lstStyle/>
            <a:p>
              <a:endParaRPr lang="en-US"/>
            </a:p>
          </p:txBody>
        </p:sp>
        <p:sp>
          <p:nvSpPr>
            <p:cNvPr id="20" name="Freeform 9">
              <a:extLst>
                <a:ext uri="{FF2B5EF4-FFF2-40B4-BE49-F238E27FC236}">
                  <a16:creationId xmlns:a16="http://schemas.microsoft.com/office/drawing/2014/main" id="{65AFFB0B-F045-240C-F3EA-FC1EC3DC1087}"/>
                </a:ext>
              </a:extLst>
            </p:cNvPr>
            <p:cNvSpPr/>
            <p:nvPr/>
          </p:nvSpPr>
          <p:spPr>
            <a:xfrm>
              <a:off x="4477151" y="95718"/>
              <a:ext cx="1977139" cy="1128946"/>
            </a:xfrm>
            <a:custGeom>
              <a:avLst/>
              <a:gdLst/>
              <a:ahLst/>
              <a:cxnLst/>
              <a:rect l="l" t="t" r="r" b="b"/>
              <a:pathLst>
                <a:path w="1977139" h="1128946">
                  <a:moveTo>
                    <a:pt x="0" y="0"/>
                  </a:moveTo>
                  <a:lnTo>
                    <a:pt x="1977139" y="0"/>
                  </a:lnTo>
                  <a:lnTo>
                    <a:pt x="1977139" y="1128946"/>
                  </a:lnTo>
                  <a:lnTo>
                    <a:pt x="0" y="1128946"/>
                  </a:lnTo>
                  <a:lnTo>
                    <a:pt x="0" y="0"/>
                  </a:lnTo>
                  <a:close/>
                </a:path>
              </a:pathLst>
            </a:custGeom>
            <a:blipFill>
              <a:blip r:embed="rId5"/>
              <a:stretch>
                <a:fillRect/>
              </a:stretch>
            </a:blipFill>
          </p:spPr>
          <p:txBody>
            <a:bodyPr/>
            <a:lstStyle/>
            <a:p>
              <a:endParaRPr lang="en-US"/>
            </a:p>
          </p:txBody>
        </p:sp>
      </p:grpSp>
      <p:sp>
        <p:nvSpPr>
          <p:cNvPr id="21" name="TextBox 10">
            <a:extLst>
              <a:ext uri="{FF2B5EF4-FFF2-40B4-BE49-F238E27FC236}">
                <a16:creationId xmlns:a16="http://schemas.microsoft.com/office/drawing/2014/main" id="{C445B93E-B5A0-18E4-2226-99B1145A0988}"/>
              </a:ext>
            </a:extLst>
          </p:cNvPr>
          <p:cNvSpPr txBox="1"/>
          <p:nvPr/>
        </p:nvSpPr>
        <p:spPr>
          <a:xfrm>
            <a:off x="132921" y="129301"/>
            <a:ext cx="10992279" cy="746999"/>
          </a:xfrm>
          <a:prstGeom prst="rect">
            <a:avLst/>
          </a:prstGeom>
        </p:spPr>
        <p:txBody>
          <a:bodyPr wrap="square" lIns="0" tIns="0" rIns="0" bIns="0" rtlCol="0" anchor="t">
            <a:spAutoFit/>
          </a:bodyPr>
          <a:lstStyle/>
          <a:p>
            <a:pPr>
              <a:lnSpc>
                <a:spcPts val="6699"/>
              </a:lnSpc>
              <a:spcBef>
                <a:spcPct val="0"/>
              </a:spcBef>
            </a:pPr>
            <a:r>
              <a:rPr lang="en-US" sz="4000" dirty="0">
                <a:solidFill>
                  <a:srgbClr val="FFFFFF"/>
                </a:solidFill>
                <a:latin typeface="HK Modular"/>
                <a:ea typeface="HK Modular"/>
                <a:cs typeface="HK Modular"/>
                <a:sym typeface="HK Modular"/>
              </a:rPr>
              <a:t>Who is SHIFTKEY labs?</a:t>
            </a:r>
          </a:p>
        </p:txBody>
      </p:sp>
    </p:spTree>
    <p:extLst>
      <p:ext uri="{BB962C8B-B14F-4D97-AF65-F5344CB8AC3E}">
        <p14:creationId xmlns:p14="http://schemas.microsoft.com/office/powerpoint/2010/main" val="22850061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E0BF2-A9A3-4CEE-CB91-CA2677D440A2}"/>
            </a:ext>
          </a:extLst>
        </p:cNvPr>
        <p:cNvGrpSpPr/>
        <p:nvPr/>
      </p:nvGrpSpPr>
      <p:grpSpPr>
        <a:xfrm>
          <a:off x="0" y="0"/>
          <a:ext cx="0" cy="0"/>
          <a:chOff x="0" y="0"/>
          <a:chExt cx="0" cy="0"/>
        </a:xfrm>
      </p:grpSpPr>
      <p:sp>
        <p:nvSpPr>
          <p:cNvPr id="7" name="Freeform 9">
            <a:extLst>
              <a:ext uri="{FF2B5EF4-FFF2-40B4-BE49-F238E27FC236}">
                <a16:creationId xmlns:a16="http://schemas.microsoft.com/office/drawing/2014/main" id="{2FC165E9-E99B-B3BD-92C8-055D284F6A0F}"/>
              </a:ext>
            </a:extLst>
          </p:cNvPr>
          <p:cNvSpPr/>
          <p:nvPr/>
        </p:nvSpPr>
        <p:spPr>
          <a:xfrm>
            <a:off x="10710699" y="2971800"/>
            <a:ext cx="6886900" cy="3810000"/>
          </a:xfrm>
          <a:custGeom>
            <a:avLst/>
            <a:gdLst/>
            <a:ahLst/>
            <a:cxnLst/>
            <a:rect l="l" t="t" r="r" b="b"/>
            <a:pathLst>
              <a:path w="1977139" h="1128946">
                <a:moveTo>
                  <a:pt x="0" y="0"/>
                </a:moveTo>
                <a:lnTo>
                  <a:pt x="1977139" y="0"/>
                </a:lnTo>
                <a:lnTo>
                  <a:pt x="1977139" y="1128946"/>
                </a:lnTo>
                <a:lnTo>
                  <a:pt x="0" y="1128946"/>
                </a:lnTo>
                <a:lnTo>
                  <a:pt x="0" y="0"/>
                </a:lnTo>
                <a:close/>
              </a:path>
            </a:pathLst>
          </a:custGeom>
          <a:blipFill>
            <a:blip r:embed="rId2"/>
            <a:stretch>
              <a:fillRect/>
            </a:stretch>
          </a:blipFill>
        </p:spPr>
        <p:txBody>
          <a:bodyPr/>
          <a:lstStyle/>
          <a:p>
            <a:endParaRPr lang="en-US" dirty="0"/>
          </a:p>
        </p:txBody>
      </p:sp>
      <p:sp>
        <p:nvSpPr>
          <p:cNvPr id="13" name="TextBox 12">
            <a:extLst>
              <a:ext uri="{FF2B5EF4-FFF2-40B4-BE49-F238E27FC236}">
                <a16:creationId xmlns:a16="http://schemas.microsoft.com/office/drawing/2014/main" id="{672DBAB8-F6D3-59D1-0262-3E5B7A3C1115}"/>
              </a:ext>
            </a:extLst>
          </p:cNvPr>
          <p:cNvSpPr txBox="1"/>
          <p:nvPr/>
        </p:nvSpPr>
        <p:spPr>
          <a:xfrm>
            <a:off x="284821" y="1003905"/>
            <a:ext cx="10230779" cy="8279190"/>
          </a:xfrm>
          <a:prstGeom prst="rect">
            <a:avLst/>
          </a:prstGeom>
          <a:solidFill>
            <a:srgbClr val="000000">
              <a:alpha val="60000"/>
            </a:srgbClr>
          </a:solidFill>
        </p:spPr>
        <p:txBody>
          <a:bodyPr wrap="square" rtlCol="0">
            <a:spAutoFit/>
          </a:bodyPr>
          <a:lstStyle/>
          <a:p>
            <a:r>
              <a:rPr lang="en-CA" sz="2800" u="sng" dirty="0">
                <a:solidFill>
                  <a:schemeClr val="accent5">
                    <a:lumMod val="40000"/>
                    <a:lumOff val="60000"/>
                  </a:schemeClr>
                </a:solidFill>
                <a:latin typeface="Univers Condensed Light" panose="020B0306020202040204" pitchFamily="34" charset="0"/>
              </a:rPr>
              <a:t>Role of the Canadian Space Agency in Space Utilization</a:t>
            </a:r>
          </a:p>
          <a:p>
            <a:endParaRPr lang="en-CA" sz="2800" b="1" dirty="0">
              <a:solidFill>
                <a:schemeClr val="accent5">
                  <a:lumMod val="40000"/>
                  <a:lumOff val="60000"/>
                </a:schemeClr>
              </a:solidFill>
              <a:latin typeface="Univers Condensed Light" panose="020B0306020202040204" pitchFamily="34" charset="0"/>
            </a:endParaRPr>
          </a:p>
          <a:p>
            <a:r>
              <a:rPr lang="en-CA" sz="2800" b="1" dirty="0">
                <a:solidFill>
                  <a:schemeClr val="accent5">
                    <a:lumMod val="40000"/>
                    <a:lumOff val="60000"/>
                  </a:schemeClr>
                </a:solidFill>
                <a:latin typeface="Univers Condensed Light" panose="020B0306020202040204" pitchFamily="34" charset="0"/>
              </a:rPr>
              <a:t>🛰️ Earth Observation</a:t>
            </a:r>
          </a:p>
          <a:p>
            <a:r>
              <a:rPr lang="en-CA" sz="2800" dirty="0">
                <a:solidFill>
                  <a:schemeClr val="accent5">
                    <a:lumMod val="40000"/>
                    <a:lumOff val="60000"/>
                  </a:schemeClr>
                </a:solidFill>
                <a:latin typeface="Univers Condensed Light" panose="020B0306020202040204" pitchFamily="34" charset="0"/>
              </a:rPr>
              <a:t>The </a:t>
            </a:r>
            <a:r>
              <a:rPr lang="en-CA" sz="2800" b="1" dirty="0">
                <a:solidFill>
                  <a:schemeClr val="accent5">
                    <a:lumMod val="40000"/>
                    <a:lumOff val="60000"/>
                  </a:schemeClr>
                </a:solidFill>
                <a:latin typeface="Univers Condensed Light" panose="020B0306020202040204" pitchFamily="34" charset="0"/>
              </a:rPr>
              <a:t>CSA</a:t>
            </a:r>
            <a:r>
              <a:rPr lang="en-CA" sz="2800" dirty="0">
                <a:solidFill>
                  <a:schemeClr val="accent5">
                    <a:lumMod val="40000"/>
                    <a:lumOff val="60000"/>
                  </a:schemeClr>
                </a:solidFill>
                <a:latin typeface="Univers Condensed Light" panose="020B0306020202040204" pitchFamily="34" charset="0"/>
              </a:rPr>
              <a:t> designs and operates missions the </a:t>
            </a:r>
            <a:r>
              <a:rPr lang="en-CA" sz="2800" b="1" dirty="0">
                <a:solidFill>
                  <a:schemeClr val="accent5">
                    <a:lumMod val="40000"/>
                    <a:lumOff val="60000"/>
                  </a:schemeClr>
                </a:solidFill>
                <a:latin typeface="Univers Condensed Light" panose="020B0306020202040204" pitchFamily="34" charset="0"/>
              </a:rPr>
              <a:t>RADARSAT Constellation Mission</a:t>
            </a:r>
            <a:r>
              <a:rPr lang="en-CA" sz="2800" dirty="0">
                <a:solidFill>
                  <a:schemeClr val="accent5">
                    <a:lumMod val="40000"/>
                    <a:lumOff val="60000"/>
                  </a:schemeClr>
                </a:solidFill>
                <a:latin typeface="Univers Condensed Light" panose="020B0306020202040204" pitchFamily="34" charset="0"/>
              </a:rPr>
              <a:t>, using powerful radar to watch over our planet — </a:t>
            </a:r>
            <a:r>
              <a:rPr lang="en-CA" sz="2800" b="1" dirty="0">
                <a:solidFill>
                  <a:schemeClr val="accent5">
                    <a:lumMod val="40000"/>
                    <a:lumOff val="60000"/>
                  </a:schemeClr>
                </a:solidFill>
                <a:latin typeface="Univers Condensed Light" panose="020B0306020202040204" pitchFamily="34" charset="0"/>
              </a:rPr>
              <a:t>day or night, rain or shine!</a:t>
            </a:r>
            <a:endParaRPr lang="en-CA" sz="2800" dirty="0">
              <a:solidFill>
                <a:schemeClr val="accent5">
                  <a:lumMod val="40000"/>
                  <a:lumOff val="60000"/>
                </a:schemeClr>
              </a:solidFill>
              <a:latin typeface="Univers Condensed Light" panose="020B0306020202040204" pitchFamily="34" charset="0"/>
            </a:endParaRPr>
          </a:p>
          <a:p>
            <a:r>
              <a:rPr lang="en-CA" sz="2800" b="1" dirty="0">
                <a:solidFill>
                  <a:schemeClr val="accent5">
                    <a:lumMod val="40000"/>
                    <a:lumOff val="60000"/>
                  </a:schemeClr>
                </a:solidFill>
                <a:latin typeface="Univers Condensed Light" panose="020B0306020202040204" pitchFamily="34" charset="0"/>
              </a:rPr>
              <a:t>Their data help to:</a:t>
            </a:r>
            <a:endParaRPr lang="en-CA" sz="2800" dirty="0">
              <a:solidFill>
                <a:schemeClr val="accent5">
                  <a:lumMod val="40000"/>
                  <a:lumOff val="60000"/>
                </a:schemeClr>
              </a:solidFill>
              <a:latin typeface="Univers Condensed Light" panose="020B0306020202040204" pitchFamily="34" charset="0"/>
            </a:endParaRPr>
          </a:p>
          <a:p>
            <a:pPr>
              <a:buFont typeface="Arial" panose="020B0604020202020204" pitchFamily="34" charset="0"/>
              <a:buChar char="•"/>
            </a:pPr>
            <a:r>
              <a:rPr lang="en-CA" sz="2800" dirty="0">
                <a:solidFill>
                  <a:schemeClr val="accent5">
                    <a:lumMod val="40000"/>
                    <a:lumOff val="60000"/>
                  </a:schemeClr>
                </a:solidFill>
                <a:latin typeface="Univers Condensed Light" panose="020B0306020202040204" pitchFamily="34" charset="0"/>
              </a:rPr>
              <a:t> Track climate change &amp; Arctic ice melt</a:t>
            </a:r>
          </a:p>
          <a:p>
            <a:pPr>
              <a:buFont typeface="Arial" panose="020B0604020202020204" pitchFamily="34" charset="0"/>
              <a:buChar char="•"/>
            </a:pPr>
            <a:r>
              <a:rPr lang="en-CA" sz="2800" dirty="0">
                <a:solidFill>
                  <a:schemeClr val="accent5">
                    <a:lumMod val="40000"/>
                    <a:lumOff val="60000"/>
                  </a:schemeClr>
                </a:solidFill>
                <a:latin typeface="Univers Condensed Light" panose="020B0306020202040204" pitchFamily="34" charset="0"/>
              </a:rPr>
              <a:t> Manage forests, oceans, and natural resources</a:t>
            </a:r>
          </a:p>
          <a:p>
            <a:pPr>
              <a:buFont typeface="Arial" panose="020B0604020202020204" pitchFamily="34" charset="0"/>
              <a:buChar char="•"/>
            </a:pPr>
            <a:r>
              <a:rPr lang="en-CA" sz="2800" dirty="0">
                <a:solidFill>
                  <a:schemeClr val="accent5">
                    <a:lumMod val="40000"/>
                    <a:lumOff val="60000"/>
                  </a:schemeClr>
                </a:solidFill>
                <a:latin typeface="Univers Condensed Light" panose="020B0306020202040204" pitchFamily="34" charset="0"/>
              </a:rPr>
              <a:t> Support emergency response to floods, wildfires, and natural disasters</a:t>
            </a:r>
          </a:p>
          <a:p>
            <a:pPr>
              <a:buFont typeface="Arial" panose="020B0604020202020204" pitchFamily="34" charset="0"/>
              <a:buChar char="•"/>
            </a:pPr>
            <a:endParaRPr lang="en-CA" sz="2800" dirty="0">
              <a:solidFill>
                <a:schemeClr val="accent5">
                  <a:lumMod val="40000"/>
                  <a:lumOff val="60000"/>
                </a:schemeClr>
              </a:solidFill>
              <a:latin typeface="Univers Condensed Light" panose="020B0306020202040204" pitchFamily="34" charset="0"/>
            </a:endParaRPr>
          </a:p>
          <a:p>
            <a:r>
              <a:rPr lang="en-CA" sz="2800" b="1" dirty="0">
                <a:solidFill>
                  <a:schemeClr val="accent5">
                    <a:lumMod val="40000"/>
                    <a:lumOff val="60000"/>
                  </a:schemeClr>
                </a:solidFill>
                <a:latin typeface="Univers Condensed Light" panose="020B0306020202040204" pitchFamily="34" charset="0"/>
              </a:rPr>
              <a:t>🛰️ Earth Observation</a:t>
            </a:r>
          </a:p>
          <a:p>
            <a:r>
              <a:rPr lang="en-CA" sz="2800" dirty="0">
                <a:solidFill>
                  <a:schemeClr val="accent5">
                    <a:lumMod val="40000"/>
                    <a:lumOff val="60000"/>
                  </a:schemeClr>
                </a:solidFill>
                <a:latin typeface="Univers Condensed Light" panose="020B0306020202040204" pitchFamily="34" charset="0"/>
              </a:rPr>
              <a:t>The </a:t>
            </a:r>
            <a:r>
              <a:rPr lang="en-CA" sz="2800" b="1" dirty="0">
                <a:solidFill>
                  <a:schemeClr val="accent5">
                    <a:lumMod val="40000"/>
                    <a:lumOff val="60000"/>
                  </a:schemeClr>
                </a:solidFill>
                <a:latin typeface="Univers Condensed Light" panose="020B0306020202040204" pitchFamily="34" charset="0"/>
              </a:rPr>
              <a:t>CSA</a:t>
            </a:r>
            <a:r>
              <a:rPr lang="en-CA" sz="2800" dirty="0">
                <a:solidFill>
                  <a:schemeClr val="accent5">
                    <a:lumMod val="40000"/>
                    <a:lumOff val="60000"/>
                  </a:schemeClr>
                </a:solidFill>
                <a:latin typeface="Univers Condensed Light" panose="020B0306020202040204" pitchFamily="34" charset="0"/>
              </a:rPr>
              <a:t> designs and operates missions the </a:t>
            </a:r>
            <a:r>
              <a:rPr lang="en-CA" sz="2800" b="1" dirty="0">
                <a:solidFill>
                  <a:schemeClr val="accent5">
                    <a:lumMod val="40000"/>
                    <a:lumOff val="60000"/>
                  </a:schemeClr>
                </a:solidFill>
                <a:latin typeface="Univers Condensed Light" panose="020B0306020202040204" pitchFamily="34" charset="0"/>
              </a:rPr>
              <a:t>RADARSAT Constellation Mission</a:t>
            </a:r>
            <a:r>
              <a:rPr lang="en-CA" sz="2800" dirty="0">
                <a:solidFill>
                  <a:schemeClr val="accent5">
                    <a:lumMod val="40000"/>
                    <a:lumOff val="60000"/>
                  </a:schemeClr>
                </a:solidFill>
                <a:latin typeface="Univers Condensed Light" panose="020B0306020202040204" pitchFamily="34" charset="0"/>
              </a:rPr>
              <a:t>, using powerful radar to watch over our planet — </a:t>
            </a:r>
            <a:r>
              <a:rPr lang="en-CA" sz="2800" b="1" dirty="0">
                <a:solidFill>
                  <a:schemeClr val="accent5">
                    <a:lumMod val="40000"/>
                    <a:lumOff val="60000"/>
                  </a:schemeClr>
                </a:solidFill>
                <a:latin typeface="Univers Condensed Light" panose="020B0306020202040204" pitchFamily="34" charset="0"/>
              </a:rPr>
              <a:t>day or night, rain or shine!</a:t>
            </a:r>
            <a:endParaRPr lang="en-CA" sz="2800" dirty="0">
              <a:solidFill>
                <a:schemeClr val="accent5">
                  <a:lumMod val="40000"/>
                  <a:lumOff val="60000"/>
                </a:schemeClr>
              </a:solidFill>
              <a:latin typeface="Univers Condensed Light" panose="020B0306020202040204" pitchFamily="34" charset="0"/>
            </a:endParaRPr>
          </a:p>
          <a:p>
            <a:r>
              <a:rPr lang="en-CA" sz="2800" b="1" dirty="0">
                <a:solidFill>
                  <a:schemeClr val="accent5">
                    <a:lumMod val="40000"/>
                    <a:lumOff val="60000"/>
                  </a:schemeClr>
                </a:solidFill>
                <a:latin typeface="Univers Condensed Light" panose="020B0306020202040204" pitchFamily="34" charset="0"/>
              </a:rPr>
              <a:t>Their data help to:</a:t>
            </a:r>
            <a:endParaRPr lang="en-CA" sz="2800" dirty="0">
              <a:solidFill>
                <a:schemeClr val="accent5">
                  <a:lumMod val="40000"/>
                  <a:lumOff val="60000"/>
                </a:schemeClr>
              </a:solidFill>
              <a:latin typeface="Univers Condensed Light" panose="020B0306020202040204" pitchFamily="34" charset="0"/>
            </a:endParaRPr>
          </a:p>
          <a:p>
            <a:pPr>
              <a:buFont typeface="Arial" panose="020B0604020202020204" pitchFamily="34" charset="0"/>
              <a:buChar char="•"/>
            </a:pPr>
            <a:r>
              <a:rPr lang="en-CA" sz="2800" dirty="0">
                <a:solidFill>
                  <a:schemeClr val="accent5">
                    <a:lumMod val="40000"/>
                    <a:lumOff val="60000"/>
                  </a:schemeClr>
                </a:solidFill>
                <a:latin typeface="Univers Condensed Light" panose="020B0306020202040204" pitchFamily="34" charset="0"/>
              </a:rPr>
              <a:t> Track climate change &amp; Arctic ice melt</a:t>
            </a:r>
          </a:p>
          <a:p>
            <a:pPr>
              <a:buFont typeface="Arial" panose="020B0604020202020204" pitchFamily="34" charset="0"/>
              <a:buChar char="•"/>
            </a:pPr>
            <a:r>
              <a:rPr lang="en-CA" sz="2800" dirty="0">
                <a:solidFill>
                  <a:schemeClr val="accent5">
                    <a:lumMod val="40000"/>
                    <a:lumOff val="60000"/>
                  </a:schemeClr>
                </a:solidFill>
                <a:latin typeface="Univers Condensed Light" panose="020B0306020202040204" pitchFamily="34" charset="0"/>
              </a:rPr>
              <a:t> Manage forests, oceans, and natural resources</a:t>
            </a:r>
          </a:p>
          <a:p>
            <a:pPr>
              <a:buFont typeface="Arial" panose="020B0604020202020204" pitchFamily="34" charset="0"/>
              <a:buChar char="•"/>
            </a:pPr>
            <a:r>
              <a:rPr lang="en-CA" sz="2800" dirty="0">
                <a:solidFill>
                  <a:schemeClr val="accent5">
                    <a:lumMod val="40000"/>
                    <a:lumOff val="60000"/>
                  </a:schemeClr>
                </a:solidFill>
                <a:latin typeface="Univers Condensed Light" panose="020B0306020202040204" pitchFamily="34" charset="0"/>
              </a:rPr>
              <a:t> Support emergency response to floods, wildfires, and natural disasters</a:t>
            </a:r>
          </a:p>
        </p:txBody>
      </p:sp>
      <p:grpSp>
        <p:nvGrpSpPr>
          <p:cNvPr id="16" name="Group 15">
            <a:extLst>
              <a:ext uri="{FF2B5EF4-FFF2-40B4-BE49-F238E27FC236}">
                <a16:creationId xmlns:a16="http://schemas.microsoft.com/office/drawing/2014/main" id="{0E2AF691-D62B-2C66-6642-58D91CABB40A}"/>
              </a:ext>
            </a:extLst>
          </p:cNvPr>
          <p:cNvGrpSpPr/>
          <p:nvPr/>
        </p:nvGrpSpPr>
        <p:grpSpPr>
          <a:xfrm>
            <a:off x="12104897" y="0"/>
            <a:ext cx="6183103" cy="1128946"/>
            <a:chOff x="271187" y="95718"/>
            <a:chExt cx="6183103" cy="1128946"/>
          </a:xfrm>
        </p:grpSpPr>
        <p:sp>
          <p:nvSpPr>
            <p:cNvPr id="17" name="Freeform 7">
              <a:extLst>
                <a:ext uri="{FF2B5EF4-FFF2-40B4-BE49-F238E27FC236}">
                  <a16:creationId xmlns:a16="http://schemas.microsoft.com/office/drawing/2014/main" id="{AA017C94-5FB1-99AD-DCE2-B19320473F77}"/>
                </a:ext>
              </a:extLst>
            </p:cNvPr>
            <p:cNvSpPr/>
            <p:nvPr/>
          </p:nvSpPr>
          <p:spPr>
            <a:xfrm>
              <a:off x="2534828" y="468440"/>
              <a:ext cx="1765279" cy="756224"/>
            </a:xfrm>
            <a:custGeom>
              <a:avLst/>
              <a:gdLst/>
              <a:ahLst/>
              <a:cxnLst/>
              <a:rect l="l" t="t" r="r" b="b"/>
              <a:pathLst>
                <a:path w="1765279" h="756224">
                  <a:moveTo>
                    <a:pt x="0" y="0"/>
                  </a:moveTo>
                  <a:lnTo>
                    <a:pt x="1765279" y="0"/>
                  </a:lnTo>
                  <a:lnTo>
                    <a:pt x="1765279" y="756225"/>
                  </a:lnTo>
                  <a:lnTo>
                    <a:pt x="0" y="756225"/>
                  </a:lnTo>
                  <a:lnTo>
                    <a:pt x="0" y="0"/>
                  </a:lnTo>
                  <a:close/>
                </a:path>
              </a:pathLst>
            </a:custGeom>
            <a:blipFill>
              <a:blip r:embed="rId3"/>
              <a:stretch>
                <a:fillRect r="-2149"/>
              </a:stretch>
            </a:blipFill>
          </p:spPr>
          <p:txBody>
            <a:bodyPr/>
            <a:lstStyle/>
            <a:p>
              <a:endParaRPr lang="en-US"/>
            </a:p>
          </p:txBody>
        </p:sp>
        <p:sp>
          <p:nvSpPr>
            <p:cNvPr id="18" name="Freeform 8">
              <a:extLst>
                <a:ext uri="{FF2B5EF4-FFF2-40B4-BE49-F238E27FC236}">
                  <a16:creationId xmlns:a16="http://schemas.microsoft.com/office/drawing/2014/main" id="{F7F498EA-7A0F-1FF5-8AB8-94781F1B6BD1}"/>
                </a:ext>
              </a:extLst>
            </p:cNvPr>
            <p:cNvSpPr/>
            <p:nvPr/>
          </p:nvSpPr>
          <p:spPr>
            <a:xfrm>
              <a:off x="271187" y="252914"/>
              <a:ext cx="1855370" cy="971750"/>
            </a:xfrm>
            <a:custGeom>
              <a:avLst/>
              <a:gdLst/>
              <a:ahLst/>
              <a:cxnLst/>
              <a:rect l="l" t="t" r="r" b="b"/>
              <a:pathLst>
                <a:path w="1855370" h="971750">
                  <a:moveTo>
                    <a:pt x="0" y="0"/>
                  </a:moveTo>
                  <a:lnTo>
                    <a:pt x="1855370" y="0"/>
                  </a:lnTo>
                  <a:lnTo>
                    <a:pt x="1855370" y="971750"/>
                  </a:lnTo>
                  <a:lnTo>
                    <a:pt x="0" y="971750"/>
                  </a:lnTo>
                  <a:lnTo>
                    <a:pt x="0" y="0"/>
                  </a:lnTo>
                  <a:close/>
                </a:path>
              </a:pathLst>
            </a:custGeom>
            <a:blipFill>
              <a:blip r:embed="rId4"/>
              <a:stretch>
                <a:fillRect/>
              </a:stretch>
            </a:blipFill>
          </p:spPr>
          <p:txBody>
            <a:bodyPr/>
            <a:lstStyle/>
            <a:p>
              <a:endParaRPr lang="en-US"/>
            </a:p>
          </p:txBody>
        </p:sp>
        <p:sp>
          <p:nvSpPr>
            <p:cNvPr id="19" name="Freeform 9">
              <a:extLst>
                <a:ext uri="{FF2B5EF4-FFF2-40B4-BE49-F238E27FC236}">
                  <a16:creationId xmlns:a16="http://schemas.microsoft.com/office/drawing/2014/main" id="{4FEEB0F0-E33A-E9BA-5AED-2710CB2FFD97}"/>
                </a:ext>
              </a:extLst>
            </p:cNvPr>
            <p:cNvSpPr/>
            <p:nvPr/>
          </p:nvSpPr>
          <p:spPr>
            <a:xfrm>
              <a:off x="4477151" y="95718"/>
              <a:ext cx="1977139" cy="1128946"/>
            </a:xfrm>
            <a:custGeom>
              <a:avLst/>
              <a:gdLst/>
              <a:ahLst/>
              <a:cxnLst/>
              <a:rect l="l" t="t" r="r" b="b"/>
              <a:pathLst>
                <a:path w="1977139" h="1128946">
                  <a:moveTo>
                    <a:pt x="0" y="0"/>
                  </a:moveTo>
                  <a:lnTo>
                    <a:pt x="1977139" y="0"/>
                  </a:lnTo>
                  <a:lnTo>
                    <a:pt x="1977139" y="1128946"/>
                  </a:lnTo>
                  <a:lnTo>
                    <a:pt x="0" y="1128946"/>
                  </a:lnTo>
                  <a:lnTo>
                    <a:pt x="0" y="0"/>
                  </a:lnTo>
                  <a:close/>
                </a:path>
              </a:pathLst>
            </a:custGeom>
            <a:blipFill>
              <a:blip r:embed="rId2"/>
              <a:stretch>
                <a:fillRect/>
              </a:stretch>
            </a:blipFill>
          </p:spPr>
          <p:txBody>
            <a:bodyPr/>
            <a:lstStyle/>
            <a:p>
              <a:endParaRPr lang="en-US"/>
            </a:p>
          </p:txBody>
        </p:sp>
      </p:grpSp>
      <p:sp>
        <p:nvSpPr>
          <p:cNvPr id="20" name="TextBox 10">
            <a:extLst>
              <a:ext uri="{FF2B5EF4-FFF2-40B4-BE49-F238E27FC236}">
                <a16:creationId xmlns:a16="http://schemas.microsoft.com/office/drawing/2014/main" id="{9ECAC284-E9B5-2661-FEEB-A3A6FCAD0F66}"/>
              </a:ext>
            </a:extLst>
          </p:cNvPr>
          <p:cNvSpPr txBox="1"/>
          <p:nvPr/>
        </p:nvSpPr>
        <p:spPr>
          <a:xfrm>
            <a:off x="132921" y="129301"/>
            <a:ext cx="5201079" cy="746999"/>
          </a:xfrm>
          <a:prstGeom prst="rect">
            <a:avLst/>
          </a:prstGeom>
        </p:spPr>
        <p:txBody>
          <a:bodyPr lIns="0" tIns="0" rIns="0" bIns="0" rtlCol="0" anchor="t">
            <a:spAutoFit/>
          </a:bodyPr>
          <a:lstStyle/>
          <a:p>
            <a:pPr>
              <a:lnSpc>
                <a:spcPts val="6699"/>
              </a:lnSpc>
              <a:spcBef>
                <a:spcPct val="0"/>
              </a:spcBef>
            </a:pPr>
            <a:r>
              <a:rPr lang="en-US" sz="4000" dirty="0">
                <a:solidFill>
                  <a:srgbClr val="FFFFFF"/>
                </a:solidFill>
                <a:latin typeface="HK Modular"/>
                <a:ea typeface="HK Modular"/>
                <a:cs typeface="HK Modular"/>
                <a:sym typeface="HK Modular"/>
              </a:rPr>
              <a:t>Who is CSA?</a:t>
            </a:r>
          </a:p>
        </p:txBody>
      </p:sp>
    </p:spTree>
    <p:extLst>
      <p:ext uri="{BB962C8B-B14F-4D97-AF65-F5344CB8AC3E}">
        <p14:creationId xmlns:p14="http://schemas.microsoft.com/office/powerpoint/2010/main" val="6094994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51AC2C-E5EB-05DE-2765-36963DD30AD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FCA47C3-E59B-A046-A0E1-08AA9BAD0C0B}"/>
              </a:ext>
            </a:extLst>
          </p:cNvPr>
          <p:cNvSpPr txBox="1"/>
          <p:nvPr/>
        </p:nvSpPr>
        <p:spPr>
          <a:xfrm>
            <a:off x="284821" y="1120557"/>
            <a:ext cx="16026040" cy="2021066"/>
          </a:xfrm>
          <a:prstGeom prst="rect">
            <a:avLst/>
          </a:prstGeom>
          <a:solidFill>
            <a:srgbClr val="000000">
              <a:alpha val="60000"/>
            </a:srgbClr>
          </a:solidFill>
        </p:spPr>
        <p:txBody>
          <a:bodyPr wrap="square" rtlCol="0">
            <a:spAutoFit/>
          </a:bodyPr>
          <a:lstStyle/>
          <a:p>
            <a:pPr>
              <a:lnSpc>
                <a:spcPct val="100000"/>
              </a:lnSpc>
              <a:spcAft>
                <a:spcPts val="800"/>
              </a:spcAft>
              <a:buNone/>
            </a:pPr>
            <a:r>
              <a:rPr lang="en-CA" sz="2800" b="1" u="sng" kern="100" dirty="0">
                <a:solidFill>
                  <a:schemeClr val="bg1"/>
                </a:solidFill>
                <a:latin typeface="Univers Condensed Light" panose="020B0306020202040204" pitchFamily="34" charset="0"/>
                <a:ea typeface="Calibri" panose="020F0502020204030204" pitchFamily="34" charset="0"/>
                <a:cs typeface="Times New Roman" panose="02020603050405020304" pitchFamily="18" charset="0"/>
              </a:rPr>
              <a:t>RADARSAT-2 FOR CHANGE: Turn Pixels into Decisions (Tropical Forest Edition)</a:t>
            </a:r>
          </a:p>
          <a:p>
            <a:pPr>
              <a:lnSpc>
                <a:spcPct val="100000"/>
              </a:lnSpc>
              <a:spcAft>
                <a:spcPts val="800"/>
              </a:spcAft>
              <a:buNone/>
            </a:pPr>
            <a:r>
              <a:rPr lang="en-CA" sz="2800" b="1" kern="100" dirty="0">
                <a:solidFill>
                  <a:schemeClr val="bg1"/>
                </a:solidFill>
                <a:latin typeface="Univers Condensed Light" panose="020B0306020202040204" pitchFamily="34" charset="0"/>
                <a:ea typeface="Calibri" panose="020F0502020204030204" pitchFamily="34" charset="0"/>
                <a:cs typeface="Times New Roman" panose="02020603050405020304" pitchFamily="18" charset="0"/>
              </a:rPr>
              <a:t>The Earth is constantly changing. Can you turn radar observations into actionable intelligence?</a:t>
            </a:r>
            <a:endParaRPr lang="en-CA" sz="2800" kern="100" dirty="0">
              <a:solidFill>
                <a:schemeClr val="bg1"/>
              </a:solidFill>
              <a:latin typeface="Univers Condensed Light" panose="020B0306020202040204" pitchFamily="34" charset="0"/>
              <a:ea typeface="Calibri" panose="020F0502020204030204" pitchFamily="34" charset="0"/>
              <a:cs typeface="Times New Roman" panose="02020603050405020304" pitchFamily="18" charset="0"/>
            </a:endParaRPr>
          </a:p>
          <a:p>
            <a:pPr>
              <a:lnSpc>
                <a:spcPct val="100000"/>
              </a:lnSpc>
              <a:spcAft>
                <a:spcPts val="800"/>
              </a:spcAft>
              <a:buNone/>
            </a:pPr>
            <a:r>
              <a:rPr lang="en-CA" sz="2800" b="1" kern="100" dirty="0">
                <a:solidFill>
                  <a:schemeClr val="bg1"/>
                </a:solidFill>
                <a:latin typeface="Univers Condensed Light" panose="020B0306020202040204" pitchFamily="34" charset="0"/>
                <a:ea typeface="Calibri" panose="020F0502020204030204" pitchFamily="34" charset="0"/>
                <a:cs typeface="Times New Roman" panose="02020603050405020304" pitchFamily="18" charset="0"/>
              </a:rPr>
              <a:t>Use RADARSAT-2 Tropical Forests data to identify meaningful changes occurring on the ground (Tropical Regions) and transform them into a solution that helps someone understand, monitor or act on those changes.</a:t>
            </a:r>
            <a:endParaRPr lang="en-CA" sz="2800" kern="100" dirty="0">
              <a:solidFill>
                <a:schemeClr val="bg1"/>
              </a:solidFill>
              <a:latin typeface="Univers Condensed Light" panose="020B0306020202040204" pitchFamily="34" charset="0"/>
              <a:ea typeface="Calibri" panose="020F0502020204030204" pitchFamily="34" charset="0"/>
              <a:cs typeface="Times New Roman" panose="02020603050405020304" pitchFamily="18" charset="0"/>
            </a:endParaRPr>
          </a:p>
        </p:txBody>
      </p:sp>
      <p:grpSp>
        <p:nvGrpSpPr>
          <p:cNvPr id="7" name="Group 6">
            <a:extLst>
              <a:ext uri="{FF2B5EF4-FFF2-40B4-BE49-F238E27FC236}">
                <a16:creationId xmlns:a16="http://schemas.microsoft.com/office/drawing/2014/main" id="{4DBAD8AA-A6BF-6ED0-7497-4E700A4A774C}"/>
              </a:ext>
            </a:extLst>
          </p:cNvPr>
          <p:cNvGrpSpPr/>
          <p:nvPr/>
        </p:nvGrpSpPr>
        <p:grpSpPr>
          <a:xfrm>
            <a:off x="12104897" y="0"/>
            <a:ext cx="6183103" cy="1128946"/>
            <a:chOff x="271187" y="95718"/>
            <a:chExt cx="6183103" cy="1128946"/>
          </a:xfrm>
        </p:grpSpPr>
        <p:sp>
          <p:nvSpPr>
            <p:cNvPr id="8" name="Freeform 7">
              <a:extLst>
                <a:ext uri="{FF2B5EF4-FFF2-40B4-BE49-F238E27FC236}">
                  <a16:creationId xmlns:a16="http://schemas.microsoft.com/office/drawing/2014/main" id="{E65ABD26-386A-ADF9-B320-99015110765A}"/>
                </a:ext>
              </a:extLst>
            </p:cNvPr>
            <p:cNvSpPr/>
            <p:nvPr/>
          </p:nvSpPr>
          <p:spPr>
            <a:xfrm>
              <a:off x="2534828" y="468440"/>
              <a:ext cx="1765279" cy="756224"/>
            </a:xfrm>
            <a:custGeom>
              <a:avLst/>
              <a:gdLst/>
              <a:ahLst/>
              <a:cxnLst/>
              <a:rect l="l" t="t" r="r" b="b"/>
              <a:pathLst>
                <a:path w="1765279" h="756224">
                  <a:moveTo>
                    <a:pt x="0" y="0"/>
                  </a:moveTo>
                  <a:lnTo>
                    <a:pt x="1765279" y="0"/>
                  </a:lnTo>
                  <a:lnTo>
                    <a:pt x="1765279" y="756225"/>
                  </a:lnTo>
                  <a:lnTo>
                    <a:pt x="0" y="756225"/>
                  </a:lnTo>
                  <a:lnTo>
                    <a:pt x="0" y="0"/>
                  </a:lnTo>
                  <a:close/>
                </a:path>
              </a:pathLst>
            </a:custGeom>
            <a:blipFill>
              <a:blip r:embed="rId2"/>
              <a:stretch>
                <a:fillRect r="-2149"/>
              </a:stretch>
            </a:blipFill>
          </p:spPr>
          <p:txBody>
            <a:bodyPr/>
            <a:lstStyle/>
            <a:p>
              <a:endParaRPr lang="en-US"/>
            </a:p>
          </p:txBody>
        </p:sp>
        <p:sp>
          <p:nvSpPr>
            <p:cNvPr id="9" name="Freeform 8">
              <a:extLst>
                <a:ext uri="{FF2B5EF4-FFF2-40B4-BE49-F238E27FC236}">
                  <a16:creationId xmlns:a16="http://schemas.microsoft.com/office/drawing/2014/main" id="{F6E50B2C-FDE0-B94D-63BE-4B90ACF9EA44}"/>
                </a:ext>
              </a:extLst>
            </p:cNvPr>
            <p:cNvSpPr/>
            <p:nvPr/>
          </p:nvSpPr>
          <p:spPr>
            <a:xfrm>
              <a:off x="271187" y="252914"/>
              <a:ext cx="1855370" cy="971750"/>
            </a:xfrm>
            <a:custGeom>
              <a:avLst/>
              <a:gdLst/>
              <a:ahLst/>
              <a:cxnLst/>
              <a:rect l="l" t="t" r="r" b="b"/>
              <a:pathLst>
                <a:path w="1855370" h="971750">
                  <a:moveTo>
                    <a:pt x="0" y="0"/>
                  </a:moveTo>
                  <a:lnTo>
                    <a:pt x="1855370" y="0"/>
                  </a:lnTo>
                  <a:lnTo>
                    <a:pt x="1855370" y="971750"/>
                  </a:lnTo>
                  <a:lnTo>
                    <a:pt x="0" y="971750"/>
                  </a:lnTo>
                  <a:lnTo>
                    <a:pt x="0" y="0"/>
                  </a:lnTo>
                  <a:close/>
                </a:path>
              </a:pathLst>
            </a:custGeom>
            <a:blipFill>
              <a:blip r:embed="rId3"/>
              <a:stretch>
                <a:fillRect/>
              </a:stretch>
            </a:blipFill>
          </p:spPr>
          <p:txBody>
            <a:bodyPr/>
            <a:lstStyle/>
            <a:p>
              <a:endParaRPr lang="en-US"/>
            </a:p>
          </p:txBody>
        </p:sp>
        <p:sp>
          <p:nvSpPr>
            <p:cNvPr id="10" name="Freeform 9">
              <a:extLst>
                <a:ext uri="{FF2B5EF4-FFF2-40B4-BE49-F238E27FC236}">
                  <a16:creationId xmlns:a16="http://schemas.microsoft.com/office/drawing/2014/main" id="{DD39A0DE-D153-298A-F048-D09D8F2C8466}"/>
                </a:ext>
              </a:extLst>
            </p:cNvPr>
            <p:cNvSpPr/>
            <p:nvPr/>
          </p:nvSpPr>
          <p:spPr>
            <a:xfrm>
              <a:off x="4477151" y="95718"/>
              <a:ext cx="1977139" cy="1128946"/>
            </a:xfrm>
            <a:custGeom>
              <a:avLst/>
              <a:gdLst/>
              <a:ahLst/>
              <a:cxnLst/>
              <a:rect l="l" t="t" r="r" b="b"/>
              <a:pathLst>
                <a:path w="1977139" h="1128946">
                  <a:moveTo>
                    <a:pt x="0" y="0"/>
                  </a:moveTo>
                  <a:lnTo>
                    <a:pt x="1977139" y="0"/>
                  </a:lnTo>
                  <a:lnTo>
                    <a:pt x="1977139" y="1128946"/>
                  </a:lnTo>
                  <a:lnTo>
                    <a:pt x="0" y="1128946"/>
                  </a:lnTo>
                  <a:lnTo>
                    <a:pt x="0" y="0"/>
                  </a:lnTo>
                  <a:close/>
                </a:path>
              </a:pathLst>
            </a:custGeom>
            <a:blipFill>
              <a:blip r:embed="rId4"/>
              <a:stretch>
                <a:fillRect/>
              </a:stretch>
            </a:blipFill>
          </p:spPr>
          <p:txBody>
            <a:bodyPr/>
            <a:lstStyle/>
            <a:p>
              <a:endParaRPr lang="en-US"/>
            </a:p>
          </p:txBody>
        </p:sp>
      </p:grpSp>
      <p:sp>
        <p:nvSpPr>
          <p:cNvPr id="11" name="TextBox 10">
            <a:extLst>
              <a:ext uri="{FF2B5EF4-FFF2-40B4-BE49-F238E27FC236}">
                <a16:creationId xmlns:a16="http://schemas.microsoft.com/office/drawing/2014/main" id="{36FD2B20-9C66-558C-A12C-83EC77F51974}"/>
              </a:ext>
            </a:extLst>
          </p:cNvPr>
          <p:cNvSpPr txBox="1"/>
          <p:nvPr/>
        </p:nvSpPr>
        <p:spPr>
          <a:xfrm>
            <a:off x="132921" y="129301"/>
            <a:ext cx="5201079" cy="746999"/>
          </a:xfrm>
          <a:prstGeom prst="rect">
            <a:avLst/>
          </a:prstGeom>
        </p:spPr>
        <p:txBody>
          <a:bodyPr lIns="0" tIns="0" rIns="0" bIns="0" rtlCol="0" anchor="t">
            <a:spAutoFit/>
          </a:bodyPr>
          <a:lstStyle/>
          <a:p>
            <a:pPr>
              <a:lnSpc>
                <a:spcPts val="6699"/>
              </a:lnSpc>
              <a:spcBef>
                <a:spcPct val="0"/>
              </a:spcBef>
            </a:pPr>
            <a:r>
              <a:rPr lang="en-US" sz="4000" dirty="0">
                <a:solidFill>
                  <a:srgbClr val="FFFFFF"/>
                </a:solidFill>
                <a:latin typeface="HK Modular"/>
                <a:ea typeface="HK Modular"/>
                <a:cs typeface="HK Modular"/>
                <a:sym typeface="HK Modular"/>
              </a:rPr>
              <a:t>Challenge 1</a:t>
            </a:r>
          </a:p>
        </p:txBody>
      </p:sp>
      <p:pic>
        <p:nvPicPr>
          <p:cNvPr id="25" name="Graphique 21" descr="Palm tree avec un remplissage uni">
            <a:extLst>
              <a:ext uri="{FF2B5EF4-FFF2-40B4-BE49-F238E27FC236}">
                <a16:creationId xmlns:a16="http://schemas.microsoft.com/office/drawing/2014/main" id="{A20215C9-53C6-0350-A588-DBABFBF4CEF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4451077" y="3401690"/>
            <a:ext cx="1600200" cy="1600200"/>
          </a:xfrm>
          <a:prstGeom prst="rect">
            <a:avLst/>
          </a:prstGeom>
        </p:spPr>
      </p:pic>
      <p:sp>
        <p:nvSpPr>
          <p:cNvPr id="4" name="TextBox 3">
            <a:extLst>
              <a:ext uri="{FF2B5EF4-FFF2-40B4-BE49-F238E27FC236}">
                <a16:creationId xmlns:a16="http://schemas.microsoft.com/office/drawing/2014/main" id="{A39054FD-3784-CBCA-DC0F-7B722CA3FD53}"/>
              </a:ext>
            </a:extLst>
          </p:cNvPr>
          <p:cNvSpPr txBox="1"/>
          <p:nvPr/>
        </p:nvSpPr>
        <p:spPr>
          <a:xfrm>
            <a:off x="284821" y="3330768"/>
            <a:ext cx="6150446" cy="4011355"/>
          </a:xfrm>
          <a:prstGeom prst="rect">
            <a:avLst/>
          </a:prstGeom>
          <a:solidFill>
            <a:srgbClr val="000000">
              <a:alpha val="60000"/>
            </a:srgbClr>
          </a:solidFill>
        </p:spPr>
        <p:txBody>
          <a:bodyPr wrap="square" rtlCol="0">
            <a:spAutoFit/>
          </a:bodyPr>
          <a:lstStyle/>
          <a:p>
            <a:pPr>
              <a:lnSpc>
                <a:spcPct val="100000"/>
              </a:lnSpc>
              <a:spcAft>
                <a:spcPts val="800"/>
              </a:spcAft>
              <a:buNone/>
            </a:pPr>
            <a:r>
              <a:rPr lang="en-CA" sz="2800" b="1" u="sng" kern="100" dirty="0">
                <a:solidFill>
                  <a:schemeClr val="bg1"/>
                </a:solidFill>
                <a:latin typeface="Univers Condensed Light" panose="020B0306020202040204" pitchFamily="34" charset="0"/>
                <a:ea typeface="Calibri" panose="020F0502020204030204" pitchFamily="34" charset="0"/>
                <a:cs typeface="Times New Roman" panose="02020603050405020304" pitchFamily="18" charset="0"/>
              </a:rPr>
              <a:t>Your challenge: </a:t>
            </a:r>
            <a:endParaRPr lang="en-CA" sz="2800" u="sng" kern="100" dirty="0">
              <a:solidFill>
                <a:schemeClr val="bg1"/>
              </a:solidFill>
              <a:latin typeface="Univers Condensed Light" panose="020B0306020202040204" pitchFamily="34" charset="0"/>
              <a:ea typeface="Calibri" panose="020F0502020204030204" pitchFamily="34" charset="0"/>
              <a:cs typeface="Times New Roman" panose="02020603050405020304" pitchFamily="18" charset="0"/>
            </a:endParaRPr>
          </a:p>
          <a:p>
            <a:pPr>
              <a:lnSpc>
                <a:spcPct val="100000"/>
              </a:lnSpc>
              <a:spcAft>
                <a:spcPts val="800"/>
              </a:spcAft>
              <a:buNone/>
            </a:pPr>
            <a:r>
              <a:rPr lang="en-CA" sz="2000" kern="100" dirty="0">
                <a:solidFill>
                  <a:schemeClr val="bg1"/>
                </a:solidFill>
                <a:latin typeface="Univers Condensed Light" panose="020B0306020202040204" pitchFamily="34" charset="0"/>
                <a:ea typeface="Calibri" panose="020F0502020204030204" pitchFamily="34" charset="0"/>
                <a:cs typeface="Times New Roman" panose="02020603050405020304" pitchFamily="18" charset="0"/>
              </a:rPr>
              <a:t>Using </a:t>
            </a:r>
            <a:r>
              <a:rPr lang="en-CA" sz="2000" b="1" kern="100" dirty="0">
                <a:solidFill>
                  <a:schemeClr val="bg1"/>
                </a:solidFill>
                <a:latin typeface="Univers Condensed Light" panose="020B0306020202040204" pitchFamily="34" charset="0"/>
                <a:ea typeface="Calibri" panose="020F0502020204030204" pitchFamily="34" charset="0"/>
                <a:cs typeface="Times New Roman" panose="02020603050405020304" pitchFamily="18" charset="0"/>
              </a:rPr>
              <a:t>RADARSAT-2 Tropical Forests</a:t>
            </a:r>
            <a:r>
              <a:rPr lang="en-CA" sz="2000" kern="100" dirty="0">
                <a:solidFill>
                  <a:schemeClr val="bg1"/>
                </a:solidFill>
                <a:latin typeface="Univers Condensed Light" panose="020B0306020202040204" pitchFamily="34" charset="0"/>
                <a:ea typeface="Calibri" panose="020F0502020204030204" pitchFamily="34" charset="0"/>
                <a:cs typeface="Times New Roman" panose="02020603050405020304" pitchFamily="18" charset="0"/>
              </a:rPr>
              <a:t> data, develop a solution  that can help stakeholders  detect and understand </a:t>
            </a:r>
            <a:r>
              <a:rPr lang="en-CA" sz="2000" b="1" kern="100" dirty="0">
                <a:solidFill>
                  <a:schemeClr val="bg1"/>
                </a:solidFill>
                <a:latin typeface="Univers Condensed Light" panose="020B0306020202040204" pitchFamily="34" charset="0"/>
                <a:ea typeface="Calibri" panose="020F0502020204030204" pitchFamily="34" charset="0"/>
                <a:cs typeface="Times New Roman" panose="02020603050405020304" pitchFamily="18" charset="0"/>
              </a:rPr>
              <a:t>land changes over time</a:t>
            </a:r>
            <a:r>
              <a:rPr lang="en-CA" sz="2000" kern="100" dirty="0">
                <a:solidFill>
                  <a:schemeClr val="bg1"/>
                </a:solidFill>
                <a:latin typeface="Univers Condensed Light" panose="020B0306020202040204" pitchFamily="34" charset="0"/>
                <a:ea typeface="Calibri" panose="020F0502020204030204" pitchFamily="34" charset="0"/>
                <a:cs typeface="Times New Roman" panose="02020603050405020304" pitchFamily="18" charset="0"/>
              </a:rPr>
              <a:t>.</a:t>
            </a:r>
          </a:p>
          <a:p>
            <a:pPr>
              <a:lnSpc>
                <a:spcPct val="100000"/>
              </a:lnSpc>
              <a:spcAft>
                <a:spcPts val="800"/>
              </a:spcAft>
              <a:buNone/>
            </a:pPr>
            <a:r>
              <a:rPr lang="en-CA" sz="2000" kern="100" dirty="0">
                <a:solidFill>
                  <a:schemeClr val="bg1"/>
                </a:solidFill>
                <a:latin typeface="Univers Condensed Light" panose="020B0306020202040204" pitchFamily="34" charset="0"/>
                <a:ea typeface="Calibri" panose="020F0502020204030204" pitchFamily="34" charset="0"/>
                <a:cs typeface="Times New Roman" panose="02020603050405020304" pitchFamily="18" charset="0"/>
              </a:rPr>
              <a:t>Explore different themes:</a:t>
            </a:r>
          </a:p>
          <a:p>
            <a:pPr marL="342900" lvl="0" indent="-342900">
              <a:lnSpc>
                <a:spcPct val="100000"/>
              </a:lnSpc>
              <a:spcAft>
                <a:spcPts val="800"/>
              </a:spcAft>
              <a:buSzPts val="1000"/>
              <a:buFont typeface="Symbol" panose="05050102010706020507" pitchFamily="18" charset="2"/>
              <a:buChar char=""/>
              <a:tabLst>
                <a:tab pos="457200" algn="l"/>
              </a:tabLst>
            </a:pPr>
            <a:r>
              <a:rPr lang="en-CA" sz="2000" kern="100" dirty="0">
                <a:solidFill>
                  <a:schemeClr val="bg1"/>
                </a:solidFill>
                <a:latin typeface="Univers Condensed Light" panose="020B0306020202040204" pitchFamily="34" charset="0"/>
                <a:ea typeface="Calibri" panose="020F0502020204030204" pitchFamily="34" charset="0"/>
                <a:cs typeface="Times New Roman" panose="02020603050405020304" pitchFamily="18" charset="0"/>
              </a:rPr>
              <a:t>Deforestation &amp; conservation</a:t>
            </a:r>
          </a:p>
          <a:p>
            <a:pPr marL="342900" lvl="0" indent="-342900">
              <a:lnSpc>
                <a:spcPct val="100000"/>
              </a:lnSpc>
              <a:spcAft>
                <a:spcPts val="800"/>
              </a:spcAft>
              <a:buSzPts val="1000"/>
              <a:buFont typeface="Symbol" panose="05050102010706020507" pitchFamily="18" charset="2"/>
              <a:buChar char=""/>
              <a:tabLst>
                <a:tab pos="457200" algn="l"/>
              </a:tabLst>
            </a:pPr>
            <a:r>
              <a:rPr lang="en-CA" sz="2000" kern="100" dirty="0">
                <a:solidFill>
                  <a:schemeClr val="bg1"/>
                </a:solidFill>
                <a:latin typeface="Univers Condensed Light" panose="020B0306020202040204" pitchFamily="34" charset="0"/>
                <a:ea typeface="Calibri" panose="020F0502020204030204" pitchFamily="34" charset="0"/>
                <a:cs typeface="Times New Roman" panose="02020603050405020304" pitchFamily="18" charset="0"/>
              </a:rPr>
              <a:t> Agriculture</a:t>
            </a:r>
          </a:p>
          <a:p>
            <a:pPr marL="342900" lvl="0" indent="-342900">
              <a:lnSpc>
                <a:spcPct val="100000"/>
              </a:lnSpc>
              <a:spcAft>
                <a:spcPts val="800"/>
              </a:spcAft>
              <a:buSzPts val="1000"/>
              <a:buFont typeface="Symbol" panose="05050102010706020507" pitchFamily="18" charset="2"/>
              <a:buChar char=""/>
              <a:tabLst>
                <a:tab pos="457200" algn="l"/>
              </a:tabLst>
            </a:pPr>
            <a:r>
              <a:rPr lang="en-CA" sz="2000" kern="100" dirty="0">
                <a:solidFill>
                  <a:schemeClr val="bg1"/>
                </a:solidFill>
                <a:latin typeface="Univers Condensed Light" panose="020B0306020202040204" pitchFamily="34" charset="0"/>
                <a:ea typeface="Calibri" panose="020F0502020204030204" pitchFamily="34" charset="0"/>
                <a:cs typeface="Times New Roman" panose="02020603050405020304" pitchFamily="18" charset="0"/>
              </a:rPr>
              <a:t>Water &amp; wetlands</a:t>
            </a:r>
          </a:p>
          <a:p>
            <a:pPr marL="342900" lvl="0" indent="-342900">
              <a:lnSpc>
                <a:spcPct val="100000"/>
              </a:lnSpc>
              <a:spcAft>
                <a:spcPts val="800"/>
              </a:spcAft>
              <a:buSzPts val="1000"/>
              <a:buFont typeface="Symbol" panose="05050102010706020507" pitchFamily="18" charset="2"/>
              <a:buChar char=""/>
              <a:tabLst>
                <a:tab pos="457200" algn="l"/>
              </a:tabLst>
            </a:pPr>
            <a:r>
              <a:rPr lang="en-CA" sz="2000" kern="100" dirty="0">
                <a:solidFill>
                  <a:schemeClr val="bg1"/>
                </a:solidFill>
                <a:latin typeface="Univers Condensed Light" panose="020B0306020202040204" pitchFamily="34" charset="0"/>
                <a:ea typeface="Calibri" panose="020F0502020204030204" pitchFamily="34" charset="0"/>
                <a:cs typeface="Times New Roman" panose="02020603050405020304" pitchFamily="18" charset="0"/>
              </a:rPr>
              <a:t>Disturbances &amp; wildfires</a:t>
            </a:r>
          </a:p>
          <a:p>
            <a:pPr marL="342900" lvl="0" indent="-342900">
              <a:lnSpc>
                <a:spcPct val="100000"/>
              </a:lnSpc>
              <a:spcAft>
                <a:spcPts val="800"/>
              </a:spcAft>
              <a:buSzPts val="1000"/>
              <a:buFont typeface="Symbol" panose="05050102010706020507" pitchFamily="18" charset="2"/>
              <a:buChar char=""/>
              <a:tabLst>
                <a:tab pos="457200" algn="l"/>
              </a:tabLst>
            </a:pPr>
            <a:r>
              <a:rPr lang="en-CA" sz="2000" kern="100" dirty="0">
                <a:solidFill>
                  <a:schemeClr val="bg1"/>
                </a:solidFill>
                <a:latin typeface="Univers Condensed Light" panose="020B0306020202040204" pitchFamily="34" charset="0"/>
                <a:ea typeface="Calibri" panose="020F0502020204030204" pitchFamily="34" charset="0"/>
                <a:cs typeface="Times New Roman" panose="02020603050405020304" pitchFamily="18" charset="0"/>
              </a:rPr>
              <a:t>Any other land-change related use case</a:t>
            </a:r>
          </a:p>
        </p:txBody>
      </p:sp>
      <p:sp>
        <p:nvSpPr>
          <p:cNvPr id="6" name="TextBox 5">
            <a:extLst>
              <a:ext uri="{FF2B5EF4-FFF2-40B4-BE49-F238E27FC236}">
                <a16:creationId xmlns:a16="http://schemas.microsoft.com/office/drawing/2014/main" id="{5B564380-BE44-B596-8F79-37F024524D5D}"/>
              </a:ext>
            </a:extLst>
          </p:cNvPr>
          <p:cNvSpPr txBox="1"/>
          <p:nvPr/>
        </p:nvSpPr>
        <p:spPr>
          <a:xfrm>
            <a:off x="6521871" y="3372734"/>
            <a:ext cx="6150446" cy="3539430"/>
          </a:xfrm>
          <a:prstGeom prst="rect">
            <a:avLst/>
          </a:prstGeom>
          <a:solidFill>
            <a:srgbClr val="000000">
              <a:alpha val="60000"/>
            </a:srgbClr>
          </a:solidFill>
        </p:spPr>
        <p:txBody>
          <a:bodyPr wrap="square" rtlCol="0">
            <a:spAutoFit/>
          </a:bodyPr>
          <a:lstStyle/>
          <a:p>
            <a:pPr>
              <a:lnSpc>
                <a:spcPct val="100000"/>
              </a:lnSpc>
              <a:spcAft>
                <a:spcPts val="800"/>
              </a:spcAft>
              <a:buNone/>
            </a:pPr>
            <a:r>
              <a:rPr lang="en-CA" sz="2400" b="1" u="sng" kern="100" dirty="0">
                <a:solidFill>
                  <a:schemeClr val="bg1"/>
                </a:solidFill>
                <a:latin typeface="Univers Condensed Light" panose="020B0306020202040204" pitchFamily="34" charset="0"/>
                <a:ea typeface="Calibri" panose="020F0502020204030204" pitchFamily="34" charset="0"/>
                <a:cs typeface="Segoe UI Emoji" panose="020B0502040204020203" pitchFamily="34" charset="0"/>
              </a:rPr>
              <a:t>🎯</a:t>
            </a:r>
            <a:r>
              <a:rPr lang="en-CA" sz="2400" b="1" u="sng" kern="100" dirty="0">
                <a:solidFill>
                  <a:schemeClr val="bg1"/>
                </a:solidFill>
                <a:latin typeface="Univers Condensed Light" panose="020B0306020202040204" pitchFamily="34" charset="0"/>
                <a:ea typeface="Calibri" panose="020F0502020204030204" pitchFamily="34" charset="0"/>
                <a:cs typeface="Times New Roman" panose="02020603050405020304" pitchFamily="18" charset="0"/>
              </a:rPr>
              <a:t> What we expect</a:t>
            </a:r>
            <a:endParaRPr lang="en-CA" sz="2400" u="sng" kern="100" dirty="0">
              <a:solidFill>
                <a:schemeClr val="bg1"/>
              </a:solidFill>
              <a:latin typeface="Univers Condensed Light" panose="020B0306020202040204" pitchFamily="34" charset="0"/>
              <a:ea typeface="Calibri" panose="020F0502020204030204" pitchFamily="34" charset="0"/>
              <a:cs typeface="Times New Roman" panose="02020603050405020304" pitchFamily="18" charset="0"/>
            </a:endParaRPr>
          </a:p>
          <a:p>
            <a:pPr>
              <a:lnSpc>
                <a:spcPct val="100000"/>
              </a:lnSpc>
              <a:spcAft>
                <a:spcPts val="800"/>
              </a:spcAft>
              <a:buNone/>
            </a:pPr>
            <a:r>
              <a:rPr lang="en-CA" sz="2000" kern="100" dirty="0">
                <a:solidFill>
                  <a:schemeClr val="bg1"/>
                </a:solidFill>
                <a:latin typeface="Univers Condensed Light" panose="020B0306020202040204" pitchFamily="34" charset="0"/>
                <a:ea typeface="Calibri" panose="020F0502020204030204" pitchFamily="34" charset="0"/>
                <a:cs typeface="Times New Roman" panose="02020603050405020304" pitchFamily="18" charset="0"/>
              </a:rPr>
              <a:t>Create a </a:t>
            </a:r>
            <a:r>
              <a:rPr lang="en-CA" sz="2000" b="1" kern="100" dirty="0">
                <a:solidFill>
                  <a:schemeClr val="bg1"/>
                </a:solidFill>
                <a:latin typeface="Univers Condensed Light" panose="020B0306020202040204" pitchFamily="34" charset="0"/>
                <a:ea typeface="Calibri" panose="020F0502020204030204" pitchFamily="34" charset="0"/>
                <a:cs typeface="Times New Roman" panose="02020603050405020304" pitchFamily="18" charset="0"/>
              </a:rPr>
              <a:t>mandatory visual Value-Added Product (VAP)</a:t>
            </a:r>
            <a:r>
              <a:rPr lang="en-CA" sz="2000" kern="100" dirty="0">
                <a:solidFill>
                  <a:schemeClr val="bg1"/>
                </a:solidFill>
                <a:latin typeface="Univers Condensed Light" panose="020B0306020202040204" pitchFamily="34" charset="0"/>
                <a:ea typeface="Calibri" panose="020F0502020204030204" pitchFamily="34" charset="0"/>
                <a:cs typeface="Times New Roman" panose="02020603050405020304" pitchFamily="18" charset="0"/>
              </a:rPr>
              <a:t> using </a:t>
            </a:r>
            <a:r>
              <a:rPr lang="en-CA" sz="2000" b="1" kern="100" dirty="0">
                <a:solidFill>
                  <a:schemeClr val="bg1"/>
                </a:solidFill>
                <a:latin typeface="Univers Condensed Light" panose="020B0306020202040204" pitchFamily="34" charset="0"/>
                <a:ea typeface="Calibri" panose="020F0502020204030204" pitchFamily="34" charset="0"/>
                <a:cs typeface="Times New Roman" panose="02020603050405020304" pitchFamily="18" charset="0"/>
              </a:rPr>
              <a:t>RADARSAT-2 Tropical Forests data</a:t>
            </a:r>
            <a:r>
              <a:rPr lang="en-CA" sz="2000" kern="100" dirty="0">
                <a:solidFill>
                  <a:schemeClr val="bg1"/>
                </a:solidFill>
                <a:latin typeface="Univers Condensed Light" panose="020B0306020202040204" pitchFamily="34" charset="0"/>
                <a:ea typeface="Calibri" panose="020F0502020204030204" pitchFamily="34" charset="0"/>
                <a:cs typeface="Times New Roman" panose="02020603050405020304" pitchFamily="18" charset="0"/>
              </a:rPr>
              <a:t> as a core data source.</a:t>
            </a:r>
          </a:p>
          <a:p>
            <a:pPr>
              <a:lnSpc>
                <a:spcPct val="100000"/>
              </a:lnSpc>
              <a:spcAft>
                <a:spcPts val="800"/>
              </a:spcAft>
              <a:buNone/>
            </a:pPr>
            <a:r>
              <a:rPr lang="en-CA" sz="2000" kern="100" dirty="0">
                <a:solidFill>
                  <a:schemeClr val="bg1"/>
                </a:solidFill>
                <a:latin typeface="Univers Condensed Light" panose="020B0306020202040204" pitchFamily="34" charset="0"/>
                <a:ea typeface="Calibri" panose="020F0502020204030204" pitchFamily="34" charset="0"/>
                <a:cs typeface="Times New Roman" panose="02020603050405020304" pitchFamily="18" charset="0"/>
              </a:rPr>
              <a:t>The VAP must provide a </a:t>
            </a:r>
            <a:r>
              <a:rPr lang="en-CA" sz="2000" b="1" kern="100" dirty="0">
                <a:solidFill>
                  <a:schemeClr val="bg1"/>
                </a:solidFill>
                <a:latin typeface="Univers Condensed Light" panose="020B0306020202040204" pitchFamily="34" charset="0"/>
                <a:ea typeface="Calibri" panose="020F0502020204030204" pitchFamily="34" charset="0"/>
                <a:cs typeface="Times New Roman" panose="02020603050405020304" pitchFamily="18" charset="0"/>
              </a:rPr>
              <a:t>visual representation of the detected changes</a:t>
            </a:r>
            <a:r>
              <a:rPr lang="en-CA" sz="2000" kern="100" dirty="0">
                <a:solidFill>
                  <a:schemeClr val="bg1"/>
                </a:solidFill>
                <a:latin typeface="Univers Condensed Light" panose="020B0306020202040204" pitchFamily="34" charset="0"/>
                <a:ea typeface="Calibri" panose="020F0502020204030204" pitchFamily="34" charset="0"/>
                <a:cs typeface="Times New Roman" panose="02020603050405020304" pitchFamily="18" charset="0"/>
              </a:rPr>
              <a:t>, for example:</a:t>
            </a:r>
          </a:p>
          <a:p>
            <a:pPr marL="342900" lvl="0" indent="-342900">
              <a:lnSpc>
                <a:spcPct val="100000"/>
              </a:lnSpc>
              <a:spcAft>
                <a:spcPts val="800"/>
              </a:spcAft>
              <a:buSzPts val="1000"/>
              <a:buFont typeface="Symbol" panose="05050102010706020507" pitchFamily="18" charset="2"/>
              <a:buChar char=""/>
              <a:tabLst>
                <a:tab pos="457200" algn="l"/>
              </a:tabLst>
            </a:pPr>
            <a:r>
              <a:rPr lang="en-CA" sz="2000" kern="100" dirty="0">
                <a:solidFill>
                  <a:schemeClr val="bg1"/>
                </a:solidFill>
                <a:latin typeface="Univers Condensed Light" panose="020B0306020202040204" pitchFamily="34" charset="0"/>
                <a:ea typeface="Calibri" panose="020F0502020204030204" pitchFamily="34" charset="0"/>
                <a:cs typeface="Times New Roman" panose="02020603050405020304" pitchFamily="18" charset="0"/>
              </a:rPr>
              <a:t>Change detection map</a:t>
            </a:r>
          </a:p>
          <a:p>
            <a:pPr marL="342900" lvl="0" indent="-342900">
              <a:lnSpc>
                <a:spcPct val="100000"/>
              </a:lnSpc>
              <a:spcAft>
                <a:spcPts val="800"/>
              </a:spcAft>
              <a:buSzPts val="1000"/>
              <a:buFont typeface="Symbol" panose="05050102010706020507" pitchFamily="18" charset="2"/>
              <a:buChar char=""/>
              <a:tabLst>
                <a:tab pos="457200" algn="l"/>
              </a:tabLst>
            </a:pPr>
            <a:r>
              <a:rPr lang="en-CA" sz="2000" kern="100" dirty="0">
                <a:solidFill>
                  <a:schemeClr val="bg1"/>
                </a:solidFill>
                <a:latin typeface="Univers Condensed Light" panose="020B0306020202040204" pitchFamily="34" charset="0"/>
                <a:ea typeface="Calibri" panose="020F0502020204030204" pitchFamily="34" charset="0"/>
                <a:cs typeface="Times New Roman" panose="02020603050405020304" pitchFamily="18" charset="0"/>
              </a:rPr>
              <a:t>Interactive map</a:t>
            </a:r>
          </a:p>
          <a:p>
            <a:pPr marL="342900" lvl="0" indent="-342900">
              <a:lnSpc>
                <a:spcPct val="100000"/>
              </a:lnSpc>
              <a:spcAft>
                <a:spcPts val="800"/>
              </a:spcAft>
              <a:buSzPts val="1000"/>
              <a:buFont typeface="Symbol" panose="05050102010706020507" pitchFamily="18" charset="2"/>
              <a:buChar char=""/>
              <a:tabLst>
                <a:tab pos="457200" algn="l"/>
              </a:tabLst>
            </a:pPr>
            <a:r>
              <a:rPr lang="en-CA" sz="2000" kern="100" dirty="0">
                <a:solidFill>
                  <a:schemeClr val="bg1"/>
                </a:solidFill>
                <a:latin typeface="Univers Condensed Light" panose="020B0306020202040204" pitchFamily="34" charset="0"/>
                <a:ea typeface="Calibri" panose="020F0502020204030204" pitchFamily="34" charset="0"/>
                <a:cs typeface="Times New Roman" panose="02020603050405020304" pitchFamily="18" charset="0"/>
              </a:rPr>
              <a:t>Spatial visualization of land changes</a:t>
            </a:r>
          </a:p>
          <a:p>
            <a:pPr marL="342900" lvl="0" indent="-342900">
              <a:lnSpc>
                <a:spcPct val="100000"/>
              </a:lnSpc>
              <a:spcAft>
                <a:spcPts val="800"/>
              </a:spcAft>
              <a:buSzPts val="1000"/>
              <a:buFont typeface="Symbol" panose="05050102010706020507" pitchFamily="18" charset="2"/>
              <a:buChar char=""/>
              <a:tabLst>
                <a:tab pos="457200" algn="l"/>
              </a:tabLst>
            </a:pPr>
            <a:r>
              <a:rPr lang="en-CA" sz="2000" kern="100" dirty="0">
                <a:solidFill>
                  <a:schemeClr val="bg1"/>
                </a:solidFill>
                <a:latin typeface="Univers Condensed Light" panose="020B0306020202040204" pitchFamily="34" charset="0"/>
                <a:ea typeface="Calibri" panose="020F0502020204030204" pitchFamily="34" charset="0"/>
                <a:cs typeface="Times New Roman" panose="02020603050405020304" pitchFamily="18" charset="0"/>
              </a:rPr>
              <a:t>Before/after or time-series visualization</a:t>
            </a:r>
            <a:endParaRPr lang="en-CA" sz="1200" kern="100" dirty="0">
              <a:solidFill>
                <a:schemeClr val="bg1"/>
              </a:solidFill>
              <a:latin typeface="Univers Condensed Light" panose="020B0306020202040204" pitchFamily="34" charset="0"/>
              <a:ea typeface="Calibri" panose="020F0502020204030204" pitchFamily="34" charset="0"/>
              <a:cs typeface="Times New Roman" panose="02020603050405020304" pitchFamily="18" charset="0"/>
            </a:endParaRPr>
          </a:p>
        </p:txBody>
      </p:sp>
      <p:sp>
        <p:nvSpPr>
          <p:cNvPr id="13" name="TextBox 12">
            <a:extLst>
              <a:ext uri="{FF2B5EF4-FFF2-40B4-BE49-F238E27FC236}">
                <a16:creationId xmlns:a16="http://schemas.microsoft.com/office/drawing/2014/main" id="{672E4A32-4979-299C-CFE3-F2C36AE848E8}"/>
              </a:ext>
            </a:extLst>
          </p:cNvPr>
          <p:cNvSpPr txBox="1"/>
          <p:nvPr/>
        </p:nvSpPr>
        <p:spPr>
          <a:xfrm>
            <a:off x="12877411" y="5142449"/>
            <a:ext cx="4747532" cy="1569660"/>
          </a:xfrm>
          <a:prstGeom prst="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CA" sz="2400" b="1" u="sng" dirty="0">
                <a:solidFill>
                  <a:schemeClr val="bg1"/>
                </a:solidFill>
                <a:latin typeface="Univers Condensed Light" panose="020B0306020202040204" pitchFamily="34" charset="0"/>
              </a:rPr>
              <a:t>IMPORTANT</a:t>
            </a:r>
            <a:r>
              <a:rPr lang="en-CA" sz="2400" dirty="0">
                <a:solidFill>
                  <a:schemeClr val="bg1"/>
                </a:solidFill>
                <a:latin typeface="Univers Condensed Light" panose="020B0306020202040204" pitchFamily="34" charset="0"/>
              </a:rPr>
              <a:t> : The VAP is mandatory. The additional features should build on the insights provided by the Value-Added Product </a:t>
            </a:r>
          </a:p>
        </p:txBody>
      </p:sp>
      <p:sp>
        <p:nvSpPr>
          <p:cNvPr id="15" name="TextBox 14">
            <a:extLst>
              <a:ext uri="{FF2B5EF4-FFF2-40B4-BE49-F238E27FC236}">
                <a16:creationId xmlns:a16="http://schemas.microsoft.com/office/drawing/2014/main" id="{E1F8D865-0EBE-190B-E6C7-01EACFCF45FF}"/>
              </a:ext>
            </a:extLst>
          </p:cNvPr>
          <p:cNvSpPr txBox="1"/>
          <p:nvPr/>
        </p:nvSpPr>
        <p:spPr>
          <a:xfrm>
            <a:off x="272629" y="7495044"/>
            <a:ext cx="8325279" cy="2677656"/>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CA" sz="2400" dirty="0">
                <a:solidFill>
                  <a:schemeClr val="bg1"/>
                </a:solidFill>
                <a:latin typeface="Univers Condensed Light" panose="020B0306020202040204" pitchFamily="34" charset="0"/>
              </a:rPr>
              <a:t>The VAP must then be enhanced with complementary features such as:</a:t>
            </a:r>
          </a:p>
          <a:p>
            <a:pPr lvl="0"/>
            <a:r>
              <a:rPr lang="en-CA" sz="2400" dirty="0">
                <a:solidFill>
                  <a:schemeClr val="bg1"/>
                </a:solidFill>
                <a:latin typeface="Univers Condensed Light" panose="020B0306020202040204" pitchFamily="34" charset="0"/>
              </a:rPr>
              <a:t>- Monitoring tools</a:t>
            </a:r>
          </a:p>
          <a:p>
            <a:pPr lvl="0"/>
            <a:r>
              <a:rPr lang="en-CA" sz="2400" dirty="0">
                <a:solidFill>
                  <a:schemeClr val="bg1"/>
                </a:solidFill>
                <a:latin typeface="Univers Condensed Light" panose="020B0306020202040204" pitchFamily="34" charset="0"/>
              </a:rPr>
              <a:t>- Dashboards &amp; analytics</a:t>
            </a:r>
          </a:p>
          <a:p>
            <a:pPr lvl="0"/>
            <a:r>
              <a:rPr lang="en-CA" sz="2400" dirty="0">
                <a:solidFill>
                  <a:schemeClr val="bg1"/>
                </a:solidFill>
                <a:latin typeface="Univers Condensed Light" panose="020B0306020202040204" pitchFamily="34" charset="0"/>
              </a:rPr>
              <a:t>- Alerts / notifications</a:t>
            </a:r>
          </a:p>
          <a:p>
            <a:pPr lvl="0"/>
            <a:r>
              <a:rPr lang="en-CA" sz="2400" dirty="0">
                <a:solidFill>
                  <a:schemeClr val="bg1"/>
                </a:solidFill>
                <a:latin typeface="Univers Condensed Light" panose="020B0306020202040204" pitchFamily="34" charset="0"/>
              </a:rPr>
              <a:t>- Time-series analysis</a:t>
            </a:r>
          </a:p>
          <a:p>
            <a:pPr lvl="0"/>
            <a:r>
              <a:rPr lang="en-CA" sz="2400" dirty="0">
                <a:solidFill>
                  <a:schemeClr val="bg1"/>
                </a:solidFill>
                <a:latin typeface="Univers Condensed Light" panose="020B0306020202040204" pitchFamily="34" charset="0"/>
              </a:rPr>
              <a:t>- Risk or anomaly indicators</a:t>
            </a:r>
          </a:p>
          <a:p>
            <a:pPr lvl="0"/>
            <a:r>
              <a:rPr lang="en-CA" sz="2400" dirty="0">
                <a:solidFill>
                  <a:schemeClr val="bg1"/>
                </a:solidFill>
                <a:latin typeface="Univers Condensed Light" panose="020B0306020202040204" pitchFamily="34" charset="0"/>
              </a:rPr>
              <a:t>- Decision-support tools</a:t>
            </a:r>
          </a:p>
        </p:txBody>
      </p:sp>
    </p:spTree>
    <p:extLst>
      <p:ext uri="{BB962C8B-B14F-4D97-AF65-F5344CB8AC3E}">
        <p14:creationId xmlns:p14="http://schemas.microsoft.com/office/powerpoint/2010/main" val="29207967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DFE512-DD13-8FB2-1D4F-C6E2DF03DA80}"/>
            </a:ext>
          </a:extLst>
        </p:cNvPr>
        <p:cNvGrpSpPr/>
        <p:nvPr/>
      </p:nvGrpSpPr>
      <p:grpSpPr>
        <a:xfrm>
          <a:off x="0" y="0"/>
          <a:ext cx="0" cy="0"/>
          <a:chOff x="0" y="0"/>
          <a:chExt cx="0" cy="0"/>
        </a:xfrm>
      </p:grpSpPr>
      <p:sp>
        <p:nvSpPr>
          <p:cNvPr id="18" name="TextBox 17">
            <a:extLst>
              <a:ext uri="{FF2B5EF4-FFF2-40B4-BE49-F238E27FC236}">
                <a16:creationId xmlns:a16="http://schemas.microsoft.com/office/drawing/2014/main" id="{E3CEA6F5-1D70-9657-D5F0-A656BDF5D442}"/>
              </a:ext>
            </a:extLst>
          </p:cNvPr>
          <p:cNvSpPr txBox="1"/>
          <p:nvPr/>
        </p:nvSpPr>
        <p:spPr>
          <a:xfrm>
            <a:off x="355600" y="4452521"/>
            <a:ext cx="8610600" cy="5262979"/>
          </a:xfrm>
          <a:prstGeom prst="rect">
            <a:avLst/>
          </a:prstGeom>
          <a:solidFill>
            <a:srgbClr val="000000">
              <a:alpha val="60000"/>
            </a:srgbClr>
          </a:solidFill>
        </p:spPr>
        <p:txBody>
          <a:bodyPr wrap="square" rtlCol="0">
            <a:spAutoFit/>
          </a:bodyPr>
          <a:lstStyle/>
          <a:p>
            <a:r>
              <a:rPr lang="en-CA" sz="2400" b="1" dirty="0">
                <a:solidFill>
                  <a:schemeClr val="bg1"/>
                </a:solidFill>
                <a:latin typeface="Univers Condensed Light" panose="020B0306020202040204" pitchFamily="34" charset="0"/>
              </a:rPr>
              <a:t>Track 1: The Orbital Architect (Data &amp; Math Focused):</a:t>
            </a:r>
            <a:endParaRPr lang="en-CA" sz="2400" dirty="0">
              <a:solidFill>
                <a:schemeClr val="bg1"/>
              </a:solidFill>
              <a:latin typeface="Univers Condensed Light" panose="020B0306020202040204" pitchFamily="34" charset="0"/>
            </a:endParaRPr>
          </a:p>
          <a:p>
            <a:r>
              <a:rPr lang="en-CA" sz="2400" i="1" dirty="0">
                <a:solidFill>
                  <a:schemeClr val="bg1"/>
                </a:solidFill>
                <a:latin typeface="Univers Condensed Light" panose="020B0306020202040204" pitchFamily="34" charset="0"/>
              </a:rPr>
              <a:t>Focus: Solving the "Hard" logic of orbital mechanics.</a:t>
            </a:r>
          </a:p>
          <a:p>
            <a:endParaRPr lang="en-CA" sz="2400" dirty="0">
              <a:solidFill>
                <a:schemeClr val="bg1"/>
              </a:solidFill>
              <a:latin typeface="Univers Condensed Light" panose="020B0306020202040204" pitchFamily="34" charset="0"/>
            </a:endParaRPr>
          </a:p>
          <a:p>
            <a:pPr lvl="0" fontAlgn="ctr"/>
            <a:r>
              <a:rPr lang="en-CA" sz="2400" b="1" dirty="0">
                <a:solidFill>
                  <a:schemeClr val="bg1"/>
                </a:solidFill>
                <a:latin typeface="Univers Condensed Light" panose="020B0306020202040204" pitchFamily="34" charset="0"/>
              </a:rPr>
              <a:t>Core Requirement:</a:t>
            </a:r>
            <a:r>
              <a:rPr lang="en-CA" sz="2400" dirty="0">
                <a:solidFill>
                  <a:schemeClr val="bg1"/>
                </a:solidFill>
                <a:latin typeface="Univers Condensed Light" panose="020B0306020202040204" pitchFamily="34" charset="0"/>
              </a:rPr>
              <a:t> Create an engine that takes a "Target Orbit Type" (LEO, Polar, or SSO) and outputs a list of compatible launch dates/times.</a:t>
            </a:r>
          </a:p>
          <a:p>
            <a:pPr lvl="0" fontAlgn="ctr"/>
            <a:endParaRPr lang="en-CA" sz="2400" dirty="0">
              <a:solidFill>
                <a:schemeClr val="bg1"/>
              </a:solidFill>
              <a:latin typeface="Univers Condensed Light" panose="020B0306020202040204" pitchFamily="34" charset="0"/>
            </a:endParaRPr>
          </a:p>
          <a:p>
            <a:pPr lvl="0" fontAlgn="ctr"/>
            <a:r>
              <a:rPr lang="en-CA" sz="2400" b="1" dirty="0">
                <a:solidFill>
                  <a:schemeClr val="bg1"/>
                </a:solidFill>
                <a:latin typeface="Univers Condensed Light" panose="020B0306020202040204" pitchFamily="34" charset="0"/>
              </a:rPr>
              <a:t>The Logic:</a:t>
            </a:r>
            <a:endParaRPr lang="en-CA" sz="2400" dirty="0">
              <a:solidFill>
                <a:schemeClr val="bg1"/>
              </a:solidFill>
              <a:latin typeface="Univers Condensed Light" panose="020B0306020202040204" pitchFamily="34" charset="0"/>
            </a:endParaRPr>
          </a:p>
          <a:p>
            <a:pPr lvl="1" fontAlgn="ctr"/>
            <a:r>
              <a:rPr lang="en-CA" sz="2400" b="1" dirty="0">
                <a:solidFill>
                  <a:schemeClr val="bg1"/>
                </a:solidFill>
                <a:latin typeface="Univers Condensed Light" panose="020B0306020202040204" pitchFamily="34" charset="0"/>
              </a:rPr>
              <a:t>LEO:</a:t>
            </a:r>
            <a:r>
              <a:rPr lang="en-CA" sz="2400" dirty="0">
                <a:solidFill>
                  <a:schemeClr val="bg1"/>
                </a:solidFill>
                <a:latin typeface="Univers Condensed Light" panose="020B0306020202040204" pitchFamily="34" charset="0"/>
              </a:rPr>
              <a:t> Calculate windows for inclinations ~45.1°.</a:t>
            </a:r>
          </a:p>
          <a:p>
            <a:pPr lvl="1" fontAlgn="ctr"/>
            <a:r>
              <a:rPr lang="en-CA" sz="2400" b="1" dirty="0">
                <a:solidFill>
                  <a:schemeClr val="bg1"/>
                </a:solidFill>
                <a:latin typeface="Univers Condensed Light" panose="020B0306020202040204" pitchFamily="34" charset="0"/>
              </a:rPr>
              <a:t>Polar:</a:t>
            </a:r>
            <a:r>
              <a:rPr lang="en-CA" sz="2400" dirty="0">
                <a:solidFill>
                  <a:schemeClr val="bg1"/>
                </a:solidFill>
                <a:latin typeface="Univers Condensed Light" panose="020B0306020202040204" pitchFamily="34" charset="0"/>
              </a:rPr>
              <a:t> Calculate windows for inclinations 87.9°–90°.</a:t>
            </a:r>
          </a:p>
          <a:p>
            <a:pPr lvl="1" fontAlgn="ctr"/>
            <a:r>
              <a:rPr lang="en-CA" sz="2400" b="1" dirty="0">
                <a:solidFill>
                  <a:schemeClr val="bg1"/>
                </a:solidFill>
                <a:latin typeface="Univers Condensed Light" panose="020B0306020202040204" pitchFamily="34" charset="0"/>
              </a:rPr>
              <a:t>SSO:</a:t>
            </a:r>
            <a:r>
              <a:rPr lang="en-CA" sz="2400" dirty="0">
                <a:solidFill>
                  <a:schemeClr val="bg1"/>
                </a:solidFill>
                <a:latin typeface="Univers Condensed Light" panose="020B0306020202040204" pitchFamily="34" charset="0"/>
              </a:rPr>
              <a:t> Calculate windows for inclinations ~98.1°.</a:t>
            </a:r>
          </a:p>
          <a:p>
            <a:pPr lvl="1" fontAlgn="ctr"/>
            <a:endParaRPr lang="en-CA" sz="2400" dirty="0">
              <a:solidFill>
                <a:schemeClr val="bg1"/>
              </a:solidFill>
              <a:latin typeface="Univers Condensed Light" panose="020B0306020202040204" pitchFamily="34" charset="0"/>
            </a:endParaRPr>
          </a:p>
          <a:p>
            <a:pPr lvl="0" fontAlgn="ctr"/>
            <a:r>
              <a:rPr lang="en-CA" sz="2400" b="1" dirty="0">
                <a:solidFill>
                  <a:schemeClr val="bg1"/>
                </a:solidFill>
                <a:latin typeface="Univers Condensed Light" panose="020B0306020202040204" pitchFamily="34" charset="0"/>
              </a:rPr>
              <a:t>Advanced Bonus:</a:t>
            </a:r>
            <a:r>
              <a:rPr lang="en-CA" sz="2400" dirty="0">
                <a:solidFill>
                  <a:schemeClr val="bg1"/>
                </a:solidFill>
                <a:latin typeface="Univers Condensed Light" panose="020B0306020202040204" pitchFamily="34" charset="0"/>
              </a:rPr>
              <a:t> Incorporate "Vehicle Duration." Does the window account for the time it takes the rocket to reach the injection point, or does it only look at the liftoff moment?</a:t>
            </a:r>
            <a:endParaRPr lang="en-CA" sz="2400" dirty="0"/>
          </a:p>
        </p:txBody>
      </p:sp>
      <p:sp>
        <p:nvSpPr>
          <p:cNvPr id="16" name="TextBox 15">
            <a:extLst>
              <a:ext uri="{FF2B5EF4-FFF2-40B4-BE49-F238E27FC236}">
                <a16:creationId xmlns:a16="http://schemas.microsoft.com/office/drawing/2014/main" id="{BC69CAD5-3D36-BCDD-59F1-98A4B86A8B62}"/>
              </a:ext>
            </a:extLst>
          </p:cNvPr>
          <p:cNvSpPr txBox="1"/>
          <p:nvPr/>
        </p:nvSpPr>
        <p:spPr>
          <a:xfrm>
            <a:off x="284821" y="1120557"/>
            <a:ext cx="16026040" cy="3108543"/>
          </a:xfrm>
          <a:prstGeom prst="rect">
            <a:avLst/>
          </a:prstGeom>
          <a:solidFill>
            <a:srgbClr val="000000">
              <a:alpha val="60000"/>
            </a:srgbClr>
          </a:solidFill>
        </p:spPr>
        <p:txBody>
          <a:bodyPr wrap="square" rtlCol="0">
            <a:spAutoFit/>
          </a:bodyPr>
          <a:lstStyle/>
          <a:p>
            <a:r>
              <a:rPr lang="en-CA" sz="2800" b="1" u="sng" dirty="0">
                <a:solidFill>
                  <a:schemeClr val="bg1"/>
                </a:solidFill>
                <a:latin typeface="Univers Condensed Light" panose="020B0306020202040204" pitchFamily="34" charset="0"/>
              </a:rPr>
              <a:t>Mission Control aka “Ben’s special challenge </a:t>
            </a:r>
            <a:r>
              <a:rPr lang="en-CA" sz="2800" b="1" u="sng" dirty="0">
                <a:solidFill>
                  <a:schemeClr val="bg1"/>
                </a:solidFill>
                <a:latin typeface="Univers Condensed Light" panose="020B0306020202040204" pitchFamily="34" charset="0"/>
                <a:sym typeface="Wingdings" panose="05000000000000000000" pitchFamily="2" charset="2"/>
              </a:rPr>
              <a:t></a:t>
            </a:r>
            <a:r>
              <a:rPr lang="en-CA" sz="2800" b="1" u="sng" dirty="0">
                <a:solidFill>
                  <a:schemeClr val="bg1"/>
                </a:solidFill>
                <a:latin typeface="Univers Condensed Light" panose="020B0306020202040204" pitchFamily="34" charset="0"/>
              </a:rPr>
              <a:t>”</a:t>
            </a:r>
          </a:p>
          <a:p>
            <a:r>
              <a:rPr lang="en-CA" sz="2800" dirty="0">
                <a:solidFill>
                  <a:schemeClr val="bg1"/>
                </a:solidFill>
                <a:latin typeface="Univers Condensed Light" panose="020B0306020202040204" pitchFamily="34" charset="0"/>
              </a:rPr>
              <a:t>Space agencies and private launch providers face a complex puzzle: matching a satellite's required orbital parameters with the Earth's rotation, weather patterns, and launch vehicle capabilities. A missed window can cost millions.</a:t>
            </a:r>
          </a:p>
          <a:p>
            <a:r>
              <a:rPr lang="en-CA" sz="2800" b="1" dirty="0">
                <a:solidFill>
                  <a:schemeClr val="bg1"/>
                </a:solidFill>
                <a:latin typeface="Univers Condensed Light" panose="020B0306020202040204" pitchFamily="34" charset="0"/>
              </a:rPr>
              <a:t>Your goal:</a:t>
            </a:r>
            <a:r>
              <a:rPr lang="en-CA" sz="2800" dirty="0">
                <a:solidFill>
                  <a:schemeClr val="bg1"/>
                </a:solidFill>
                <a:latin typeface="Univers Condensed Light" panose="020B0306020202040204" pitchFamily="34" charset="0"/>
              </a:rPr>
              <a:t> Build a tool that calculates optimal launch windows based on orbital requirements and provides a user-friendly interface for both mission planners and the general public.</a:t>
            </a:r>
          </a:p>
          <a:p>
            <a:endParaRPr lang="en-CA" sz="2800" dirty="0">
              <a:solidFill>
                <a:schemeClr val="bg1"/>
              </a:solidFill>
              <a:latin typeface="Univers Condensed Light" panose="020B0306020202040204" pitchFamily="34" charset="0"/>
            </a:endParaRPr>
          </a:p>
          <a:p>
            <a:r>
              <a:rPr lang="en-CA" sz="2800" dirty="0">
                <a:solidFill>
                  <a:schemeClr val="bg1"/>
                </a:solidFill>
                <a:latin typeface="Univers Condensed Light" panose="020B0306020202040204" pitchFamily="34" charset="0"/>
              </a:rPr>
              <a:t>Participants must choose </a:t>
            </a:r>
            <a:r>
              <a:rPr lang="en-US" sz="2800" b="1" dirty="0">
                <a:solidFill>
                  <a:schemeClr val="bg1"/>
                </a:solidFill>
                <a:latin typeface="Univers Condensed Light" panose="020B0306020202040204" pitchFamily="34" charset="0"/>
              </a:rPr>
              <a:t>one</a:t>
            </a:r>
            <a:r>
              <a:rPr lang="en-CA" sz="2800" dirty="0">
                <a:solidFill>
                  <a:schemeClr val="bg1"/>
                </a:solidFill>
                <a:latin typeface="Univers Condensed Light" panose="020B0306020202040204" pitchFamily="34" charset="0"/>
              </a:rPr>
              <a:t> of the following tracks:</a:t>
            </a:r>
          </a:p>
        </p:txBody>
      </p:sp>
      <p:grpSp>
        <p:nvGrpSpPr>
          <p:cNvPr id="7" name="Group 6">
            <a:extLst>
              <a:ext uri="{FF2B5EF4-FFF2-40B4-BE49-F238E27FC236}">
                <a16:creationId xmlns:a16="http://schemas.microsoft.com/office/drawing/2014/main" id="{4E45DDAE-6E19-25CD-3ADC-532FE01381FF}"/>
              </a:ext>
            </a:extLst>
          </p:cNvPr>
          <p:cNvGrpSpPr/>
          <p:nvPr/>
        </p:nvGrpSpPr>
        <p:grpSpPr>
          <a:xfrm>
            <a:off x="12104897" y="0"/>
            <a:ext cx="6183103" cy="1128946"/>
            <a:chOff x="271187" y="95718"/>
            <a:chExt cx="6183103" cy="1128946"/>
          </a:xfrm>
        </p:grpSpPr>
        <p:sp>
          <p:nvSpPr>
            <p:cNvPr id="8" name="Freeform 7">
              <a:extLst>
                <a:ext uri="{FF2B5EF4-FFF2-40B4-BE49-F238E27FC236}">
                  <a16:creationId xmlns:a16="http://schemas.microsoft.com/office/drawing/2014/main" id="{19C9B3AB-F073-FD3F-BF33-A44DB0FAF460}"/>
                </a:ext>
              </a:extLst>
            </p:cNvPr>
            <p:cNvSpPr/>
            <p:nvPr/>
          </p:nvSpPr>
          <p:spPr>
            <a:xfrm>
              <a:off x="2534828" y="468440"/>
              <a:ext cx="1765279" cy="756224"/>
            </a:xfrm>
            <a:custGeom>
              <a:avLst/>
              <a:gdLst/>
              <a:ahLst/>
              <a:cxnLst/>
              <a:rect l="l" t="t" r="r" b="b"/>
              <a:pathLst>
                <a:path w="1765279" h="756224">
                  <a:moveTo>
                    <a:pt x="0" y="0"/>
                  </a:moveTo>
                  <a:lnTo>
                    <a:pt x="1765279" y="0"/>
                  </a:lnTo>
                  <a:lnTo>
                    <a:pt x="1765279" y="756225"/>
                  </a:lnTo>
                  <a:lnTo>
                    <a:pt x="0" y="756225"/>
                  </a:lnTo>
                  <a:lnTo>
                    <a:pt x="0" y="0"/>
                  </a:lnTo>
                  <a:close/>
                </a:path>
              </a:pathLst>
            </a:custGeom>
            <a:blipFill>
              <a:blip r:embed="rId2"/>
              <a:stretch>
                <a:fillRect r="-2149"/>
              </a:stretch>
            </a:blipFill>
          </p:spPr>
          <p:txBody>
            <a:bodyPr/>
            <a:lstStyle/>
            <a:p>
              <a:endParaRPr lang="en-US"/>
            </a:p>
          </p:txBody>
        </p:sp>
        <p:sp>
          <p:nvSpPr>
            <p:cNvPr id="9" name="Freeform 8">
              <a:extLst>
                <a:ext uri="{FF2B5EF4-FFF2-40B4-BE49-F238E27FC236}">
                  <a16:creationId xmlns:a16="http://schemas.microsoft.com/office/drawing/2014/main" id="{E715E891-C662-A17F-BA26-2B4DB45AEA68}"/>
                </a:ext>
              </a:extLst>
            </p:cNvPr>
            <p:cNvSpPr/>
            <p:nvPr/>
          </p:nvSpPr>
          <p:spPr>
            <a:xfrm>
              <a:off x="271187" y="252914"/>
              <a:ext cx="1855370" cy="971750"/>
            </a:xfrm>
            <a:custGeom>
              <a:avLst/>
              <a:gdLst/>
              <a:ahLst/>
              <a:cxnLst/>
              <a:rect l="l" t="t" r="r" b="b"/>
              <a:pathLst>
                <a:path w="1855370" h="971750">
                  <a:moveTo>
                    <a:pt x="0" y="0"/>
                  </a:moveTo>
                  <a:lnTo>
                    <a:pt x="1855370" y="0"/>
                  </a:lnTo>
                  <a:lnTo>
                    <a:pt x="1855370" y="971750"/>
                  </a:lnTo>
                  <a:lnTo>
                    <a:pt x="0" y="971750"/>
                  </a:lnTo>
                  <a:lnTo>
                    <a:pt x="0" y="0"/>
                  </a:lnTo>
                  <a:close/>
                </a:path>
              </a:pathLst>
            </a:custGeom>
            <a:blipFill>
              <a:blip r:embed="rId3"/>
              <a:stretch>
                <a:fillRect/>
              </a:stretch>
            </a:blipFill>
          </p:spPr>
          <p:txBody>
            <a:bodyPr/>
            <a:lstStyle/>
            <a:p>
              <a:endParaRPr lang="en-US"/>
            </a:p>
          </p:txBody>
        </p:sp>
        <p:sp>
          <p:nvSpPr>
            <p:cNvPr id="10" name="Freeform 9">
              <a:extLst>
                <a:ext uri="{FF2B5EF4-FFF2-40B4-BE49-F238E27FC236}">
                  <a16:creationId xmlns:a16="http://schemas.microsoft.com/office/drawing/2014/main" id="{DC1EC126-0D8E-A690-3705-926C36CC0C10}"/>
                </a:ext>
              </a:extLst>
            </p:cNvPr>
            <p:cNvSpPr/>
            <p:nvPr/>
          </p:nvSpPr>
          <p:spPr>
            <a:xfrm>
              <a:off x="4477151" y="95718"/>
              <a:ext cx="1977139" cy="1128946"/>
            </a:xfrm>
            <a:custGeom>
              <a:avLst/>
              <a:gdLst/>
              <a:ahLst/>
              <a:cxnLst/>
              <a:rect l="l" t="t" r="r" b="b"/>
              <a:pathLst>
                <a:path w="1977139" h="1128946">
                  <a:moveTo>
                    <a:pt x="0" y="0"/>
                  </a:moveTo>
                  <a:lnTo>
                    <a:pt x="1977139" y="0"/>
                  </a:lnTo>
                  <a:lnTo>
                    <a:pt x="1977139" y="1128946"/>
                  </a:lnTo>
                  <a:lnTo>
                    <a:pt x="0" y="1128946"/>
                  </a:lnTo>
                  <a:lnTo>
                    <a:pt x="0" y="0"/>
                  </a:lnTo>
                  <a:close/>
                </a:path>
              </a:pathLst>
            </a:custGeom>
            <a:blipFill>
              <a:blip r:embed="rId4"/>
              <a:stretch>
                <a:fillRect/>
              </a:stretch>
            </a:blipFill>
          </p:spPr>
          <p:txBody>
            <a:bodyPr/>
            <a:lstStyle/>
            <a:p>
              <a:endParaRPr lang="en-US"/>
            </a:p>
          </p:txBody>
        </p:sp>
      </p:grpSp>
      <p:sp>
        <p:nvSpPr>
          <p:cNvPr id="11" name="TextBox 10">
            <a:extLst>
              <a:ext uri="{FF2B5EF4-FFF2-40B4-BE49-F238E27FC236}">
                <a16:creationId xmlns:a16="http://schemas.microsoft.com/office/drawing/2014/main" id="{4072D29B-A5F7-CF4F-E9ED-89D0360504F7}"/>
              </a:ext>
            </a:extLst>
          </p:cNvPr>
          <p:cNvSpPr txBox="1"/>
          <p:nvPr/>
        </p:nvSpPr>
        <p:spPr>
          <a:xfrm>
            <a:off x="132921" y="129301"/>
            <a:ext cx="5201079" cy="746999"/>
          </a:xfrm>
          <a:prstGeom prst="rect">
            <a:avLst/>
          </a:prstGeom>
        </p:spPr>
        <p:txBody>
          <a:bodyPr lIns="0" tIns="0" rIns="0" bIns="0" rtlCol="0" anchor="t">
            <a:spAutoFit/>
          </a:bodyPr>
          <a:lstStyle/>
          <a:p>
            <a:pPr>
              <a:lnSpc>
                <a:spcPts val="6699"/>
              </a:lnSpc>
              <a:spcBef>
                <a:spcPct val="0"/>
              </a:spcBef>
            </a:pPr>
            <a:r>
              <a:rPr lang="en-US" sz="4000" dirty="0">
                <a:solidFill>
                  <a:srgbClr val="FFFFFF"/>
                </a:solidFill>
                <a:latin typeface="HK Modular"/>
                <a:ea typeface="HK Modular"/>
                <a:cs typeface="HK Modular"/>
                <a:sym typeface="HK Modular"/>
              </a:rPr>
              <a:t>Challenge 2</a:t>
            </a:r>
          </a:p>
        </p:txBody>
      </p:sp>
      <p:sp>
        <p:nvSpPr>
          <p:cNvPr id="20" name="TextBox 19">
            <a:extLst>
              <a:ext uri="{FF2B5EF4-FFF2-40B4-BE49-F238E27FC236}">
                <a16:creationId xmlns:a16="http://schemas.microsoft.com/office/drawing/2014/main" id="{A6A0F8AD-A4B3-4677-4BCF-5ED7146869CB}"/>
              </a:ext>
            </a:extLst>
          </p:cNvPr>
          <p:cNvSpPr txBox="1"/>
          <p:nvPr/>
        </p:nvSpPr>
        <p:spPr>
          <a:xfrm>
            <a:off x="9321800" y="4452521"/>
            <a:ext cx="8610599" cy="5262979"/>
          </a:xfrm>
          <a:prstGeom prst="rect">
            <a:avLst/>
          </a:prstGeom>
          <a:solidFill>
            <a:srgbClr val="000000">
              <a:alpha val="60000"/>
            </a:srgbClr>
          </a:solidFill>
        </p:spPr>
        <p:txBody>
          <a:bodyPr wrap="square" rtlCol="0">
            <a:spAutoFit/>
          </a:bodyPr>
          <a:lstStyle/>
          <a:p>
            <a:r>
              <a:rPr lang="en-CA" sz="2400" b="1" dirty="0">
                <a:solidFill>
                  <a:schemeClr val="bg1"/>
                </a:solidFill>
                <a:latin typeface="Univers Condensed Light" panose="020B0306020202040204" pitchFamily="34" charset="0"/>
              </a:rPr>
              <a:t>Track 2: The Launch Watcher (UX &amp; Visualization Focused):</a:t>
            </a:r>
            <a:endParaRPr lang="en-CA" sz="2400" dirty="0">
              <a:solidFill>
                <a:schemeClr val="bg1"/>
              </a:solidFill>
              <a:latin typeface="Univers Condensed Light" panose="020B0306020202040204" pitchFamily="34" charset="0"/>
            </a:endParaRPr>
          </a:p>
          <a:p>
            <a:r>
              <a:rPr lang="en-CA" sz="2400" i="1" dirty="0">
                <a:solidFill>
                  <a:schemeClr val="bg1"/>
                </a:solidFill>
                <a:latin typeface="Univers Condensed Light" panose="020B0306020202040204" pitchFamily="34" charset="0"/>
              </a:rPr>
              <a:t>Focus: Solving the "Public Interface" and "Engagement" aspect.</a:t>
            </a:r>
          </a:p>
          <a:p>
            <a:endParaRPr lang="en-CA" sz="2400" dirty="0">
              <a:solidFill>
                <a:schemeClr val="bg1"/>
              </a:solidFill>
              <a:latin typeface="Univers Condensed Light" panose="020B0306020202040204" pitchFamily="34" charset="0"/>
            </a:endParaRPr>
          </a:p>
          <a:p>
            <a:pPr lvl="0" fontAlgn="ctr"/>
            <a:r>
              <a:rPr lang="en-CA" sz="2400" b="1" dirty="0">
                <a:solidFill>
                  <a:schemeClr val="bg1"/>
                </a:solidFill>
                <a:latin typeface="Univers Condensed Light" panose="020B0306020202040204" pitchFamily="34" charset="0"/>
              </a:rPr>
              <a:t>Core Requirement:</a:t>
            </a:r>
            <a:r>
              <a:rPr lang="en-CA" sz="2400" dirty="0">
                <a:solidFill>
                  <a:schemeClr val="bg1"/>
                </a:solidFill>
                <a:latin typeface="Univers Condensed Light" panose="020B0306020202040204" pitchFamily="34" charset="0"/>
              </a:rPr>
              <a:t> Build a web-based "Launch Dashboard" for the public.</a:t>
            </a:r>
          </a:p>
          <a:p>
            <a:pPr lvl="0" fontAlgn="ctr"/>
            <a:endParaRPr lang="en-CA" sz="2400" dirty="0">
              <a:solidFill>
                <a:schemeClr val="bg1"/>
              </a:solidFill>
              <a:latin typeface="Univers Condensed Light" panose="020B0306020202040204" pitchFamily="34" charset="0"/>
            </a:endParaRPr>
          </a:p>
          <a:p>
            <a:pPr lvl="0" fontAlgn="ctr"/>
            <a:r>
              <a:rPr lang="en-CA" sz="2400" b="1" dirty="0">
                <a:solidFill>
                  <a:schemeClr val="bg1"/>
                </a:solidFill>
                <a:latin typeface="Univers Condensed Light" panose="020B0306020202040204" pitchFamily="34" charset="0"/>
              </a:rPr>
              <a:t>The Features:</a:t>
            </a:r>
            <a:endParaRPr lang="en-CA" sz="2400" dirty="0">
              <a:solidFill>
                <a:schemeClr val="bg1"/>
              </a:solidFill>
              <a:latin typeface="Univers Condensed Light" panose="020B0306020202040204" pitchFamily="34" charset="0"/>
            </a:endParaRPr>
          </a:p>
          <a:p>
            <a:pPr lvl="1" fontAlgn="ctr"/>
            <a:r>
              <a:rPr lang="en-CA" sz="2400" dirty="0">
                <a:solidFill>
                  <a:schemeClr val="bg1"/>
                </a:solidFill>
                <a:latin typeface="Univers Condensed Light" panose="020B0306020202040204" pitchFamily="34" charset="0"/>
              </a:rPr>
              <a:t>A countdown timer to the next available window.</a:t>
            </a:r>
          </a:p>
          <a:p>
            <a:pPr lvl="1" fontAlgn="ctr"/>
            <a:r>
              <a:rPr lang="en-CA" sz="2400" dirty="0">
                <a:solidFill>
                  <a:schemeClr val="bg1"/>
                </a:solidFill>
                <a:latin typeface="Univers Condensed Light" panose="020B0306020202040204" pitchFamily="34" charset="0"/>
              </a:rPr>
              <a:t>A visual representation (2D or 3D) of the launch trajectory or the satellite's path around Earth.</a:t>
            </a:r>
          </a:p>
          <a:p>
            <a:pPr lvl="1" fontAlgn="ctr"/>
            <a:r>
              <a:rPr lang="en-CA" sz="2400" dirty="0">
                <a:solidFill>
                  <a:schemeClr val="bg1"/>
                </a:solidFill>
                <a:latin typeface="Univers Condensed Light" panose="020B0306020202040204" pitchFamily="34" charset="0"/>
              </a:rPr>
              <a:t>A "Weather Impact" indicator (Green/Yellow/Red) based on mock or real-time weather API data.</a:t>
            </a:r>
          </a:p>
          <a:p>
            <a:pPr lvl="1" fontAlgn="ctr"/>
            <a:endParaRPr lang="en-CA" sz="2400" dirty="0">
              <a:solidFill>
                <a:schemeClr val="bg1"/>
              </a:solidFill>
              <a:latin typeface="Univers Condensed Light" panose="020B0306020202040204" pitchFamily="34" charset="0"/>
            </a:endParaRPr>
          </a:p>
          <a:p>
            <a:pPr lvl="0" fontAlgn="ctr"/>
            <a:r>
              <a:rPr lang="en-CA" sz="2400" b="1" dirty="0">
                <a:solidFill>
                  <a:schemeClr val="bg1"/>
                </a:solidFill>
                <a:latin typeface="Univers Condensed Light" panose="020B0306020202040204" pitchFamily="34" charset="0"/>
              </a:rPr>
              <a:t>Advanced Bonus:</a:t>
            </a:r>
            <a:r>
              <a:rPr lang="en-CA" sz="2400" dirty="0">
                <a:solidFill>
                  <a:schemeClr val="bg1"/>
                </a:solidFill>
                <a:latin typeface="Univers Condensed Light" panose="020B0306020202040204" pitchFamily="34" charset="0"/>
              </a:rPr>
              <a:t> A "Viewing Map" that shows which geographic regions will have the best view of the ascent</a:t>
            </a:r>
          </a:p>
        </p:txBody>
      </p:sp>
    </p:spTree>
    <p:extLst>
      <p:ext uri="{BB962C8B-B14F-4D97-AF65-F5344CB8AC3E}">
        <p14:creationId xmlns:p14="http://schemas.microsoft.com/office/powerpoint/2010/main" val="24685671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44F8A-5712-9266-C748-78450C66C43E}"/>
            </a:ext>
          </a:extLst>
        </p:cNvPr>
        <p:cNvGrpSpPr/>
        <p:nvPr/>
      </p:nvGrpSpPr>
      <p:grpSpPr>
        <a:xfrm>
          <a:off x="0" y="0"/>
          <a:ext cx="0" cy="0"/>
          <a:chOff x="0" y="0"/>
          <a:chExt cx="0" cy="0"/>
        </a:xfrm>
      </p:grpSpPr>
      <p:grpSp>
        <p:nvGrpSpPr>
          <p:cNvPr id="7" name="Group 6">
            <a:extLst>
              <a:ext uri="{FF2B5EF4-FFF2-40B4-BE49-F238E27FC236}">
                <a16:creationId xmlns:a16="http://schemas.microsoft.com/office/drawing/2014/main" id="{90F0F939-D9BD-F0CC-1249-605F0CB4C230}"/>
              </a:ext>
            </a:extLst>
          </p:cNvPr>
          <p:cNvGrpSpPr/>
          <p:nvPr/>
        </p:nvGrpSpPr>
        <p:grpSpPr>
          <a:xfrm>
            <a:off x="12104897" y="0"/>
            <a:ext cx="6183103" cy="1128946"/>
            <a:chOff x="271187" y="95718"/>
            <a:chExt cx="6183103" cy="1128946"/>
          </a:xfrm>
        </p:grpSpPr>
        <p:sp>
          <p:nvSpPr>
            <p:cNvPr id="8" name="Freeform 7">
              <a:extLst>
                <a:ext uri="{FF2B5EF4-FFF2-40B4-BE49-F238E27FC236}">
                  <a16:creationId xmlns:a16="http://schemas.microsoft.com/office/drawing/2014/main" id="{B411CEB0-CF33-DE79-43CE-CAEC457FC5C5}"/>
                </a:ext>
              </a:extLst>
            </p:cNvPr>
            <p:cNvSpPr/>
            <p:nvPr/>
          </p:nvSpPr>
          <p:spPr>
            <a:xfrm>
              <a:off x="2534828" y="468440"/>
              <a:ext cx="1765279" cy="756224"/>
            </a:xfrm>
            <a:custGeom>
              <a:avLst/>
              <a:gdLst/>
              <a:ahLst/>
              <a:cxnLst/>
              <a:rect l="l" t="t" r="r" b="b"/>
              <a:pathLst>
                <a:path w="1765279" h="756224">
                  <a:moveTo>
                    <a:pt x="0" y="0"/>
                  </a:moveTo>
                  <a:lnTo>
                    <a:pt x="1765279" y="0"/>
                  </a:lnTo>
                  <a:lnTo>
                    <a:pt x="1765279" y="756225"/>
                  </a:lnTo>
                  <a:lnTo>
                    <a:pt x="0" y="756225"/>
                  </a:lnTo>
                  <a:lnTo>
                    <a:pt x="0" y="0"/>
                  </a:lnTo>
                  <a:close/>
                </a:path>
              </a:pathLst>
            </a:custGeom>
            <a:blipFill>
              <a:blip r:embed="rId2"/>
              <a:stretch>
                <a:fillRect r="-2149"/>
              </a:stretch>
            </a:blipFill>
          </p:spPr>
          <p:txBody>
            <a:bodyPr/>
            <a:lstStyle/>
            <a:p>
              <a:endParaRPr lang="en-US"/>
            </a:p>
          </p:txBody>
        </p:sp>
        <p:sp>
          <p:nvSpPr>
            <p:cNvPr id="9" name="Freeform 8">
              <a:extLst>
                <a:ext uri="{FF2B5EF4-FFF2-40B4-BE49-F238E27FC236}">
                  <a16:creationId xmlns:a16="http://schemas.microsoft.com/office/drawing/2014/main" id="{41B5EE0C-8D1A-D587-0722-ABD18A20B976}"/>
                </a:ext>
              </a:extLst>
            </p:cNvPr>
            <p:cNvSpPr/>
            <p:nvPr/>
          </p:nvSpPr>
          <p:spPr>
            <a:xfrm>
              <a:off x="271187" y="252914"/>
              <a:ext cx="1855370" cy="971750"/>
            </a:xfrm>
            <a:custGeom>
              <a:avLst/>
              <a:gdLst/>
              <a:ahLst/>
              <a:cxnLst/>
              <a:rect l="l" t="t" r="r" b="b"/>
              <a:pathLst>
                <a:path w="1855370" h="971750">
                  <a:moveTo>
                    <a:pt x="0" y="0"/>
                  </a:moveTo>
                  <a:lnTo>
                    <a:pt x="1855370" y="0"/>
                  </a:lnTo>
                  <a:lnTo>
                    <a:pt x="1855370" y="971750"/>
                  </a:lnTo>
                  <a:lnTo>
                    <a:pt x="0" y="971750"/>
                  </a:lnTo>
                  <a:lnTo>
                    <a:pt x="0" y="0"/>
                  </a:lnTo>
                  <a:close/>
                </a:path>
              </a:pathLst>
            </a:custGeom>
            <a:blipFill>
              <a:blip r:embed="rId3"/>
              <a:stretch>
                <a:fillRect/>
              </a:stretch>
            </a:blipFill>
          </p:spPr>
          <p:txBody>
            <a:bodyPr/>
            <a:lstStyle/>
            <a:p>
              <a:endParaRPr lang="en-US"/>
            </a:p>
          </p:txBody>
        </p:sp>
        <p:sp>
          <p:nvSpPr>
            <p:cNvPr id="10" name="Freeform 9">
              <a:extLst>
                <a:ext uri="{FF2B5EF4-FFF2-40B4-BE49-F238E27FC236}">
                  <a16:creationId xmlns:a16="http://schemas.microsoft.com/office/drawing/2014/main" id="{CDEEBE78-096F-AB11-283E-836AD4946CC7}"/>
                </a:ext>
              </a:extLst>
            </p:cNvPr>
            <p:cNvSpPr/>
            <p:nvPr/>
          </p:nvSpPr>
          <p:spPr>
            <a:xfrm>
              <a:off x="4477151" y="95718"/>
              <a:ext cx="1977139" cy="1128946"/>
            </a:xfrm>
            <a:custGeom>
              <a:avLst/>
              <a:gdLst/>
              <a:ahLst/>
              <a:cxnLst/>
              <a:rect l="l" t="t" r="r" b="b"/>
              <a:pathLst>
                <a:path w="1977139" h="1128946">
                  <a:moveTo>
                    <a:pt x="0" y="0"/>
                  </a:moveTo>
                  <a:lnTo>
                    <a:pt x="1977139" y="0"/>
                  </a:lnTo>
                  <a:lnTo>
                    <a:pt x="1977139" y="1128946"/>
                  </a:lnTo>
                  <a:lnTo>
                    <a:pt x="0" y="1128946"/>
                  </a:lnTo>
                  <a:lnTo>
                    <a:pt x="0" y="0"/>
                  </a:lnTo>
                  <a:close/>
                </a:path>
              </a:pathLst>
            </a:custGeom>
            <a:blipFill>
              <a:blip r:embed="rId4"/>
              <a:stretch>
                <a:fillRect/>
              </a:stretch>
            </a:blipFill>
          </p:spPr>
          <p:txBody>
            <a:bodyPr/>
            <a:lstStyle/>
            <a:p>
              <a:endParaRPr lang="en-US"/>
            </a:p>
          </p:txBody>
        </p:sp>
      </p:grpSp>
      <p:sp>
        <p:nvSpPr>
          <p:cNvPr id="11" name="TextBox 10">
            <a:extLst>
              <a:ext uri="{FF2B5EF4-FFF2-40B4-BE49-F238E27FC236}">
                <a16:creationId xmlns:a16="http://schemas.microsoft.com/office/drawing/2014/main" id="{FAC185A5-2E0D-5E43-8147-8009F7A58835}"/>
              </a:ext>
            </a:extLst>
          </p:cNvPr>
          <p:cNvSpPr txBox="1"/>
          <p:nvPr/>
        </p:nvSpPr>
        <p:spPr>
          <a:xfrm>
            <a:off x="132921" y="129301"/>
            <a:ext cx="5201079" cy="746999"/>
          </a:xfrm>
          <a:prstGeom prst="rect">
            <a:avLst/>
          </a:prstGeom>
        </p:spPr>
        <p:txBody>
          <a:bodyPr lIns="0" tIns="0" rIns="0" bIns="0" rtlCol="0" anchor="t">
            <a:spAutoFit/>
          </a:bodyPr>
          <a:lstStyle/>
          <a:p>
            <a:pPr>
              <a:lnSpc>
                <a:spcPts val="6699"/>
              </a:lnSpc>
              <a:spcBef>
                <a:spcPct val="0"/>
              </a:spcBef>
            </a:pPr>
            <a:r>
              <a:rPr lang="en-US" sz="4000" dirty="0">
                <a:solidFill>
                  <a:srgbClr val="FFFFFF"/>
                </a:solidFill>
                <a:latin typeface="HK Modular"/>
                <a:ea typeface="HK Modular"/>
                <a:cs typeface="HK Modular"/>
                <a:sym typeface="HK Modular"/>
              </a:rPr>
              <a:t>Challenge 3</a:t>
            </a:r>
          </a:p>
        </p:txBody>
      </p:sp>
      <p:sp>
        <p:nvSpPr>
          <p:cNvPr id="3" name="TextBox 2">
            <a:extLst>
              <a:ext uri="{FF2B5EF4-FFF2-40B4-BE49-F238E27FC236}">
                <a16:creationId xmlns:a16="http://schemas.microsoft.com/office/drawing/2014/main" id="{234F05AA-6CF4-FBA5-6AAA-3EA43455EBB5}"/>
              </a:ext>
            </a:extLst>
          </p:cNvPr>
          <p:cNvSpPr txBox="1"/>
          <p:nvPr/>
        </p:nvSpPr>
        <p:spPr>
          <a:xfrm>
            <a:off x="284821" y="1120557"/>
            <a:ext cx="9011579" cy="7848302"/>
          </a:xfrm>
          <a:prstGeom prst="rect">
            <a:avLst/>
          </a:prstGeom>
          <a:solidFill>
            <a:srgbClr val="000000">
              <a:alpha val="60000"/>
            </a:srgbClr>
          </a:solidFill>
        </p:spPr>
        <p:txBody>
          <a:bodyPr wrap="square" rtlCol="0">
            <a:spAutoFit/>
          </a:bodyPr>
          <a:lstStyle/>
          <a:p>
            <a:r>
              <a:rPr lang="en-CA" sz="2800" b="1" u="sng" dirty="0">
                <a:solidFill>
                  <a:schemeClr val="bg1"/>
                </a:solidFill>
                <a:latin typeface="Univers Condensed Light" panose="020B0306020202040204" pitchFamily="34" charset="0"/>
              </a:rPr>
              <a:t>Earth in Motion: Tracking Canada’s Changing Landscape</a:t>
            </a:r>
          </a:p>
          <a:p>
            <a:r>
              <a:rPr lang="en-CA" sz="2800" dirty="0">
                <a:solidFill>
                  <a:schemeClr val="bg1"/>
                </a:solidFill>
                <a:latin typeface="Univers Condensed Light" panose="020B0306020202040204" pitchFamily="34" charset="0"/>
              </a:rPr>
              <a:t>Climate change is rapidly transforming Canadian ecosystems: shifts in the treeline, permafrost degradation, drying water bodies, </a:t>
            </a:r>
            <a:r>
              <a:rPr lang="en-CA" sz="2800" dirty="0" err="1">
                <a:solidFill>
                  <a:schemeClr val="bg1"/>
                </a:solidFill>
                <a:latin typeface="Univers Condensed Light" panose="020B0306020202040204" pitchFamily="34" charset="0"/>
              </a:rPr>
              <a:t>ect</a:t>
            </a:r>
            <a:r>
              <a:rPr lang="en-CA" sz="2800" dirty="0">
                <a:solidFill>
                  <a:schemeClr val="bg1"/>
                </a:solidFill>
                <a:latin typeface="Univers Condensed Light" panose="020B0306020202040204" pitchFamily="34" charset="0"/>
              </a:rPr>
              <a:t>.</a:t>
            </a:r>
          </a:p>
          <a:p>
            <a:endParaRPr lang="en-CA" sz="2800" dirty="0">
              <a:solidFill>
                <a:schemeClr val="bg1"/>
              </a:solidFill>
              <a:latin typeface="Univers Condensed Light" panose="020B0306020202040204" pitchFamily="34" charset="0"/>
            </a:endParaRPr>
          </a:p>
          <a:p>
            <a:r>
              <a:rPr lang="en-CA" sz="2800" b="1" u="sng" dirty="0">
                <a:solidFill>
                  <a:schemeClr val="bg1"/>
                </a:solidFill>
                <a:latin typeface="Univers Condensed Light" panose="020B0306020202040204" pitchFamily="34" charset="0"/>
              </a:rPr>
              <a:t>Your challenge:</a:t>
            </a:r>
            <a:r>
              <a:rPr lang="en-CA" sz="2800" u="sng" dirty="0">
                <a:solidFill>
                  <a:schemeClr val="bg1"/>
                </a:solidFill>
                <a:latin typeface="Univers Condensed Light" panose="020B0306020202040204" pitchFamily="34" charset="0"/>
              </a:rPr>
              <a:t> </a:t>
            </a:r>
          </a:p>
          <a:p>
            <a:r>
              <a:rPr lang="en-CA" sz="2800" dirty="0">
                <a:solidFill>
                  <a:schemeClr val="bg1"/>
                </a:solidFill>
                <a:latin typeface="Univers Condensed Light" panose="020B0306020202040204" pitchFamily="34" charset="0"/>
              </a:rPr>
              <a:t>Develop a prototype application, platform, or educational tool that uses Earth observation data to detect, visualize, or better understand the evolution of a climate-related impact in Canada over time.</a:t>
            </a:r>
          </a:p>
          <a:p>
            <a:endParaRPr lang="en-CA" sz="2800" dirty="0">
              <a:solidFill>
                <a:schemeClr val="bg1"/>
              </a:solidFill>
              <a:latin typeface="Univers Condensed Light" panose="020B0306020202040204" pitchFamily="34" charset="0"/>
            </a:endParaRPr>
          </a:p>
          <a:p>
            <a:r>
              <a:rPr lang="en-CA" sz="2800" b="1" u="sng" dirty="0">
                <a:solidFill>
                  <a:schemeClr val="bg1"/>
                </a:solidFill>
                <a:latin typeface="Univers Condensed Light" panose="020B0306020202040204" pitchFamily="34" charset="0"/>
              </a:rPr>
              <a:t>Required Data:</a:t>
            </a:r>
          </a:p>
          <a:p>
            <a:pPr lvl="0"/>
            <a:r>
              <a:rPr lang="en-CA" sz="2800" b="1" dirty="0">
                <a:solidFill>
                  <a:schemeClr val="bg1"/>
                </a:solidFill>
                <a:latin typeface="Univers Condensed Light" panose="020B0306020202040204" pitchFamily="34" charset="0"/>
              </a:rPr>
              <a:t>RCM (RADARSAT Constellation Mission) — mandatory</a:t>
            </a:r>
            <a:r>
              <a:rPr lang="en-CA" sz="2800" dirty="0">
                <a:solidFill>
                  <a:schemeClr val="bg1"/>
                </a:solidFill>
                <a:latin typeface="Univers Condensed Light" panose="020B0306020202040204" pitchFamily="34" charset="0"/>
              </a:rPr>
              <a:t>, using data available through EODMS.</a:t>
            </a:r>
          </a:p>
          <a:p>
            <a:pPr lvl="0"/>
            <a:endParaRPr lang="en-CA" sz="2800" dirty="0">
              <a:solidFill>
                <a:schemeClr val="bg1"/>
              </a:solidFill>
              <a:latin typeface="Univers Condensed Light" panose="020B0306020202040204" pitchFamily="34" charset="0"/>
            </a:endParaRPr>
          </a:p>
          <a:p>
            <a:pPr lvl="0"/>
            <a:r>
              <a:rPr lang="en-CA" sz="2800" dirty="0">
                <a:solidFill>
                  <a:schemeClr val="bg1"/>
                </a:solidFill>
                <a:latin typeface="Univers Condensed Light" panose="020B0306020202040204" pitchFamily="34" charset="0"/>
              </a:rPr>
              <a:t>RCM must be used as part of the </a:t>
            </a:r>
            <a:r>
              <a:rPr lang="en-CA" sz="2800" b="1" dirty="0">
                <a:solidFill>
                  <a:schemeClr val="bg1"/>
                </a:solidFill>
                <a:latin typeface="Univers Condensed Light" panose="020B0306020202040204" pitchFamily="34" charset="0"/>
              </a:rPr>
              <a:t>main analysis</a:t>
            </a:r>
            <a:r>
              <a:rPr lang="en-CA" sz="2800" dirty="0">
                <a:solidFill>
                  <a:schemeClr val="bg1"/>
                </a:solidFill>
                <a:latin typeface="Univers Condensed Light" panose="020B0306020202040204" pitchFamily="34" charset="0"/>
              </a:rPr>
              <a:t>, not simply as a complementary dataset.</a:t>
            </a:r>
          </a:p>
          <a:p>
            <a:pPr lvl="0"/>
            <a:r>
              <a:rPr lang="en-CA" sz="2800" dirty="0">
                <a:solidFill>
                  <a:schemeClr val="bg1"/>
                </a:solidFill>
                <a:latin typeface="Univers Condensed Light" panose="020B0306020202040204" pitchFamily="34" charset="0"/>
              </a:rPr>
              <a:t>You may combine RCM with other data sources, such as Sentinel-1, Sentinel-2, optical/radar imagery, ground-based data, or other open datasets.</a:t>
            </a:r>
          </a:p>
        </p:txBody>
      </p:sp>
      <p:sp>
        <p:nvSpPr>
          <p:cNvPr id="5" name="TextBox 4">
            <a:extLst>
              <a:ext uri="{FF2B5EF4-FFF2-40B4-BE49-F238E27FC236}">
                <a16:creationId xmlns:a16="http://schemas.microsoft.com/office/drawing/2014/main" id="{6290AB5B-51A5-5B3F-07EF-C3894F2A7B0B}"/>
              </a:ext>
            </a:extLst>
          </p:cNvPr>
          <p:cNvSpPr txBox="1"/>
          <p:nvPr/>
        </p:nvSpPr>
        <p:spPr>
          <a:xfrm>
            <a:off x="9758469" y="2476500"/>
            <a:ext cx="6090323" cy="1815882"/>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CA" sz="2800" b="1" u="sng" dirty="0">
                <a:solidFill>
                  <a:schemeClr val="bg1"/>
                </a:solidFill>
                <a:latin typeface="Univers Condensed Light" panose="020B0306020202040204" pitchFamily="34" charset="0"/>
              </a:rPr>
              <a:t>3 Focus Areas:</a:t>
            </a:r>
          </a:p>
          <a:p>
            <a:pPr marL="342900" lvl="0" indent="-342900">
              <a:buFont typeface="Arial" panose="020B0604020202020204" pitchFamily="34" charset="0"/>
              <a:buChar char="•"/>
            </a:pPr>
            <a:r>
              <a:rPr lang="en-CA" sz="2800" dirty="0">
                <a:solidFill>
                  <a:schemeClr val="bg1"/>
                </a:solidFill>
                <a:latin typeface="Univers Condensed Light" panose="020B0306020202040204" pitchFamily="34" charset="0"/>
              </a:rPr>
              <a:t>Treeline evolution</a:t>
            </a:r>
          </a:p>
          <a:p>
            <a:pPr marL="342900" lvl="0" indent="-342900">
              <a:buFont typeface="Arial" panose="020B0604020202020204" pitchFamily="34" charset="0"/>
              <a:buChar char="•"/>
            </a:pPr>
            <a:r>
              <a:rPr lang="en-CA" sz="2800" dirty="0">
                <a:solidFill>
                  <a:schemeClr val="bg1"/>
                </a:solidFill>
                <a:latin typeface="Univers Condensed Light" panose="020B0306020202040204" pitchFamily="34" charset="0"/>
              </a:rPr>
              <a:t>Permafrost changes</a:t>
            </a:r>
          </a:p>
          <a:p>
            <a:pPr marL="342900" lvl="0" indent="-342900">
              <a:buFont typeface="Arial" panose="020B0604020202020204" pitchFamily="34" charset="0"/>
              <a:buChar char="•"/>
            </a:pPr>
            <a:r>
              <a:rPr lang="en-CA" sz="2800" dirty="0">
                <a:solidFill>
                  <a:schemeClr val="bg1"/>
                </a:solidFill>
                <a:latin typeface="Univers Condensed Light" panose="020B0306020202040204" pitchFamily="34" charset="0"/>
              </a:rPr>
              <a:t>Bodies of water &amp; public safety</a:t>
            </a:r>
          </a:p>
        </p:txBody>
      </p:sp>
      <p:sp>
        <p:nvSpPr>
          <p:cNvPr id="12" name="TextBox 11">
            <a:extLst>
              <a:ext uri="{FF2B5EF4-FFF2-40B4-BE49-F238E27FC236}">
                <a16:creationId xmlns:a16="http://schemas.microsoft.com/office/drawing/2014/main" id="{DD06CCF9-B439-6D0A-74DD-180C88F8658B}"/>
              </a:ext>
            </a:extLst>
          </p:cNvPr>
          <p:cNvSpPr txBox="1"/>
          <p:nvPr/>
        </p:nvSpPr>
        <p:spPr>
          <a:xfrm>
            <a:off x="9770660" y="4991100"/>
            <a:ext cx="8232519" cy="3539430"/>
          </a:xfrm>
          <a:prstGeom prst="rect">
            <a:avLst/>
          </a:prstGeom>
          <a:solidFill>
            <a:srgbClr val="000000">
              <a:alpha val="60000"/>
            </a:srgbClr>
          </a:solidFill>
        </p:spPr>
        <p:txBody>
          <a:bodyPr wrap="square" rtlCol="0">
            <a:spAutoFit/>
          </a:bodyPr>
          <a:lstStyle/>
          <a:p>
            <a:r>
              <a:rPr lang="en-CA" sz="2800" b="1" u="sng" dirty="0">
                <a:solidFill>
                  <a:schemeClr val="bg1"/>
                </a:solidFill>
                <a:latin typeface="Univers Condensed Light" panose="020B0306020202040204" pitchFamily="34" charset="0"/>
              </a:rPr>
              <a:t>Deliverable:</a:t>
            </a:r>
          </a:p>
          <a:p>
            <a:r>
              <a:rPr lang="en-CA" sz="2800" dirty="0">
                <a:solidFill>
                  <a:schemeClr val="bg1"/>
                </a:solidFill>
                <a:latin typeface="Univers Condensed Light" panose="020B0306020202040204" pitchFamily="34" charset="0"/>
              </a:rPr>
              <a:t>A functional prototype demonstrating how </a:t>
            </a:r>
            <a:r>
              <a:rPr lang="en-CA" sz="2800" b="1" dirty="0">
                <a:solidFill>
                  <a:schemeClr val="bg1"/>
                </a:solidFill>
                <a:latin typeface="Univers Condensed Light" panose="020B0306020202040204" pitchFamily="34" charset="0"/>
              </a:rPr>
              <a:t>RCM</a:t>
            </a:r>
            <a:r>
              <a:rPr lang="en-CA" sz="2800" dirty="0">
                <a:solidFill>
                  <a:schemeClr val="bg1"/>
                </a:solidFill>
                <a:latin typeface="Univers Condensed Light" panose="020B0306020202040204" pitchFamily="34" charset="0"/>
              </a:rPr>
              <a:t>, combined with other Earth observation data, can be used to </a:t>
            </a:r>
            <a:r>
              <a:rPr lang="en-CA" sz="2800" b="1" dirty="0">
                <a:solidFill>
                  <a:schemeClr val="bg1"/>
                </a:solidFill>
                <a:latin typeface="Univers Condensed Light" panose="020B0306020202040204" pitchFamily="34" charset="0"/>
              </a:rPr>
              <a:t>detect, map, and monitor the evolution of an environmental phenomenon over time</a:t>
            </a:r>
            <a:r>
              <a:rPr lang="en-CA" sz="2800" dirty="0">
                <a:solidFill>
                  <a:schemeClr val="bg1"/>
                </a:solidFill>
                <a:latin typeface="Univers Condensed Light" panose="020B0306020202040204" pitchFamily="34" charset="0"/>
              </a:rPr>
              <a:t>, and its impacts on </a:t>
            </a:r>
            <a:r>
              <a:rPr lang="en-CA" sz="2800" b="1" dirty="0">
                <a:solidFill>
                  <a:schemeClr val="bg1"/>
                </a:solidFill>
                <a:latin typeface="Univers Condensed Light" panose="020B0306020202040204" pitchFamily="34" charset="0"/>
              </a:rPr>
              <a:t>ecosystems, infrastructure, or public safety</a:t>
            </a:r>
            <a:r>
              <a:rPr lang="en-CA" sz="2800" dirty="0">
                <a:solidFill>
                  <a:schemeClr val="bg1"/>
                </a:solidFill>
                <a:latin typeface="Univers Condensed Light" panose="020B0306020202040204" pitchFamily="34" charset="0"/>
              </a:rPr>
              <a:t>, such as treeline evolution, drying water bodies, flooding, or permafrost degradation within one of the listed focus areas.</a:t>
            </a:r>
          </a:p>
        </p:txBody>
      </p:sp>
    </p:spTree>
    <p:extLst>
      <p:ext uri="{BB962C8B-B14F-4D97-AF65-F5344CB8AC3E}">
        <p14:creationId xmlns:p14="http://schemas.microsoft.com/office/powerpoint/2010/main" val="26744202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0066562F-FD5C-D9C0-E906-92BD9092A3DB}"/>
              </a:ext>
            </a:extLst>
          </p:cNvPr>
          <p:cNvGrpSpPr/>
          <p:nvPr/>
        </p:nvGrpSpPr>
        <p:grpSpPr>
          <a:xfrm>
            <a:off x="12104897" y="0"/>
            <a:ext cx="6183103" cy="1128946"/>
            <a:chOff x="271187" y="95718"/>
            <a:chExt cx="6183103" cy="1128946"/>
          </a:xfrm>
        </p:grpSpPr>
        <p:sp>
          <p:nvSpPr>
            <p:cNvPr id="3" name="Freeform 7">
              <a:extLst>
                <a:ext uri="{FF2B5EF4-FFF2-40B4-BE49-F238E27FC236}">
                  <a16:creationId xmlns:a16="http://schemas.microsoft.com/office/drawing/2014/main" id="{E3A3CFEA-F225-ED84-DC40-1AC09EAB188D}"/>
                </a:ext>
              </a:extLst>
            </p:cNvPr>
            <p:cNvSpPr/>
            <p:nvPr/>
          </p:nvSpPr>
          <p:spPr>
            <a:xfrm>
              <a:off x="2534828" y="468440"/>
              <a:ext cx="1765279" cy="756224"/>
            </a:xfrm>
            <a:custGeom>
              <a:avLst/>
              <a:gdLst/>
              <a:ahLst/>
              <a:cxnLst/>
              <a:rect l="l" t="t" r="r" b="b"/>
              <a:pathLst>
                <a:path w="1765279" h="756224">
                  <a:moveTo>
                    <a:pt x="0" y="0"/>
                  </a:moveTo>
                  <a:lnTo>
                    <a:pt x="1765279" y="0"/>
                  </a:lnTo>
                  <a:lnTo>
                    <a:pt x="1765279" y="756225"/>
                  </a:lnTo>
                  <a:lnTo>
                    <a:pt x="0" y="756225"/>
                  </a:lnTo>
                  <a:lnTo>
                    <a:pt x="0" y="0"/>
                  </a:lnTo>
                  <a:close/>
                </a:path>
              </a:pathLst>
            </a:custGeom>
            <a:blipFill>
              <a:blip r:embed="rId2"/>
              <a:stretch>
                <a:fillRect r="-2149"/>
              </a:stretch>
            </a:blipFill>
          </p:spPr>
          <p:txBody>
            <a:bodyPr/>
            <a:lstStyle/>
            <a:p>
              <a:endParaRPr lang="en-US"/>
            </a:p>
          </p:txBody>
        </p:sp>
        <p:sp>
          <p:nvSpPr>
            <p:cNvPr id="4" name="Freeform 8">
              <a:extLst>
                <a:ext uri="{FF2B5EF4-FFF2-40B4-BE49-F238E27FC236}">
                  <a16:creationId xmlns:a16="http://schemas.microsoft.com/office/drawing/2014/main" id="{211C07FE-CB2C-CEA8-ED1B-5CC1F78F9DEF}"/>
                </a:ext>
              </a:extLst>
            </p:cNvPr>
            <p:cNvSpPr/>
            <p:nvPr/>
          </p:nvSpPr>
          <p:spPr>
            <a:xfrm>
              <a:off x="271187" y="252914"/>
              <a:ext cx="1855370" cy="971750"/>
            </a:xfrm>
            <a:custGeom>
              <a:avLst/>
              <a:gdLst/>
              <a:ahLst/>
              <a:cxnLst/>
              <a:rect l="l" t="t" r="r" b="b"/>
              <a:pathLst>
                <a:path w="1855370" h="971750">
                  <a:moveTo>
                    <a:pt x="0" y="0"/>
                  </a:moveTo>
                  <a:lnTo>
                    <a:pt x="1855370" y="0"/>
                  </a:lnTo>
                  <a:lnTo>
                    <a:pt x="1855370" y="971750"/>
                  </a:lnTo>
                  <a:lnTo>
                    <a:pt x="0" y="971750"/>
                  </a:lnTo>
                  <a:lnTo>
                    <a:pt x="0" y="0"/>
                  </a:lnTo>
                  <a:close/>
                </a:path>
              </a:pathLst>
            </a:custGeom>
            <a:blipFill>
              <a:blip r:embed="rId3"/>
              <a:stretch>
                <a:fillRect/>
              </a:stretch>
            </a:blipFill>
          </p:spPr>
          <p:txBody>
            <a:bodyPr/>
            <a:lstStyle/>
            <a:p>
              <a:endParaRPr lang="en-US"/>
            </a:p>
          </p:txBody>
        </p:sp>
        <p:sp>
          <p:nvSpPr>
            <p:cNvPr id="5" name="Freeform 9">
              <a:extLst>
                <a:ext uri="{FF2B5EF4-FFF2-40B4-BE49-F238E27FC236}">
                  <a16:creationId xmlns:a16="http://schemas.microsoft.com/office/drawing/2014/main" id="{41DA7EC2-9F51-5740-23A1-0491AD94EE06}"/>
                </a:ext>
              </a:extLst>
            </p:cNvPr>
            <p:cNvSpPr/>
            <p:nvPr/>
          </p:nvSpPr>
          <p:spPr>
            <a:xfrm>
              <a:off x="4477151" y="95718"/>
              <a:ext cx="1977139" cy="1128946"/>
            </a:xfrm>
            <a:custGeom>
              <a:avLst/>
              <a:gdLst/>
              <a:ahLst/>
              <a:cxnLst/>
              <a:rect l="l" t="t" r="r" b="b"/>
              <a:pathLst>
                <a:path w="1977139" h="1128946">
                  <a:moveTo>
                    <a:pt x="0" y="0"/>
                  </a:moveTo>
                  <a:lnTo>
                    <a:pt x="1977139" y="0"/>
                  </a:lnTo>
                  <a:lnTo>
                    <a:pt x="1977139" y="1128946"/>
                  </a:lnTo>
                  <a:lnTo>
                    <a:pt x="0" y="1128946"/>
                  </a:lnTo>
                  <a:lnTo>
                    <a:pt x="0" y="0"/>
                  </a:lnTo>
                  <a:close/>
                </a:path>
              </a:pathLst>
            </a:custGeom>
            <a:blipFill>
              <a:blip r:embed="rId4"/>
              <a:stretch>
                <a:fillRect/>
              </a:stretch>
            </a:blipFill>
          </p:spPr>
          <p:txBody>
            <a:bodyPr/>
            <a:lstStyle/>
            <a:p>
              <a:endParaRPr lang="en-US"/>
            </a:p>
          </p:txBody>
        </p:sp>
      </p:grpSp>
      <p:sp>
        <p:nvSpPr>
          <p:cNvPr id="6" name="TextBox 5">
            <a:extLst>
              <a:ext uri="{FF2B5EF4-FFF2-40B4-BE49-F238E27FC236}">
                <a16:creationId xmlns:a16="http://schemas.microsoft.com/office/drawing/2014/main" id="{44B4DE98-DA89-90D8-C048-B23ED056CB11}"/>
              </a:ext>
            </a:extLst>
          </p:cNvPr>
          <p:cNvSpPr txBox="1"/>
          <p:nvPr/>
        </p:nvSpPr>
        <p:spPr>
          <a:xfrm>
            <a:off x="132920" y="129301"/>
            <a:ext cx="12287679" cy="746999"/>
          </a:xfrm>
          <a:prstGeom prst="rect">
            <a:avLst/>
          </a:prstGeom>
        </p:spPr>
        <p:txBody>
          <a:bodyPr wrap="square" lIns="0" tIns="0" rIns="0" bIns="0" rtlCol="0" anchor="t">
            <a:spAutoFit/>
          </a:bodyPr>
          <a:lstStyle/>
          <a:p>
            <a:pPr>
              <a:lnSpc>
                <a:spcPts val="6699"/>
              </a:lnSpc>
              <a:spcBef>
                <a:spcPct val="0"/>
              </a:spcBef>
            </a:pPr>
            <a:r>
              <a:rPr lang="en-US" sz="4000" dirty="0">
                <a:solidFill>
                  <a:srgbClr val="FFFFFF"/>
                </a:solidFill>
                <a:latin typeface="HK Modular"/>
                <a:ea typeface="HK Modular"/>
                <a:cs typeface="HK Modular"/>
                <a:sym typeface="HK Modular"/>
              </a:rPr>
              <a:t>Submissions &amp; presentations</a:t>
            </a:r>
          </a:p>
        </p:txBody>
      </p:sp>
      <p:sp>
        <p:nvSpPr>
          <p:cNvPr id="10" name="TextBox 9">
            <a:extLst>
              <a:ext uri="{FF2B5EF4-FFF2-40B4-BE49-F238E27FC236}">
                <a16:creationId xmlns:a16="http://schemas.microsoft.com/office/drawing/2014/main" id="{DBE7F9A6-D462-E1B2-B94F-151601E1B6FC}"/>
              </a:ext>
            </a:extLst>
          </p:cNvPr>
          <p:cNvSpPr txBox="1"/>
          <p:nvPr/>
        </p:nvSpPr>
        <p:spPr>
          <a:xfrm>
            <a:off x="284821" y="2635121"/>
            <a:ext cx="14345579" cy="5016758"/>
          </a:xfrm>
          <a:prstGeom prst="rect">
            <a:avLst/>
          </a:prstGeom>
          <a:solidFill>
            <a:srgbClr val="000000">
              <a:alpha val="60000"/>
            </a:srgbClr>
          </a:solidFill>
        </p:spPr>
        <p:txBody>
          <a:bodyPr wrap="square" rtlCol="0">
            <a:spAutoFit/>
          </a:bodyPr>
          <a:lstStyle/>
          <a:p>
            <a:pPr marL="457200" indent="-457200">
              <a:buFont typeface="Arial" panose="020B0604020202020204" pitchFamily="34" charset="0"/>
              <a:buChar char="•"/>
            </a:pPr>
            <a:r>
              <a:rPr lang="en-CA" sz="4000" dirty="0">
                <a:solidFill>
                  <a:schemeClr val="accent5">
                    <a:lumMod val="40000"/>
                    <a:lumOff val="60000"/>
                  </a:schemeClr>
                </a:solidFill>
                <a:latin typeface="Univers Condensed Light" panose="020B0306020202040204" pitchFamily="34" charset="0"/>
              </a:rPr>
              <a:t>Maximum team size of 5 is recommended</a:t>
            </a:r>
          </a:p>
          <a:p>
            <a:pPr marL="457200" indent="-457200">
              <a:buFont typeface="Arial" panose="020B0604020202020204" pitchFamily="34" charset="0"/>
              <a:buChar char="•"/>
            </a:pPr>
            <a:r>
              <a:rPr lang="en-CA" sz="4000" dirty="0">
                <a:solidFill>
                  <a:schemeClr val="accent5">
                    <a:lumMod val="40000"/>
                    <a:lumOff val="60000"/>
                  </a:schemeClr>
                </a:solidFill>
                <a:latin typeface="Univers Condensed Light" panose="020B0306020202040204" pitchFamily="34" charset="0"/>
              </a:rPr>
              <a:t>Presentations will take place 2:00 – 4:30 pm on Sunday</a:t>
            </a:r>
          </a:p>
          <a:p>
            <a:pPr marL="457200" indent="-457200">
              <a:buFont typeface="Arial" panose="020B0604020202020204" pitchFamily="34" charset="0"/>
              <a:buChar char="•"/>
            </a:pPr>
            <a:r>
              <a:rPr lang="en-CA" sz="4000" dirty="0">
                <a:solidFill>
                  <a:schemeClr val="accent5">
                    <a:lumMod val="40000"/>
                    <a:lumOff val="60000"/>
                  </a:schemeClr>
                </a:solidFill>
                <a:latin typeface="Univers Condensed Light" panose="020B0306020202040204" pitchFamily="34" charset="0"/>
              </a:rPr>
              <a:t>The submission deadline is 1:30pm</a:t>
            </a:r>
          </a:p>
          <a:p>
            <a:pPr marL="457200" indent="-457200">
              <a:buFont typeface="Arial" panose="020B0604020202020204" pitchFamily="34" charset="0"/>
              <a:buChar char="•"/>
            </a:pPr>
            <a:r>
              <a:rPr lang="en-CA" sz="4000" dirty="0">
                <a:solidFill>
                  <a:schemeClr val="accent5">
                    <a:lumMod val="40000"/>
                    <a:lumOff val="60000"/>
                  </a:schemeClr>
                </a:solidFill>
                <a:latin typeface="Univers Condensed Light" panose="020B0306020202040204" pitchFamily="34" charset="0"/>
              </a:rPr>
              <a:t>Each group will have 5 minutes to present, including a demo (if applicable)</a:t>
            </a:r>
          </a:p>
          <a:p>
            <a:pPr marL="457200" indent="-457200">
              <a:buFont typeface="Arial" panose="020B0604020202020204" pitchFamily="34" charset="0"/>
              <a:buChar char="•"/>
            </a:pPr>
            <a:r>
              <a:rPr lang="en-CA" sz="4000" dirty="0">
                <a:solidFill>
                  <a:schemeClr val="accent5">
                    <a:lumMod val="40000"/>
                    <a:lumOff val="60000"/>
                  </a:schemeClr>
                </a:solidFill>
                <a:latin typeface="Univers Condensed Light" panose="020B0306020202040204" pitchFamily="34" charset="0"/>
              </a:rPr>
              <a:t>Each group must submit a one paragraph overview of their project including a list of your team members and any presentation materials to GitHub</a:t>
            </a:r>
          </a:p>
          <a:p>
            <a:pPr marL="457200" indent="-457200">
              <a:buFont typeface="Arial" panose="020B0604020202020204" pitchFamily="34" charset="0"/>
              <a:buChar char="•"/>
            </a:pPr>
            <a:r>
              <a:rPr lang="en-CA" sz="4000" dirty="0">
                <a:solidFill>
                  <a:schemeClr val="accent5">
                    <a:lumMod val="40000"/>
                    <a:lumOff val="60000"/>
                  </a:schemeClr>
                </a:solidFill>
                <a:latin typeface="Univers Condensed Light" panose="020B0306020202040204" pitchFamily="34" charset="0"/>
              </a:rPr>
              <a:t>Each group must submit their code to git</a:t>
            </a:r>
          </a:p>
        </p:txBody>
      </p:sp>
    </p:spTree>
    <p:extLst>
      <p:ext uri="{BB962C8B-B14F-4D97-AF65-F5344CB8AC3E}">
        <p14:creationId xmlns:p14="http://schemas.microsoft.com/office/powerpoint/2010/main" val="38259930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ADE5A2B7-D34B-68B1-4604-BE2818741713}"/>
              </a:ext>
            </a:extLst>
          </p:cNvPr>
          <p:cNvGrpSpPr/>
          <p:nvPr/>
        </p:nvGrpSpPr>
        <p:grpSpPr>
          <a:xfrm>
            <a:off x="12104897" y="0"/>
            <a:ext cx="6183103" cy="1128946"/>
            <a:chOff x="271187" y="95718"/>
            <a:chExt cx="6183103" cy="1128946"/>
          </a:xfrm>
        </p:grpSpPr>
        <p:sp>
          <p:nvSpPr>
            <p:cNvPr id="3" name="Freeform 7">
              <a:extLst>
                <a:ext uri="{FF2B5EF4-FFF2-40B4-BE49-F238E27FC236}">
                  <a16:creationId xmlns:a16="http://schemas.microsoft.com/office/drawing/2014/main" id="{1836B8FA-08AB-6A4E-02DA-0138ED605BAB}"/>
                </a:ext>
              </a:extLst>
            </p:cNvPr>
            <p:cNvSpPr/>
            <p:nvPr/>
          </p:nvSpPr>
          <p:spPr>
            <a:xfrm>
              <a:off x="2534828" y="468440"/>
              <a:ext cx="1765279" cy="756224"/>
            </a:xfrm>
            <a:custGeom>
              <a:avLst/>
              <a:gdLst/>
              <a:ahLst/>
              <a:cxnLst/>
              <a:rect l="l" t="t" r="r" b="b"/>
              <a:pathLst>
                <a:path w="1765279" h="756224">
                  <a:moveTo>
                    <a:pt x="0" y="0"/>
                  </a:moveTo>
                  <a:lnTo>
                    <a:pt x="1765279" y="0"/>
                  </a:lnTo>
                  <a:lnTo>
                    <a:pt x="1765279" y="756225"/>
                  </a:lnTo>
                  <a:lnTo>
                    <a:pt x="0" y="756225"/>
                  </a:lnTo>
                  <a:lnTo>
                    <a:pt x="0" y="0"/>
                  </a:lnTo>
                  <a:close/>
                </a:path>
              </a:pathLst>
            </a:custGeom>
            <a:blipFill>
              <a:blip r:embed="rId2"/>
              <a:stretch>
                <a:fillRect r="-2149"/>
              </a:stretch>
            </a:blipFill>
          </p:spPr>
          <p:txBody>
            <a:bodyPr/>
            <a:lstStyle/>
            <a:p>
              <a:endParaRPr lang="en-US"/>
            </a:p>
          </p:txBody>
        </p:sp>
        <p:sp>
          <p:nvSpPr>
            <p:cNvPr id="4" name="Freeform 8">
              <a:extLst>
                <a:ext uri="{FF2B5EF4-FFF2-40B4-BE49-F238E27FC236}">
                  <a16:creationId xmlns:a16="http://schemas.microsoft.com/office/drawing/2014/main" id="{56EF56BD-0929-6A96-EAD1-0F8EA876F08C}"/>
                </a:ext>
              </a:extLst>
            </p:cNvPr>
            <p:cNvSpPr/>
            <p:nvPr/>
          </p:nvSpPr>
          <p:spPr>
            <a:xfrm>
              <a:off x="271187" y="252914"/>
              <a:ext cx="1855370" cy="971750"/>
            </a:xfrm>
            <a:custGeom>
              <a:avLst/>
              <a:gdLst/>
              <a:ahLst/>
              <a:cxnLst/>
              <a:rect l="l" t="t" r="r" b="b"/>
              <a:pathLst>
                <a:path w="1855370" h="971750">
                  <a:moveTo>
                    <a:pt x="0" y="0"/>
                  </a:moveTo>
                  <a:lnTo>
                    <a:pt x="1855370" y="0"/>
                  </a:lnTo>
                  <a:lnTo>
                    <a:pt x="1855370" y="971750"/>
                  </a:lnTo>
                  <a:lnTo>
                    <a:pt x="0" y="971750"/>
                  </a:lnTo>
                  <a:lnTo>
                    <a:pt x="0" y="0"/>
                  </a:lnTo>
                  <a:close/>
                </a:path>
              </a:pathLst>
            </a:custGeom>
            <a:blipFill>
              <a:blip r:embed="rId3"/>
              <a:stretch>
                <a:fillRect/>
              </a:stretch>
            </a:blipFill>
          </p:spPr>
          <p:txBody>
            <a:bodyPr/>
            <a:lstStyle/>
            <a:p>
              <a:endParaRPr lang="en-US"/>
            </a:p>
          </p:txBody>
        </p:sp>
        <p:sp>
          <p:nvSpPr>
            <p:cNvPr id="5" name="Freeform 9">
              <a:extLst>
                <a:ext uri="{FF2B5EF4-FFF2-40B4-BE49-F238E27FC236}">
                  <a16:creationId xmlns:a16="http://schemas.microsoft.com/office/drawing/2014/main" id="{24BD4791-19C3-CFA1-9508-91B0AFA6CBFF}"/>
                </a:ext>
              </a:extLst>
            </p:cNvPr>
            <p:cNvSpPr/>
            <p:nvPr/>
          </p:nvSpPr>
          <p:spPr>
            <a:xfrm>
              <a:off x="4477151" y="95718"/>
              <a:ext cx="1977139" cy="1128946"/>
            </a:xfrm>
            <a:custGeom>
              <a:avLst/>
              <a:gdLst/>
              <a:ahLst/>
              <a:cxnLst/>
              <a:rect l="l" t="t" r="r" b="b"/>
              <a:pathLst>
                <a:path w="1977139" h="1128946">
                  <a:moveTo>
                    <a:pt x="0" y="0"/>
                  </a:moveTo>
                  <a:lnTo>
                    <a:pt x="1977139" y="0"/>
                  </a:lnTo>
                  <a:lnTo>
                    <a:pt x="1977139" y="1128946"/>
                  </a:lnTo>
                  <a:lnTo>
                    <a:pt x="0" y="1128946"/>
                  </a:lnTo>
                  <a:lnTo>
                    <a:pt x="0" y="0"/>
                  </a:lnTo>
                  <a:close/>
                </a:path>
              </a:pathLst>
            </a:custGeom>
            <a:blipFill>
              <a:blip r:embed="rId4"/>
              <a:stretch>
                <a:fillRect/>
              </a:stretch>
            </a:blipFill>
          </p:spPr>
          <p:txBody>
            <a:bodyPr/>
            <a:lstStyle/>
            <a:p>
              <a:endParaRPr lang="en-US"/>
            </a:p>
          </p:txBody>
        </p:sp>
      </p:grpSp>
      <p:sp>
        <p:nvSpPr>
          <p:cNvPr id="6" name="TextBox 5">
            <a:extLst>
              <a:ext uri="{FF2B5EF4-FFF2-40B4-BE49-F238E27FC236}">
                <a16:creationId xmlns:a16="http://schemas.microsoft.com/office/drawing/2014/main" id="{5C11B989-83CF-C4CA-AB11-7ACC96CDD008}"/>
              </a:ext>
            </a:extLst>
          </p:cNvPr>
          <p:cNvSpPr txBox="1"/>
          <p:nvPr/>
        </p:nvSpPr>
        <p:spPr>
          <a:xfrm>
            <a:off x="132921" y="129301"/>
            <a:ext cx="5201079" cy="746999"/>
          </a:xfrm>
          <a:prstGeom prst="rect">
            <a:avLst/>
          </a:prstGeom>
        </p:spPr>
        <p:txBody>
          <a:bodyPr lIns="0" tIns="0" rIns="0" bIns="0" rtlCol="0" anchor="t">
            <a:spAutoFit/>
          </a:bodyPr>
          <a:lstStyle/>
          <a:p>
            <a:pPr>
              <a:lnSpc>
                <a:spcPts val="6699"/>
              </a:lnSpc>
              <a:spcBef>
                <a:spcPct val="0"/>
              </a:spcBef>
            </a:pPr>
            <a:r>
              <a:rPr lang="en-US" sz="4000" dirty="0">
                <a:solidFill>
                  <a:srgbClr val="FFFFFF"/>
                </a:solidFill>
                <a:latin typeface="HK Modular"/>
                <a:ea typeface="HK Modular"/>
                <a:cs typeface="HK Modular"/>
                <a:sym typeface="HK Modular"/>
              </a:rPr>
              <a:t>Rubric</a:t>
            </a:r>
          </a:p>
        </p:txBody>
      </p:sp>
      <p:graphicFrame>
        <p:nvGraphicFramePr>
          <p:cNvPr id="8" name="Table 7">
            <a:extLst>
              <a:ext uri="{FF2B5EF4-FFF2-40B4-BE49-F238E27FC236}">
                <a16:creationId xmlns:a16="http://schemas.microsoft.com/office/drawing/2014/main" id="{67F2964B-3992-AED4-C48C-4B6C534C6EA6}"/>
              </a:ext>
            </a:extLst>
          </p:cNvPr>
          <p:cNvGraphicFramePr>
            <a:graphicFrameLocks noGrp="1"/>
          </p:cNvGraphicFramePr>
          <p:nvPr>
            <p:extLst>
              <p:ext uri="{D42A27DB-BD31-4B8C-83A1-F6EECF244321}">
                <p14:modId xmlns:p14="http://schemas.microsoft.com/office/powerpoint/2010/main" val="3536475059"/>
              </p:ext>
            </p:extLst>
          </p:nvPr>
        </p:nvGraphicFramePr>
        <p:xfrm>
          <a:off x="132922" y="1741894"/>
          <a:ext cx="17697878" cy="7364005"/>
        </p:xfrm>
        <a:graphic>
          <a:graphicData uri="http://schemas.openxmlformats.org/drawingml/2006/table">
            <a:tbl>
              <a:tblPr firstRow="1" bandRow="1">
                <a:tableStyleId>{073A0DAA-6AF3-43AB-8588-CEC1D06C72B9}</a:tableStyleId>
              </a:tblPr>
              <a:tblGrid>
                <a:gridCol w="3671757">
                  <a:extLst>
                    <a:ext uri="{9D8B030D-6E8A-4147-A177-3AD203B41FA5}">
                      <a16:colId xmlns:a16="http://schemas.microsoft.com/office/drawing/2014/main" val="1669210730"/>
                    </a:ext>
                  </a:extLst>
                </a:gridCol>
                <a:gridCol w="9826342">
                  <a:extLst>
                    <a:ext uri="{9D8B030D-6E8A-4147-A177-3AD203B41FA5}">
                      <a16:colId xmlns:a16="http://schemas.microsoft.com/office/drawing/2014/main" val="142951578"/>
                    </a:ext>
                  </a:extLst>
                </a:gridCol>
                <a:gridCol w="879625">
                  <a:extLst>
                    <a:ext uri="{9D8B030D-6E8A-4147-A177-3AD203B41FA5}">
                      <a16:colId xmlns:a16="http://schemas.microsoft.com/office/drawing/2014/main" val="2430557102"/>
                    </a:ext>
                  </a:extLst>
                </a:gridCol>
                <a:gridCol w="724399">
                  <a:extLst>
                    <a:ext uri="{9D8B030D-6E8A-4147-A177-3AD203B41FA5}">
                      <a16:colId xmlns:a16="http://schemas.microsoft.com/office/drawing/2014/main" val="1351856554"/>
                    </a:ext>
                  </a:extLst>
                </a:gridCol>
                <a:gridCol w="836506">
                  <a:extLst>
                    <a:ext uri="{9D8B030D-6E8A-4147-A177-3AD203B41FA5}">
                      <a16:colId xmlns:a16="http://schemas.microsoft.com/office/drawing/2014/main" val="2131449656"/>
                    </a:ext>
                  </a:extLst>
                </a:gridCol>
                <a:gridCol w="845129">
                  <a:extLst>
                    <a:ext uri="{9D8B030D-6E8A-4147-A177-3AD203B41FA5}">
                      <a16:colId xmlns:a16="http://schemas.microsoft.com/office/drawing/2014/main" val="1861960101"/>
                    </a:ext>
                  </a:extLst>
                </a:gridCol>
                <a:gridCol w="914120">
                  <a:extLst>
                    <a:ext uri="{9D8B030D-6E8A-4147-A177-3AD203B41FA5}">
                      <a16:colId xmlns:a16="http://schemas.microsoft.com/office/drawing/2014/main" val="1329171101"/>
                    </a:ext>
                  </a:extLst>
                </a:gridCol>
              </a:tblGrid>
              <a:tr h="819387">
                <a:tc>
                  <a:txBody>
                    <a:bodyPr/>
                    <a:lstStyle/>
                    <a:p>
                      <a:pPr algn="ctr"/>
                      <a:r>
                        <a:rPr lang="en-US" sz="4000" dirty="0">
                          <a:solidFill>
                            <a:schemeClr val="bg1"/>
                          </a:solidFill>
                          <a:latin typeface="HK Modular" panose="020B0604020202020204" charset="0"/>
                        </a:rPr>
                        <a:t>Section</a:t>
                      </a:r>
                      <a:endParaRPr lang="en-CA" sz="4000" dirty="0">
                        <a:solidFill>
                          <a:schemeClr val="bg1"/>
                        </a:solidFill>
                        <a:latin typeface="HK Modular" panose="020B0604020202020204" charset="0"/>
                      </a:endParaRPr>
                    </a:p>
                  </a:txBody>
                  <a:tcPr anchor="ctr"/>
                </a:tc>
                <a:tc>
                  <a:txBody>
                    <a:bodyPr/>
                    <a:lstStyle/>
                    <a:p>
                      <a:pPr algn="ctr"/>
                      <a:r>
                        <a:rPr lang="en-US" sz="4000" dirty="0">
                          <a:solidFill>
                            <a:schemeClr val="bg1"/>
                          </a:solidFill>
                          <a:latin typeface="HK Modular" panose="020B0604020202020204" charset="0"/>
                        </a:rPr>
                        <a:t>Description</a:t>
                      </a:r>
                      <a:endParaRPr lang="en-CA" sz="4000" dirty="0">
                        <a:solidFill>
                          <a:schemeClr val="bg1"/>
                        </a:solidFill>
                        <a:latin typeface="HK Modular" panose="020B0604020202020204" charset="0"/>
                      </a:endParaRPr>
                    </a:p>
                  </a:txBody>
                  <a:tcPr anchor="ctr"/>
                </a:tc>
                <a:tc>
                  <a:txBody>
                    <a:bodyPr/>
                    <a:lstStyle/>
                    <a:p>
                      <a:pPr algn="ctr"/>
                      <a:r>
                        <a:rPr lang="en-US" sz="1400" b="0" dirty="0">
                          <a:solidFill>
                            <a:schemeClr val="bg1"/>
                          </a:solidFill>
                          <a:latin typeface="HK Modular" panose="020B0604020202020204" charset="0"/>
                        </a:rPr>
                        <a:t>Poor</a:t>
                      </a:r>
                      <a:endParaRPr lang="en-CA" sz="1400" b="0" dirty="0">
                        <a:solidFill>
                          <a:schemeClr val="bg1"/>
                        </a:solidFill>
                        <a:latin typeface="HK Modular" panose="020B0604020202020204" charset="0"/>
                      </a:endParaRPr>
                    </a:p>
                  </a:txBody>
                  <a:tcPr anchor="ctr"/>
                </a:tc>
                <a:tc>
                  <a:txBody>
                    <a:bodyPr/>
                    <a:lstStyle/>
                    <a:p>
                      <a:pPr algn="ctr"/>
                      <a:endParaRPr lang="en-CA" sz="1400" b="0" dirty="0">
                        <a:solidFill>
                          <a:schemeClr val="bg1"/>
                        </a:solidFill>
                        <a:latin typeface="HK Modular" panose="020B0604020202020204" charset="0"/>
                      </a:endParaRPr>
                    </a:p>
                  </a:txBody>
                  <a:tcPr anchor="ctr"/>
                </a:tc>
                <a:tc>
                  <a:txBody>
                    <a:bodyPr/>
                    <a:lstStyle/>
                    <a:p>
                      <a:pPr algn="ctr"/>
                      <a:endParaRPr lang="en-CA" sz="1400" b="0" dirty="0">
                        <a:solidFill>
                          <a:schemeClr val="bg1"/>
                        </a:solidFill>
                        <a:latin typeface="HK Modular" panose="020B0604020202020204" charset="0"/>
                      </a:endParaRPr>
                    </a:p>
                  </a:txBody>
                  <a:tcPr anchor="ctr"/>
                </a:tc>
                <a:tc>
                  <a:txBody>
                    <a:bodyPr/>
                    <a:lstStyle/>
                    <a:p>
                      <a:pPr algn="ctr"/>
                      <a:endParaRPr lang="en-CA" sz="1400" b="0" dirty="0">
                        <a:solidFill>
                          <a:schemeClr val="bg1"/>
                        </a:solidFill>
                        <a:latin typeface="HK Modular" panose="020B0604020202020204" charset="0"/>
                      </a:endParaRPr>
                    </a:p>
                  </a:txBody>
                  <a:tcPr anchor="ctr"/>
                </a:tc>
                <a:tc>
                  <a:txBody>
                    <a:bodyPr/>
                    <a:lstStyle/>
                    <a:p>
                      <a:pPr algn="ctr"/>
                      <a:r>
                        <a:rPr lang="en-US" sz="1400" b="0" dirty="0">
                          <a:solidFill>
                            <a:schemeClr val="bg1"/>
                          </a:solidFill>
                          <a:latin typeface="HK Modular" panose="020B0604020202020204" charset="0"/>
                        </a:rPr>
                        <a:t>Good</a:t>
                      </a:r>
                      <a:endParaRPr lang="en-CA" sz="1400" b="0" dirty="0">
                        <a:solidFill>
                          <a:schemeClr val="bg1"/>
                        </a:solidFill>
                        <a:latin typeface="HK Modular" panose="020B0604020202020204" charset="0"/>
                      </a:endParaRPr>
                    </a:p>
                  </a:txBody>
                  <a:tcPr anchor="ctr"/>
                </a:tc>
                <a:extLst>
                  <a:ext uri="{0D108BD9-81ED-4DB2-BD59-A6C34878D82A}">
                    <a16:rowId xmlns:a16="http://schemas.microsoft.com/office/drawing/2014/main" val="3628936374"/>
                  </a:ext>
                </a:extLst>
              </a:tr>
              <a:tr h="819387">
                <a:tc>
                  <a:txBody>
                    <a:bodyPr/>
                    <a:lstStyle/>
                    <a:p>
                      <a:r>
                        <a:rPr lang="en-US" sz="2400" kern="1200" dirty="0">
                          <a:solidFill>
                            <a:schemeClr val="dk1"/>
                          </a:solidFill>
                          <a:effectLst/>
                          <a:latin typeface="Univers Condensed Light" panose="020B0306020202040204" pitchFamily="34" charset="0"/>
                        </a:rPr>
                        <a:t>Problem/Solution Definition  </a:t>
                      </a:r>
                      <a:endParaRPr lang="en-CA" sz="2400" dirty="0">
                        <a:latin typeface="Univers Condensed Light" panose="020B030602020204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kern="1200" dirty="0">
                          <a:solidFill>
                            <a:schemeClr val="dk1"/>
                          </a:solidFill>
                          <a:effectLst/>
                          <a:latin typeface="Univers Condensed Light" panose="020B0306020202040204" pitchFamily="34" charset="0"/>
                        </a:rPr>
                        <a:t>How clearly the team identifies and understands the problem/solution they are solving.</a:t>
                      </a:r>
                      <a:endParaRPr lang="en-CA" sz="2400" kern="1200" dirty="0">
                        <a:solidFill>
                          <a:schemeClr val="dk1"/>
                        </a:solidFill>
                        <a:effectLst/>
                        <a:latin typeface="Univers Condensed Light" panose="020B0306020202040204" pitchFamily="34" charset="0"/>
                        <a:ea typeface="+mn-ea"/>
                        <a:cs typeface="+mn-cs"/>
                      </a:endParaRPr>
                    </a:p>
                  </a:txBody>
                  <a:tcPr/>
                </a:tc>
                <a:tc>
                  <a:txBody>
                    <a:bodyPr/>
                    <a:lstStyle/>
                    <a:p>
                      <a:pPr algn="ctr"/>
                      <a:r>
                        <a:rPr lang="en-US" sz="2400" dirty="0">
                          <a:latin typeface="Univers Condensed Light" panose="020B0306020202040204" pitchFamily="34" charset="0"/>
                        </a:rPr>
                        <a:t>1</a:t>
                      </a:r>
                      <a:endParaRPr lang="en-CA" sz="2400" dirty="0">
                        <a:latin typeface="Univers Condensed Light" panose="020B0306020202040204" pitchFamily="34" charset="0"/>
                      </a:endParaRPr>
                    </a:p>
                  </a:txBody>
                  <a:tcPr/>
                </a:tc>
                <a:tc>
                  <a:txBody>
                    <a:bodyPr/>
                    <a:lstStyle/>
                    <a:p>
                      <a:pPr algn="ctr"/>
                      <a:r>
                        <a:rPr lang="en-US" sz="2400" dirty="0">
                          <a:latin typeface="Univers Condensed Light" panose="020B0306020202040204" pitchFamily="34" charset="0"/>
                        </a:rPr>
                        <a:t>2</a:t>
                      </a:r>
                      <a:endParaRPr lang="en-CA" sz="2400" dirty="0">
                        <a:latin typeface="Univers Condensed Light" panose="020B0306020202040204" pitchFamily="34" charset="0"/>
                      </a:endParaRPr>
                    </a:p>
                  </a:txBody>
                  <a:tcPr/>
                </a:tc>
                <a:tc>
                  <a:txBody>
                    <a:bodyPr/>
                    <a:lstStyle/>
                    <a:p>
                      <a:pPr algn="ctr"/>
                      <a:r>
                        <a:rPr lang="en-US" sz="2400" dirty="0">
                          <a:latin typeface="Univers Condensed Light" panose="020B0306020202040204" pitchFamily="34" charset="0"/>
                        </a:rPr>
                        <a:t>3</a:t>
                      </a:r>
                      <a:endParaRPr lang="en-CA" sz="2400" dirty="0">
                        <a:latin typeface="Univers Condensed Light" panose="020B0306020202040204" pitchFamily="34" charset="0"/>
                      </a:endParaRPr>
                    </a:p>
                  </a:txBody>
                  <a:tcPr/>
                </a:tc>
                <a:tc>
                  <a:txBody>
                    <a:bodyPr/>
                    <a:lstStyle/>
                    <a:p>
                      <a:pPr algn="ctr"/>
                      <a:r>
                        <a:rPr lang="en-US" sz="2400" dirty="0">
                          <a:latin typeface="Univers Condensed Light" panose="020B0306020202040204" pitchFamily="34" charset="0"/>
                        </a:rPr>
                        <a:t>4</a:t>
                      </a:r>
                      <a:endParaRPr lang="en-CA" sz="2400" dirty="0">
                        <a:latin typeface="Univers Condensed Light" panose="020B0306020202040204" pitchFamily="34" charset="0"/>
                      </a:endParaRPr>
                    </a:p>
                  </a:txBody>
                  <a:tcPr/>
                </a:tc>
                <a:tc>
                  <a:txBody>
                    <a:bodyPr/>
                    <a:lstStyle/>
                    <a:p>
                      <a:pPr algn="ctr"/>
                      <a:r>
                        <a:rPr lang="en-US" sz="2400" dirty="0">
                          <a:latin typeface="Univers Condensed Light" panose="020B0306020202040204" pitchFamily="34" charset="0"/>
                        </a:rPr>
                        <a:t>5</a:t>
                      </a:r>
                      <a:endParaRPr lang="en-CA" sz="2400" dirty="0">
                        <a:latin typeface="Univers Condensed Light" panose="020B0306020202040204" pitchFamily="34" charset="0"/>
                      </a:endParaRPr>
                    </a:p>
                  </a:txBody>
                  <a:tcPr/>
                </a:tc>
                <a:extLst>
                  <a:ext uri="{0D108BD9-81ED-4DB2-BD59-A6C34878D82A}">
                    <a16:rowId xmlns:a16="http://schemas.microsoft.com/office/drawing/2014/main" val="1013044632"/>
                  </a:ext>
                </a:extLst>
              </a:tr>
              <a:tr h="863884">
                <a:tc>
                  <a:txBody>
                    <a:bodyPr/>
                    <a:lstStyle/>
                    <a:p>
                      <a:r>
                        <a:rPr lang="en-US" sz="2400" kern="1200" dirty="0">
                          <a:solidFill>
                            <a:schemeClr val="dk1"/>
                          </a:solidFill>
                          <a:effectLst/>
                          <a:latin typeface="Univers Condensed Light" panose="020B0306020202040204" pitchFamily="34" charset="0"/>
                        </a:rPr>
                        <a:t>Problem Relevancy</a:t>
                      </a:r>
                      <a:endParaRPr lang="en-CA" sz="2400" dirty="0">
                        <a:latin typeface="Univers Condensed Light" panose="020B030602020204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kern="1200" dirty="0">
                          <a:solidFill>
                            <a:schemeClr val="dk1"/>
                          </a:solidFill>
                          <a:effectLst/>
                          <a:latin typeface="Univers Condensed Light" panose="020B0306020202040204" pitchFamily="34" charset="0"/>
                        </a:rPr>
                        <a:t>Is the scope and feasibility of the problem apparent and is it suitable given the challenges context.</a:t>
                      </a:r>
                      <a:endParaRPr lang="en-CA" sz="2400" kern="1200" dirty="0">
                        <a:solidFill>
                          <a:schemeClr val="dk1"/>
                        </a:solidFill>
                        <a:effectLst/>
                        <a:latin typeface="Univers Condensed Light" panose="020B0306020202040204" pitchFamily="34" charset="0"/>
                        <a:ea typeface="+mn-ea"/>
                        <a:cs typeface="+mn-cs"/>
                      </a:endParaRPr>
                    </a:p>
                  </a:txBody>
                  <a:tcPr/>
                </a:tc>
                <a:tc>
                  <a:txBody>
                    <a:bodyPr/>
                    <a:lstStyle/>
                    <a:p>
                      <a:pPr algn="ctr"/>
                      <a:r>
                        <a:rPr lang="en-US" sz="2400" dirty="0">
                          <a:latin typeface="Univers Condensed Light" panose="020B0306020202040204" pitchFamily="34" charset="0"/>
                        </a:rPr>
                        <a:t>1</a:t>
                      </a:r>
                      <a:endParaRPr lang="en-CA" sz="2400" dirty="0">
                        <a:latin typeface="Univers Condensed Light" panose="020B0306020202040204" pitchFamily="34" charset="0"/>
                      </a:endParaRPr>
                    </a:p>
                  </a:txBody>
                  <a:tcPr/>
                </a:tc>
                <a:tc>
                  <a:txBody>
                    <a:bodyPr/>
                    <a:lstStyle/>
                    <a:p>
                      <a:pPr algn="ctr"/>
                      <a:r>
                        <a:rPr lang="en-US" sz="2400" dirty="0">
                          <a:latin typeface="Univers Condensed Light" panose="020B0306020202040204" pitchFamily="34" charset="0"/>
                        </a:rPr>
                        <a:t>2</a:t>
                      </a:r>
                      <a:endParaRPr lang="en-CA" sz="2400" dirty="0">
                        <a:latin typeface="Univers Condensed Light" panose="020B0306020202040204" pitchFamily="34" charset="0"/>
                      </a:endParaRPr>
                    </a:p>
                  </a:txBody>
                  <a:tcPr/>
                </a:tc>
                <a:tc>
                  <a:txBody>
                    <a:bodyPr/>
                    <a:lstStyle/>
                    <a:p>
                      <a:pPr algn="ctr"/>
                      <a:r>
                        <a:rPr lang="en-US" sz="2400" dirty="0">
                          <a:latin typeface="Univers Condensed Light" panose="020B0306020202040204" pitchFamily="34" charset="0"/>
                        </a:rPr>
                        <a:t>3</a:t>
                      </a:r>
                      <a:endParaRPr lang="en-CA" sz="2400" dirty="0">
                        <a:latin typeface="Univers Condensed Light" panose="020B0306020202040204" pitchFamily="34" charset="0"/>
                      </a:endParaRPr>
                    </a:p>
                  </a:txBody>
                  <a:tcPr/>
                </a:tc>
                <a:tc>
                  <a:txBody>
                    <a:bodyPr/>
                    <a:lstStyle/>
                    <a:p>
                      <a:pPr algn="ctr"/>
                      <a:r>
                        <a:rPr lang="en-US" sz="2400" dirty="0">
                          <a:latin typeface="Univers Condensed Light" panose="020B0306020202040204" pitchFamily="34" charset="0"/>
                        </a:rPr>
                        <a:t>4</a:t>
                      </a:r>
                      <a:endParaRPr lang="en-CA" sz="2400" dirty="0">
                        <a:latin typeface="Univers Condensed Light" panose="020B0306020202040204" pitchFamily="34" charset="0"/>
                      </a:endParaRPr>
                    </a:p>
                  </a:txBody>
                  <a:tcPr/>
                </a:tc>
                <a:tc>
                  <a:txBody>
                    <a:bodyPr/>
                    <a:lstStyle/>
                    <a:p>
                      <a:pPr algn="ctr"/>
                      <a:r>
                        <a:rPr lang="en-US" sz="2400" dirty="0">
                          <a:latin typeface="Univers Condensed Light" panose="020B0306020202040204" pitchFamily="34" charset="0"/>
                        </a:rPr>
                        <a:t>5</a:t>
                      </a:r>
                      <a:endParaRPr lang="en-CA" sz="2400" dirty="0">
                        <a:latin typeface="Univers Condensed Light" panose="020B0306020202040204" pitchFamily="34" charset="0"/>
                      </a:endParaRPr>
                    </a:p>
                  </a:txBody>
                  <a:tcPr/>
                </a:tc>
                <a:extLst>
                  <a:ext uri="{0D108BD9-81ED-4DB2-BD59-A6C34878D82A}">
                    <a16:rowId xmlns:a16="http://schemas.microsoft.com/office/drawing/2014/main" val="1570092097"/>
                  </a:ext>
                </a:extLst>
              </a:tr>
              <a:tr h="586424">
                <a:tc>
                  <a:txBody>
                    <a:bodyPr/>
                    <a:lstStyle/>
                    <a:p>
                      <a:r>
                        <a:rPr lang="en-US" sz="2400" kern="1200" dirty="0">
                          <a:solidFill>
                            <a:schemeClr val="dk1"/>
                          </a:solidFill>
                          <a:effectLst/>
                          <a:latin typeface="Univers Condensed Light" panose="020B0306020202040204" pitchFamily="34" charset="0"/>
                        </a:rPr>
                        <a:t>Problem Significance</a:t>
                      </a:r>
                      <a:endParaRPr lang="en-CA" sz="2400" dirty="0">
                        <a:latin typeface="Univers Condensed Light" panose="020B030602020204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kern="1200" dirty="0">
                          <a:solidFill>
                            <a:schemeClr val="dk1"/>
                          </a:solidFill>
                          <a:effectLst/>
                          <a:latin typeface="Univers Condensed Light" panose="020B0306020202040204" pitchFamily="34" charset="0"/>
                        </a:rPr>
                        <a:t>How impactful is the problem, is it important given the context of challenges.</a:t>
                      </a:r>
                      <a:endParaRPr lang="en-CA" sz="2400" kern="1200" dirty="0">
                        <a:solidFill>
                          <a:schemeClr val="dk1"/>
                        </a:solidFill>
                        <a:effectLst/>
                        <a:latin typeface="Univers Condensed Light" panose="020B0306020202040204" pitchFamily="34" charset="0"/>
                        <a:ea typeface="+mn-ea"/>
                        <a:cs typeface="+mn-cs"/>
                      </a:endParaRPr>
                    </a:p>
                  </a:txBody>
                  <a:tcPr/>
                </a:tc>
                <a:tc>
                  <a:txBody>
                    <a:bodyPr/>
                    <a:lstStyle/>
                    <a:p>
                      <a:pPr algn="ctr"/>
                      <a:r>
                        <a:rPr lang="en-US" sz="2400" dirty="0">
                          <a:latin typeface="Univers Condensed Light" panose="020B0306020202040204" pitchFamily="34" charset="0"/>
                        </a:rPr>
                        <a:t>1</a:t>
                      </a:r>
                      <a:endParaRPr lang="en-CA" sz="2400" dirty="0">
                        <a:latin typeface="Univers Condensed Light" panose="020B0306020202040204" pitchFamily="34" charset="0"/>
                      </a:endParaRPr>
                    </a:p>
                  </a:txBody>
                  <a:tcPr/>
                </a:tc>
                <a:tc>
                  <a:txBody>
                    <a:bodyPr/>
                    <a:lstStyle/>
                    <a:p>
                      <a:pPr algn="ctr"/>
                      <a:r>
                        <a:rPr lang="en-US" sz="2400" dirty="0">
                          <a:latin typeface="Univers Condensed Light" panose="020B0306020202040204" pitchFamily="34" charset="0"/>
                        </a:rPr>
                        <a:t>2</a:t>
                      </a:r>
                      <a:endParaRPr lang="en-CA" sz="2400" dirty="0">
                        <a:latin typeface="Univers Condensed Light" panose="020B0306020202040204" pitchFamily="34" charset="0"/>
                      </a:endParaRPr>
                    </a:p>
                  </a:txBody>
                  <a:tcPr/>
                </a:tc>
                <a:tc>
                  <a:txBody>
                    <a:bodyPr/>
                    <a:lstStyle/>
                    <a:p>
                      <a:pPr algn="ctr"/>
                      <a:r>
                        <a:rPr lang="en-US" sz="2400" dirty="0">
                          <a:latin typeface="Univers Condensed Light" panose="020B0306020202040204" pitchFamily="34" charset="0"/>
                        </a:rPr>
                        <a:t>3</a:t>
                      </a:r>
                      <a:endParaRPr lang="en-CA" sz="2400" dirty="0">
                        <a:latin typeface="Univers Condensed Light" panose="020B0306020202040204" pitchFamily="34" charset="0"/>
                      </a:endParaRPr>
                    </a:p>
                  </a:txBody>
                  <a:tcPr/>
                </a:tc>
                <a:tc>
                  <a:txBody>
                    <a:bodyPr/>
                    <a:lstStyle/>
                    <a:p>
                      <a:pPr algn="ctr"/>
                      <a:r>
                        <a:rPr lang="en-US" sz="2400" dirty="0">
                          <a:latin typeface="Univers Condensed Light" panose="020B0306020202040204" pitchFamily="34" charset="0"/>
                        </a:rPr>
                        <a:t>4</a:t>
                      </a:r>
                      <a:endParaRPr lang="en-CA" sz="2400" dirty="0">
                        <a:latin typeface="Univers Condensed Light" panose="020B0306020202040204" pitchFamily="34" charset="0"/>
                      </a:endParaRPr>
                    </a:p>
                  </a:txBody>
                  <a:tcPr/>
                </a:tc>
                <a:tc>
                  <a:txBody>
                    <a:bodyPr/>
                    <a:lstStyle/>
                    <a:p>
                      <a:pPr algn="ctr"/>
                      <a:r>
                        <a:rPr lang="en-US" sz="2400" dirty="0">
                          <a:latin typeface="Univers Condensed Light" panose="020B0306020202040204" pitchFamily="34" charset="0"/>
                        </a:rPr>
                        <a:t>5</a:t>
                      </a:r>
                      <a:endParaRPr lang="en-CA" sz="2400" dirty="0">
                        <a:latin typeface="Univers Condensed Light" panose="020B0306020202040204" pitchFamily="34" charset="0"/>
                      </a:endParaRPr>
                    </a:p>
                  </a:txBody>
                  <a:tcPr/>
                </a:tc>
                <a:extLst>
                  <a:ext uri="{0D108BD9-81ED-4DB2-BD59-A6C34878D82A}">
                    <a16:rowId xmlns:a16="http://schemas.microsoft.com/office/drawing/2014/main" val="1469356818"/>
                  </a:ext>
                </a:extLst>
              </a:tr>
              <a:tr h="863884">
                <a:tc>
                  <a:txBody>
                    <a:bodyPr/>
                    <a:lstStyle/>
                    <a:p>
                      <a:r>
                        <a:rPr lang="en-US" sz="2400" kern="1200" dirty="0">
                          <a:solidFill>
                            <a:schemeClr val="dk1"/>
                          </a:solidFill>
                          <a:effectLst/>
                          <a:latin typeface="Univers Condensed Light" panose="020B0306020202040204" pitchFamily="34" charset="0"/>
                        </a:rPr>
                        <a:t>Solution Feasibility</a:t>
                      </a:r>
                      <a:endParaRPr lang="en-CA" sz="2400" dirty="0">
                        <a:latin typeface="Univers Condensed Light" panose="020B030602020204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kern="1200" dirty="0">
                          <a:solidFill>
                            <a:schemeClr val="dk1"/>
                          </a:solidFill>
                          <a:effectLst/>
                          <a:latin typeface="Univers Condensed Light" panose="020B0306020202040204" pitchFamily="34" charset="0"/>
                        </a:rPr>
                        <a:t>Does the final solution technically adhere with the team's approach, did technical decisions create positive impacts on the approach.</a:t>
                      </a:r>
                      <a:endParaRPr lang="en-CA" sz="2400" kern="1200" dirty="0">
                        <a:solidFill>
                          <a:schemeClr val="dk1"/>
                        </a:solidFill>
                        <a:effectLst/>
                        <a:latin typeface="Univers Condensed Light" panose="020B0306020202040204" pitchFamily="34" charset="0"/>
                        <a:ea typeface="+mn-ea"/>
                        <a:cs typeface="+mn-cs"/>
                      </a:endParaRPr>
                    </a:p>
                  </a:txBody>
                  <a:tcPr/>
                </a:tc>
                <a:tc>
                  <a:txBody>
                    <a:bodyPr/>
                    <a:lstStyle/>
                    <a:p>
                      <a:pPr algn="ctr"/>
                      <a:r>
                        <a:rPr lang="en-US" sz="2400" dirty="0">
                          <a:latin typeface="Univers Condensed Light" panose="020B0306020202040204" pitchFamily="34" charset="0"/>
                        </a:rPr>
                        <a:t>1</a:t>
                      </a:r>
                      <a:endParaRPr lang="en-CA" sz="2400" dirty="0">
                        <a:latin typeface="Univers Condensed Light" panose="020B0306020202040204" pitchFamily="34" charset="0"/>
                      </a:endParaRPr>
                    </a:p>
                  </a:txBody>
                  <a:tcPr/>
                </a:tc>
                <a:tc>
                  <a:txBody>
                    <a:bodyPr/>
                    <a:lstStyle/>
                    <a:p>
                      <a:pPr algn="ctr"/>
                      <a:r>
                        <a:rPr lang="en-US" sz="2400" dirty="0">
                          <a:latin typeface="Univers Condensed Light" panose="020B0306020202040204" pitchFamily="34" charset="0"/>
                        </a:rPr>
                        <a:t>2</a:t>
                      </a:r>
                      <a:endParaRPr lang="en-CA" sz="2400" dirty="0">
                        <a:latin typeface="Univers Condensed Light" panose="020B0306020202040204" pitchFamily="34" charset="0"/>
                      </a:endParaRPr>
                    </a:p>
                  </a:txBody>
                  <a:tcPr/>
                </a:tc>
                <a:tc>
                  <a:txBody>
                    <a:bodyPr/>
                    <a:lstStyle/>
                    <a:p>
                      <a:pPr algn="ctr"/>
                      <a:r>
                        <a:rPr lang="en-US" sz="2400" dirty="0">
                          <a:latin typeface="Univers Condensed Light" panose="020B0306020202040204" pitchFamily="34" charset="0"/>
                        </a:rPr>
                        <a:t>3</a:t>
                      </a:r>
                      <a:endParaRPr lang="en-CA" sz="2400" dirty="0">
                        <a:latin typeface="Univers Condensed Light" panose="020B0306020202040204" pitchFamily="34" charset="0"/>
                      </a:endParaRPr>
                    </a:p>
                  </a:txBody>
                  <a:tcPr/>
                </a:tc>
                <a:tc>
                  <a:txBody>
                    <a:bodyPr/>
                    <a:lstStyle/>
                    <a:p>
                      <a:pPr algn="ctr"/>
                      <a:r>
                        <a:rPr lang="en-US" sz="2400" dirty="0">
                          <a:latin typeface="Univers Condensed Light" panose="020B0306020202040204" pitchFamily="34" charset="0"/>
                        </a:rPr>
                        <a:t>4</a:t>
                      </a:r>
                      <a:endParaRPr lang="en-CA" sz="2400" dirty="0">
                        <a:latin typeface="Univers Condensed Light" panose="020B0306020202040204" pitchFamily="34" charset="0"/>
                      </a:endParaRPr>
                    </a:p>
                  </a:txBody>
                  <a:tcPr/>
                </a:tc>
                <a:tc>
                  <a:txBody>
                    <a:bodyPr/>
                    <a:lstStyle/>
                    <a:p>
                      <a:pPr algn="ctr"/>
                      <a:r>
                        <a:rPr lang="en-US" sz="2400" dirty="0">
                          <a:latin typeface="Univers Condensed Light" panose="020B0306020202040204" pitchFamily="34" charset="0"/>
                        </a:rPr>
                        <a:t>5</a:t>
                      </a:r>
                      <a:endParaRPr lang="en-CA" sz="2400" dirty="0">
                        <a:latin typeface="Univers Condensed Light" panose="020B0306020202040204" pitchFamily="34" charset="0"/>
                      </a:endParaRPr>
                    </a:p>
                  </a:txBody>
                  <a:tcPr/>
                </a:tc>
                <a:extLst>
                  <a:ext uri="{0D108BD9-81ED-4DB2-BD59-A6C34878D82A}">
                    <a16:rowId xmlns:a16="http://schemas.microsoft.com/office/drawing/2014/main" val="4070047969"/>
                  </a:ext>
                </a:extLst>
              </a:tr>
              <a:tr h="863884">
                <a:tc>
                  <a:txBody>
                    <a:bodyPr/>
                    <a:lstStyle/>
                    <a:p>
                      <a:r>
                        <a:rPr lang="en-US" sz="2400" kern="1200" dirty="0">
                          <a:solidFill>
                            <a:schemeClr val="dk1"/>
                          </a:solidFill>
                          <a:effectLst/>
                          <a:latin typeface="Univers Condensed Light" panose="020B0306020202040204" pitchFamily="34" charset="0"/>
                        </a:rPr>
                        <a:t>Solution Viability</a:t>
                      </a:r>
                      <a:endParaRPr lang="en-CA" sz="2400" dirty="0">
                        <a:latin typeface="Univers Condensed Light" panose="020B0306020202040204" pitchFamily="34" charset="0"/>
                      </a:endParaRPr>
                    </a:p>
                  </a:txBody>
                  <a:tcPr/>
                </a:tc>
                <a:tc>
                  <a:txBody>
                    <a:bodyPr/>
                    <a:lstStyle/>
                    <a:p>
                      <a:r>
                        <a:rPr lang="en-US" sz="2400" kern="1200" dirty="0">
                          <a:solidFill>
                            <a:schemeClr val="dk1"/>
                          </a:solidFill>
                          <a:effectLst/>
                          <a:latin typeface="Univers Condensed Light" panose="020B0306020202040204" pitchFamily="34" charset="0"/>
                        </a:rPr>
                        <a:t>Does the final solution harmonize with the goal of the challenge, is the scope aligned with what could be accomplished.</a:t>
                      </a:r>
                      <a:endParaRPr lang="en-CA" sz="2400" dirty="0">
                        <a:latin typeface="Univers Condensed Light" panose="020B0306020202040204" pitchFamily="34" charset="0"/>
                      </a:endParaRPr>
                    </a:p>
                  </a:txBody>
                  <a:tcPr/>
                </a:tc>
                <a:tc>
                  <a:txBody>
                    <a:bodyPr/>
                    <a:lstStyle/>
                    <a:p>
                      <a:pPr algn="ctr"/>
                      <a:r>
                        <a:rPr lang="en-US" sz="2400" dirty="0">
                          <a:latin typeface="Univers Condensed Light" panose="020B0306020202040204" pitchFamily="34" charset="0"/>
                        </a:rPr>
                        <a:t>1</a:t>
                      </a:r>
                      <a:endParaRPr lang="en-CA" sz="2400" dirty="0">
                        <a:latin typeface="Univers Condensed Light" panose="020B0306020202040204" pitchFamily="34" charset="0"/>
                      </a:endParaRPr>
                    </a:p>
                  </a:txBody>
                  <a:tcPr/>
                </a:tc>
                <a:tc>
                  <a:txBody>
                    <a:bodyPr/>
                    <a:lstStyle/>
                    <a:p>
                      <a:pPr algn="ctr"/>
                      <a:r>
                        <a:rPr lang="en-US" sz="2400" dirty="0">
                          <a:latin typeface="Univers Condensed Light" panose="020B0306020202040204" pitchFamily="34" charset="0"/>
                        </a:rPr>
                        <a:t>2</a:t>
                      </a:r>
                      <a:endParaRPr lang="en-CA" sz="2400" dirty="0">
                        <a:latin typeface="Univers Condensed Light" panose="020B0306020202040204" pitchFamily="34" charset="0"/>
                      </a:endParaRPr>
                    </a:p>
                  </a:txBody>
                  <a:tcPr/>
                </a:tc>
                <a:tc>
                  <a:txBody>
                    <a:bodyPr/>
                    <a:lstStyle/>
                    <a:p>
                      <a:pPr algn="ctr"/>
                      <a:r>
                        <a:rPr lang="en-US" sz="2400" dirty="0">
                          <a:latin typeface="Univers Condensed Light" panose="020B0306020202040204" pitchFamily="34" charset="0"/>
                        </a:rPr>
                        <a:t>3</a:t>
                      </a:r>
                      <a:endParaRPr lang="en-CA" sz="2400" dirty="0">
                        <a:latin typeface="Univers Condensed Light" panose="020B0306020202040204" pitchFamily="34" charset="0"/>
                      </a:endParaRPr>
                    </a:p>
                  </a:txBody>
                  <a:tcPr/>
                </a:tc>
                <a:tc>
                  <a:txBody>
                    <a:bodyPr/>
                    <a:lstStyle/>
                    <a:p>
                      <a:pPr algn="ctr"/>
                      <a:r>
                        <a:rPr lang="en-US" sz="2400" dirty="0">
                          <a:latin typeface="Univers Condensed Light" panose="020B0306020202040204" pitchFamily="34" charset="0"/>
                        </a:rPr>
                        <a:t>4</a:t>
                      </a:r>
                      <a:endParaRPr lang="en-CA" sz="2400" dirty="0">
                        <a:latin typeface="Univers Condensed Light" panose="020B0306020202040204" pitchFamily="34" charset="0"/>
                      </a:endParaRPr>
                    </a:p>
                  </a:txBody>
                  <a:tcPr/>
                </a:tc>
                <a:tc>
                  <a:txBody>
                    <a:bodyPr/>
                    <a:lstStyle/>
                    <a:p>
                      <a:pPr algn="ctr"/>
                      <a:r>
                        <a:rPr lang="en-US" sz="2400" dirty="0">
                          <a:latin typeface="Univers Condensed Light" panose="020B0306020202040204" pitchFamily="34" charset="0"/>
                        </a:rPr>
                        <a:t>5</a:t>
                      </a:r>
                      <a:endParaRPr lang="en-CA" sz="2400" dirty="0">
                        <a:latin typeface="Univers Condensed Light" panose="020B0306020202040204" pitchFamily="34" charset="0"/>
                      </a:endParaRPr>
                    </a:p>
                  </a:txBody>
                  <a:tcPr/>
                </a:tc>
                <a:extLst>
                  <a:ext uri="{0D108BD9-81ED-4DB2-BD59-A6C34878D82A}">
                    <a16:rowId xmlns:a16="http://schemas.microsoft.com/office/drawing/2014/main" val="949433489"/>
                  </a:ext>
                </a:extLst>
              </a:tr>
              <a:tr h="863884">
                <a:tc>
                  <a:txBody>
                    <a:bodyPr/>
                    <a:lstStyle/>
                    <a:p>
                      <a:r>
                        <a:rPr lang="en-US" sz="2400" kern="1200" dirty="0">
                          <a:solidFill>
                            <a:schemeClr val="dk1"/>
                          </a:solidFill>
                          <a:effectLst/>
                          <a:latin typeface="Univers Condensed Light" panose="020B0306020202040204" pitchFamily="34" charset="0"/>
                        </a:rPr>
                        <a:t>Solution Originality</a:t>
                      </a:r>
                      <a:endParaRPr lang="en-CA" sz="2400" dirty="0">
                        <a:latin typeface="Univers Condensed Light" panose="020B030602020204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kern="1200" dirty="0">
                          <a:solidFill>
                            <a:schemeClr val="dk1"/>
                          </a:solidFill>
                          <a:effectLst/>
                          <a:latin typeface="Univers Condensed Light" panose="020B0306020202040204" pitchFamily="34" charset="0"/>
                        </a:rPr>
                        <a:t>Consider the uniqueness and creativity of the solution. Does it leverage something unexpected or solve it differently.</a:t>
                      </a:r>
                      <a:endParaRPr lang="en-CA" sz="2400" kern="1200" dirty="0">
                        <a:solidFill>
                          <a:schemeClr val="dk1"/>
                        </a:solidFill>
                        <a:effectLst/>
                        <a:latin typeface="Univers Condensed Light" panose="020B0306020202040204" pitchFamily="34" charset="0"/>
                        <a:ea typeface="+mn-ea"/>
                        <a:cs typeface="+mn-cs"/>
                      </a:endParaRPr>
                    </a:p>
                  </a:txBody>
                  <a:tcPr/>
                </a:tc>
                <a:tc>
                  <a:txBody>
                    <a:bodyPr/>
                    <a:lstStyle/>
                    <a:p>
                      <a:pPr algn="ctr"/>
                      <a:r>
                        <a:rPr lang="en-US" sz="2400" dirty="0">
                          <a:latin typeface="Univers Condensed Light" panose="020B0306020202040204" pitchFamily="34" charset="0"/>
                        </a:rPr>
                        <a:t>1</a:t>
                      </a:r>
                      <a:endParaRPr lang="en-CA" sz="2400" dirty="0">
                        <a:latin typeface="Univers Condensed Light" panose="020B0306020202040204" pitchFamily="34" charset="0"/>
                      </a:endParaRPr>
                    </a:p>
                  </a:txBody>
                  <a:tcPr/>
                </a:tc>
                <a:tc>
                  <a:txBody>
                    <a:bodyPr/>
                    <a:lstStyle/>
                    <a:p>
                      <a:pPr algn="ctr"/>
                      <a:r>
                        <a:rPr lang="en-US" sz="2400" dirty="0">
                          <a:latin typeface="Univers Condensed Light" panose="020B0306020202040204" pitchFamily="34" charset="0"/>
                        </a:rPr>
                        <a:t>2</a:t>
                      </a:r>
                      <a:endParaRPr lang="en-CA" sz="2400" dirty="0">
                        <a:latin typeface="Univers Condensed Light" panose="020B0306020202040204" pitchFamily="34" charset="0"/>
                      </a:endParaRPr>
                    </a:p>
                  </a:txBody>
                  <a:tcPr/>
                </a:tc>
                <a:tc>
                  <a:txBody>
                    <a:bodyPr/>
                    <a:lstStyle/>
                    <a:p>
                      <a:pPr algn="ctr"/>
                      <a:r>
                        <a:rPr lang="en-US" sz="2400" dirty="0">
                          <a:latin typeface="Univers Condensed Light" panose="020B0306020202040204" pitchFamily="34" charset="0"/>
                        </a:rPr>
                        <a:t>3</a:t>
                      </a:r>
                      <a:endParaRPr lang="en-CA" sz="2400" dirty="0">
                        <a:latin typeface="Univers Condensed Light" panose="020B0306020202040204" pitchFamily="34" charset="0"/>
                      </a:endParaRPr>
                    </a:p>
                  </a:txBody>
                  <a:tcPr/>
                </a:tc>
                <a:tc>
                  <a:txBody>
                    <a:bodyPr/>
                    <a:lstStyle/>
                    <a:p>
                      <a:pPr algn="ctr"/>
                      <a:r>
                        <a:rPr lang="en-US" sz="2400" dirty="0">
                          <a:latin typeface="Univers Condensed Light" panose="020B0306020202040204" pitchFamily="34" charset="0"/>
                        </a:rPr>
                        <a:t>4</a:t>
                      </a:r>
                      <a:endParaRPr lang="en-CA" sz="2400" dirty="0">
                        <a:latin typeface="Univers Condensed Light" panose="020B0306020202040204" pitchFamily="34" charset="0"/>
                      </a:endParaRPr>
                    </a:p>
                  </a:txBody>
                  <a:tcPr/>
                </a:tc>
                <a:tc>
                  <a:txBody>
                    <a:bodyPr/>
                    <a:lstStyle/>
                    <a:p>
                      <a:pPr algn="ctr"/>
                      <a:r>
                        <a:rPr lang="en-US" sz="2400" dirty="0">
                          <a:latin typeface="Univers Condensed Light" panose="020B0306020202040204" pitchFamily="34" charset="0"/>
                        </a:rPr>
                        <a:t>5</a:t>
                      </a:r>
                      <a:endParaRPr lang="en-CA" sz="2400" dirty="0">
                        <a:latin typeface="Univers Condensed Light" panose="020B0306020202040204" pitchFamily="34" charset="0"/>
                      </a:endParaRPr>
                    </a:p>
                  </a:txBody>
                  <a:tcPr/>
                </a:tc>
                <a:extLst>
                  <a:ext uri="{0D108BD9-81ED-4DB2-BD59-A6C34878D82A}">
                    <a16:rowId xmlns:a16="http://schemas.microsoft.com/office/drawing/2014/main" val="4262177266"/>
                  </a:ext>
                </a:extLst>
              </a:tr>
              <a:tr h="819387">
                <a:tc>
                  <a:txBody>
                    <a:bodyPr/>
                    <a:lstStyle/>
                    <a:p>
                      <a:r>
                        <a:rPr lang="en-US" sz="2400" kern="1200" dirty="0">
                          <a:solidFill>
                            <a:schemeClr val="dk1"/>
                          </a:solidFill>
                          <a:effectLst/>
                          <a:latin typeface="Univers Condensed Light" panose="020B0306020202040204" pitchFamily="34" charset="0"/>
                        </a:rPr>
                        <a:t>Problem-Solution Coherency</a:t>
                      </a:r>
                      <a:endParaRPr lang="en-CA" sz="2400" dirty="0">
                        <a:latin typeface="Univers Condensed Light" panose="020B030602020204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kern="1200" dirty="0">
                          <a:solidFill>
                            <a:schemeClr val="dk1"/>
                          </a:solidFill>
                          <a:effectLst/>
                          <a:latin typeface="Univers Condensed Light" panose="020B0306020202040204" pitchFamily="34" charset="0"/>
                        </a:rPr>
                        <a:t>Does the problem the team set out to solve get accomplished with the final solution.</a:t>
                      </a:r>
                      <a:endParaRPr lang="en-CA" sz="2400" kern="1200" dirty="0">
                        <a:solidFill>
                          <a:schemeClr val="dk1"/>
                        </a:solidFill>
                        <a:effectLst/>
                        <a:latin typeface="Univers Condensed Light" panose="020B0306020202040204" pitchFamily="34" charset="0"/>
                        <a:ea typeface="+mn-ea"/>
                        <a:cs typeface="+mn-cs"/>
                      </a:endParaRPr>
                    </a:p>
                  </a:txBody>
                  <a:tcPr/>
                </a:tc>
                <a:tc>
                  <a:txBody>
                    <a:bodyPr/>
                    <a:lstStyle/>
                    <a:p>
                      <a:pPr algn="ctr"/>
                      <a:r>
                        <a:rPr lang="en-US" sz="2400" dirty="0">
                          <a:latin typeface="Univers Condensed Light" panose="020B0306020202040204" pitchFamily="34" charset="0"/>
                        </a:rPr>
                        <a:t>1</a:t>
                      </a:r>
                      <a:endParaRPr lang="en-CA" sz="2400" dirty="0">
                        <a:latin typeface="Univers Condensed Light" panose="020B0306020202040204" pitchFamily="34" charset="0"/>
                      </a:endParaRPr>
                    </a:p>
                  </a:txBody>
                  <a:tcPr/>
                </a:tc>
                <a:tc>
                  <a:txBody>
                    <a:bodyPr/>
                    <a:lstStyle/>
                    <a:p>
                      <a:pPr algn="ctr"/>
                      <a:r>
                        <a:rPr lang="en-US" sz="2400" dirty="0">
                          <a:latin typeface="Univers Condensed Light" panose="020B0306020202040204" pitchFamily="34" charset="0"/>
                        </a:rPr>
                        <a:t>2</a:t>
                      </a:r>
                      <a:endParaRPr lang="en-CA" sz="2400" dirty="0">
                        <a:latin typeface="Univers Condensed Light" panose="020B0306020202040204" pitchFamily="34" charset="0"/>
                      </a:endParaRPr>
                    </a:p>
                  </a:txBody>
                  <a:tcPr/>
                </a:tc>
                <a:tc>
                  <a:txBody>
                    <a:bodyPr/>
                    <a:lstStyle/>
                    <a:p>
                      <a:pPr algn="ctr"/>
                      <a:r>
                        <a:rPr lang="en-US" sz="2400" dirty="0">
                          <a:latin typeface="Univers Condensed Light" panose="020B0306020202040204" pitchFamily="34" charset="0"/>
                        </a:rPr>
                        <a:t>3</a:t>
                      </a:r>
                      <a:endParaRPr lang="en-CA" sz="2400" dirty="0">
                        <a:latin typeface="Univers Condensed Light" panose="020B0306020202040204" pitchFamily="34" charset="0"/>
                      </a:endParaRPr>
                    </a:p>
                  </a:txBody>
                  <a:tcPr/>
                </a:tc>
                <a:tc>
                  <a:txBody>
                    <a:bodyPr/>
                    <a:lstStyle/>
                    <a:p>
                      <a:pPr algn="ctr"/>
                      <a:r>
                        <a:rPr lang="en-US" sz="2400" dirty="0">
                          <a:latin typeface="Univers Condensed Light" panose="020B0306020202040204" pitchFamily="34" charset="0"/>
                        </a:rPr>
                        <a:t>4</a:t>
                      </a:r>
                      <a:endParaRPr lang="en-CA" sz="2400" dirty="0">
                        <a:latin typeface="Univers Condensed Light" panose="020B0306020202040204" pitchFamily="34" charset="0"/>
                      </a:endParaRPr>
                    </a:p>
                  </a:txBody>
                  <a:tcPr/>
                </a:tc>
                <a:tc>
                  <a:txBody>
                    <a:bodyPr/>
                    <a:lstStyle/>
                    <a:p>
                      <a:pPr algn="ctr"/>
                      <a:r>
                        <a:rPr lang="en-US" sz="2400" dirty="0">
                          <a:latin typeface="Univers Condensed Light" panose="020B0306020202040204" pitchFamily="34" charset="0"/>
                        </a:rPr>
                        <a:t>5</a:t>
                      </a:r>
                      <a:endParaRPr lang="en-CA" sz="2400" dirty="0">
                        <a:latin typeface="Univers Condensed Light" panose="020B0306020202040204" pitchFamily="34" charset="0"/>
                      </a:endParaRPr>
                    </a:p>
                  </a:txBody>
                  <a:tcPr/>
                </a:tc>
                <a:extLst>
                  <a:ext uri="{0D108BD9-81ED-4DB2-BD59-A6C34878D82A}">
                    <a16:rowId xmlns:a16="http://schemas.microsoft.com/office/drawing/2014/main" val="2456561728"/>
                  </a:ext>
                </a:extLst>
              </a:tr>
              <a:tr h="863884">
                <a:tc>
                  <a:txBody>
                    <a:bodyPr/>
                    <a:lstStyle/>
                    <a:p>
                      <a:r>
                        <a:rPr lang="en-US" sz="2400" kern="1200" dirty="0">
                          <a:solidFill>
                            <a:schemeClr val="dk1"/>
                          </a:solidFill>
                          <a:effectLst/>
                          <a:latin typeface="Univers Condensed Light" panose="020B0306020202040204" pitchFamily="34" charset="0"/>
                        </a:rPr>
                        <a:t>Team Presentation</a:t>
                      </a:r>
                      <a:endParaRPr lang="en-CA" sz="2400" dirty="0">
                        <a:latin typeface="Univers Condensed Light" panose="020B030602020204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kern="1200" dirty="0">
                          <a:solidFill>
                            <a:schemeClr val="dk1"/>
                          </a:solidFill>
                          <a:effectLst/>
                          <a:latin typeface="Univers Condensed Light" panose="020B0306020202040204" pitchFamily="34" charset="0"/>
                        </a:rPr>
                        <a:t>How well did the team present, did everyone contribute, were the ideas presented clear.</a:t>
                      </a:r>
                      <a:endParaRPr lang="en-CA" sz="2400" kern="1200" dirty="0">
                        <a:solidFill>
                          <a:schemeClr val="dk1"/>
                        </a:solidFill>
                        <a:effectLst/>
                        <a:latin typeface="Univers Condensed Light" panose="020B0306020202040204" pitchFamily="34" charset="0"/>
                        <a:ea typeface="+mn-ea"/>
                        <a:cs typeface="+mn-cs"/>
                      </a:endParaRPr>
                    </a:p>
                  </a:txBody>
                  <a:tcPr/>
                </a:tc>
                <a:tc>
                  <a:txBody>
                    <a:bodyPr/>
                    <a:lstStyle/>
                    <a:p>
                      <a:pPr algn="ctr"/>
                      <a:r>
                        <a:rPr lang="en-US" sz="2400" dirty="0">
                          <a:latin typeface="Univers Condensed Light" panose="020B0306020202040204" pitchFamily="34" charset="0"/>
                        </a:rPr>
                        <a:t>1</a:t>
                      </a:r>
                      <a:endParaRPr lang="en-CA" sz="2400" dirty="0">
                        <a:latin typeface="Univers Condensed Light" panose="020B0306020202040204" pitchFamily="34" charset="0"/>
                      </a:endParaRPr>
                    </a:p>
                  </a:txBody>
                  <a:tcPr/>
                </a:tc>
                <a:tc>
                  <a:txBody>
                    <a:bodyPr/>
                    <a:lstStyle/>
                    <a:p>
                      <a:pPr algn="ctr"/>
                      <a:r>
                        <a:rPr lang="en-US" sz="2400" dirty="0">
                          <a:latin typeface="Univers Condensed Light" panose="020B0306020202040204" pitchFamily="34" charset="0"/>
                        </a:rPr>
                        <a:t>2</a:t>
                      </a:r>
                      <a:endParaRPr lang="en-CA" sz="2400" dirty="0">
                        <a:latin typeface="Univers Condensed Light" panose="020B0306020202040204" pitchFamily="34" charset="0"/>
                      </a:endParaRPr>
                    </a:p>
                  </a:txBody>
                  <a:tcPr/>
                </a:tc>
                <a:tc>
                  <a:txBody>
                    <a:bodyPr/>
                    <a:lstStyle/>
                    <a:p>
                      <a:pPr algn="ctr"/>
                      <a:r>
                        <a:rPr lang="en-US" sz="2400" dirty="0">
                          <a:latin typeface="Univers Condensed Light" panose="020B0306020202040204" pitchFamily="34" charset="0"/>
                        </a:rPr>
                        <a:t>3</a:t>
                      </a:r>
                      <a:endParaRPr lang="en-CA" sz="2400" dirty="0">
                        <a:latin typeface="Univers Condensed Light" panose="020B0306020202040204" pitchFamily="34" charset="0"/>
                      </a:endParaRPr>
                    </a:p>
                  </a:txBody>
                  <a:tcPr/>
                </a:tc>
                <a:tc>
                  <a:txBody>
                    <a:bodyPr/>
                    <a:lstStyle/>
                    <a:p>
                      <a:pPr algn="ctr"/>
                      <a:r>
                        <a:rPr lang="en-US" sz="2400" dirty="0">
                          <a:latin typeface="Univers Condensed Light" panose="020B0306020202040204" pitchFamily="34" charset="0"/>
                        </a:rPr>
                        <a:t>4</a:t>
                      </a:r>
                      <a:endParaRPr lang="en-CA" sz="2400" dirty="0">
                        <a:latin typeface="Univers Condensed Light" panose="020B0306020202040204" pitchFamily="34" charset="0"/>
                      </a:endParaRPr>
                    </a:p>
                  </a:txBody>
                  <a:tcPr/>
                </a:tc>
                <a:tc>
                  <a:txBody>
                    <a:bodyPr/>
                    <a:lstStyle/>
                    <a:p>
                      <a:pPr algn="ctr"/>
                      <a:r>
                        <a:rPr lang="en-US" sz="2400" dirty="0">
                          <a:latin typeface="Univers Condensed Light" panose="020B0306020202040204" pitchFamily="34" charset="0"/>
                        </a:rPr>
                        <a:t>5</a:t>
                      </a:r>
                      <a:endParaRPr lang="en-CA" sz="2400" dirty="0">
                        <a:latin typeface="Univers Condensed Light" panose="020B0306020202040204" pitchFamily="34" charset="0"/>
                      </a:endParaRPr>
                    </a:p>
                  </a:txBody>
                  <a:tcPr/>
                </a:tc>
                <a:extLst>
                  <a:ext uri="{0D108BD9-81ED-4DB2-BD59-A6C34878D82A}">
                    <a16:rowId xmlns:a16="http://schemas.microsoft.com/office/drawing/2014/main" val="2325584100"/>
                  </a:ext>
                </a:extLst>
              </a:tr>
            </a:tbl>
          </a:graphicData>
        </a:graphic>
      </p:graphicFrame>
    </p:spTree>
    <p:extLst>
      <p:ext uri="{BB962C8B-B14F-4D97-AF65-F5344CB8AC3E}">
        <p14:creationId xmlns:p14="http://schemas.microsoft.com/office/powerpoint/2010/main" val="4049162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52F4825F-8E35-FE04-1EA9-8CCC400A5EA3}"/>
              </a:ext>
            </a:extLst>
          </p:cNvPr>
          <p:cNvGrpSpPr/>
          <p:nvPr/>
        </p:nvGrpSpPr>
        <p:grpSpPr>
          <a:xfrm>
            <a:off x="12104897" y="0"/>
            <a:ext cx="6183103" cy="1128946"/>
            <a:chOff x="271187" y="95718"/>
            <a:chExt cx="6183103" cy="1128946"/>
          </a:xfrm>
        </p:grpSpPr>
        <p:sp>
          <p:nvSpPr>
            <p:cNvPr id="3" name="Freeform 7">
              <a:extLst>
                <a:ext uri="{FF2B5EF4-FFF2-40B4-BE49-F238E27FC236}">
                  <a16:creationId xmlns:a16="http://schemas.microsoft.com/office/drawing/2014/main" id="{7FD400E1-24D1-39BD-5ADA-1016F87B3B05}"/>
                </a:ext>
              </a:extLst>
            </p:cNvPr>
            <p:cNvSpPr/>
            <p:nvPr/>
          </p:nvSpPr>
          <p:spPr>
            <a:xfrm>
              <a:off x="2534828" y="468440"/>
              <a:ext cx="1765279" cy="756224"/>
            </a:xfrm>
            <a:custGeom>
              <a:avLst/>
              <a:gdLst/>
              <a:ahLst/>
              <a:cxnLst/>
              <a:rect l="l" t="t" r="r" b="b"/>
              <a:pathLst>
                <a:path w="1765279" h="756224">
                  <a:moveTo>
                    <a:pt x="0" y="0"/>
                  </a:moveTo>
                  <a:lnTo>
                    <a:pt x="1765279" y="0"/>
                  </a:lnTo>
                  <a:lnTo>
                    <a:pt x="1765279" y="756225"/>
                  </a:lnTo>
                  <a:lnTo>
                    <a:pt x="0" y="756225"/>
                  </a:lnTo>
                  <a:lnTo>
                    <a:pt x="0" y="0"/>
                  </a:lnTo>
                  <a:close/>
                </a:path>
              </a:pathLst>
            </a:custGeom>
            <a:blipFill>
              <a:blip r:embed="rId2"/>
              <a:stretch>
                <a:fillRect r="-2149"/>
              </a:stretch>
            </a:blipFill>
          </p:spPr>
          <p:txBody>
            <a:bodyPr/>
            <a:lstStyle/>
            <a:p>
              <a:endParaRPr lang="en-US"/>
            </a:p>
          </p:txBody>
        </p:sp>
        <p:sp>
          <p:nvSpPr>
            <p:cNvPr id="4" name="Freeform 8">
              <a:extLst>
                <a:ext uri="{FF2B5EF4-FFF2-40B4-BE49-F238E27FC236}">
                  <a16:creationId xmlns:a16="http://schemas.microsoft.com/office/drawing/2014/main" id="{8A998601-C259-4938-FAEA-CF299732118A}"/>
                </a:ext>
              </a:extLst>
            </p:cNvPr>
            <p:cNvSpPr/>
            <p:nvPr/>
          </p:nvSpPr>
          <p:spPr>
            <a:xfrm>
              <a:off x="271187" y="252914"/>
              <a:ext cx="1855370" cy="971750"/>
            </a:xfrm>
            <a:custGeom>
              <a:avLst/>
              <a:gdLst/>
              <a:ahLst/>
              <a:cxnLst/>
              <a:rect l="l" t="t" r="r" b="b"/>
              <a:pathLst>
                <a:path w="1855370" h="971750">
                  <a:moveTo>
                    <a:pt x="0" y="0"/>
                  </a:moveTo>
                  <a:lnTo>
                    <a:pt x="1855370" y="0"/>
                  </a:lnTo>
                  <a:lnTo>
                    <a:pt x="1855370" y="971750"/>
                  </a:lnTo>
                  <a:lnTo>
                    <a:pt x="0" y="971750"/>
                  </a:lnTo>
                  <a:lnTo>
                    <a:pt x="0" y="0"/>
                  </a:lnTo>
                  <a:close/>
                </a:path>
              </a:pathLst>
            </a:custGeom>
            <a:blipFill>
              <a:blip r:embed="rId3"/>
              <a:stretch>
                <a:fillRect/>
              </a:stretch>
            </a:blipFill>
          </p:spPr>
          <p:txBody>
            <a:bodyPr/>
            <a:lstStyle/>
            <a:p>
              <a:endParaRPr lang="en-US"/>
            </a:p>
          </p:txBody>
        </p:sp>
        <p:sp>
          <p:nvSpPr>
            <p:cNvPr id="5" name="Freeform 9">
              <a:extLst>
                <a:ext uri="{FF2B5EF4-FFF2-40B4-BE49-F238E27FC236}">
                  <a16:creationId xmlns:a16="http://schemas.microsoft.com/office/drawing/2014/main" id="{1BE43FE5-83C7-28B0-4FA5-0CA6C05FA4F1}"/>
                </a:ext>
              </a:extLst>
            </p:cNvPr>
            <p:cNvSpPr/>
            <p:nvPr/>
          </p:nvSpPr>
          <p:spPr>
            <a:xfrm>
              <a:off x="4477151" y="95718"/>
              <a:ext cx="1977139" cy="1128946"/>
            </a:xfrm>
            <a:custGeom>
              <a:avLst/>
              <a:gdLst/>
              <a:ahLst/>
              <a:cxnLst/>
              <a:rect l="l" t="t" r="r" b="b"/>
              <a:pathLst>
                <a:path w="1977139" h="1128946">
                  <a:moveTo>
                    <a:pt x="0" y="0"/>
                  </a:moveTo>
                  <a:lnTo>
                    <a:pt x="1977139" y="0"/>
                  </a:lnTo>
                  <a:lnTo>
                    <a:pt x="1977139" y="1128946"/>
                  </a:lnTo>
                  <a:lnTo>
                    <a:pt x="0" y="1128946"/>
                  </a:lnTo>
                  <a:lnTo>
                    <a:pt x="0" y="0"/>
                  </a:lnTo>
                  <a:close/>
                </a:path>
              </a:pathLst>
            </a:custGeom>
            <a:blipFill>
              <a:blip r:embed="rId4"/>
              <a:stretch>
                <a:fillRect/>
              </a:stretch>
            </a:blipFill>
          </p:spPr>
          <p:txBody>
            <a:bodyPr/>
            <a:lstStyle/>
            <a:p>
              <a:endParaRPr lang="en-US"/>
            </a:p>
          </p:txBody>
        </p:sp>
      </p:grpSp>
      <p:sp>
        <p:nvSpPr>
          <p:cNvPr id="6" name="TextBox 5">
            <a:extLst>
              <a:ext uri="{FF2B5EF4-FFF2-40B4-BE49-F238E27FC236}">
                <a16:creationId xmlns:a16="http://schemas.microsoft.com/office/drawing/2014/main" id="{24A63072-4BA0-A536-D564-59A15AB14177}"/>
              </a:ext>
            </a:extLst>
          </p:cNvPr>
          <p:cNvSpPr txBox="1"/>
          <p:nvPr/>
        </p:nvSpPr>
        <p:spPr>
          <a:xfrm>
            <a:off x="132921" y="129301"/>
            <a:ext cx="5201079" cy="746999"/>
          </a:xfrm>
          <a:prstGeom prst="rect">
            <a:avLst/>
          </a:prstGeom>
        </p:spPr>
        <p:txBody>
          <a:bodyPr lIns="0" tIns="0" rIns="0" bIns="0" rtlCol="0" anchor="t">
            <a:spAutoFit/>
          </a:bodyPr>
          <a:lstStyle/>
          <a:p>
            <a:pPr>
              <a:lnSpc>
                <a:spcPts val="6699"/>
              </a:lnSpc>
              <a:spcBef>
                <a:spcPct val="0"/>
              </a:spcBef>
            </a:pPr>
            <a:r>
              <a:rPr lang="en-US" sz="4000" dirty="0">
                <a:solidFill>
                  <a:srgbClr val="FFFFFF"/>
                </a:solidFill>
                <a:latin typeface="HK Modular"/>
                <a:ea typeface="HK Modular"/>
                <a:cs typeface="HK Modular"/>
                <a:sym typeface="HK Modular"/>
              </a:rPr>
              <a:t>Prices</a:t>
            </a:r>
          </a:p>
        </p:txBody>
      </p:sp>
      <p:grpSp>
        <p:nvGrpSpPr>
          <p:cNvPr id="29" name="Group 28">
            <a:extLst>
              <a:ext uri="{FF2B5EF4-FFF2-40B4-BE49-F238E27FC236}">
                <a16:creationId xmlns:a16="http://schemas.microsoft.com/office/drawing/2014/main" id="{ABFFB04D-5A89-9FA3-64F8-2B4FE83F4E63}"/>
              </a:ext>
            </a:extLst>
          </p:cNvPr>
          <p:cNvGrpSpPr/>
          <p:nvPr/>
        </p:nvGrpSpPr>
        <p:grpSpPr>
          <a:xfrm>
            <a:off x="3816169" y="2628900"/>
            <a:ext cx="10655663" cy="4576005"/>
            <a:chOff x="3731925" y="2626505"/>
            <a:chExt cx="10655663" cy="4576005"/>
          </a:xfrm>
        </p:grpSpPr>
        <p:sp>
          <p:nvSpPr>
            <p:cNvPr id="8" name="Flowchart: Connector 7">
              <a:extLst>
                <a:ext uri="{FF2B5EF4-FFF2-40B4-BE49-F238E27FC236}">
                  <a16:creationId xmlns:a16="http://schemas.microsoft.com/office/drawing/2014/main" id="{4B31A3E3-D3FB-CDEC-A9A0-FD273435E1B7}"/>
                </a:ext>
              </a:extLst>
            </p:cNvPr>
            <p:cNvSpPr/>
            <p:nvPr/>
          </p:nvSpPr>
          <p:spPr>
            <a:xfrm>
              <a:off x="7777600" y="2626505"/>
              <a:ext cx="2560320" cy="2560320"/>
            </a:xfrm>
            <a:prstGeom prst="flowChartConnector">
              <a:avLst/>
            </a:prstGeom>
            <a:solidFill>
              <a:srgbClr val="D6B174"/>
            </a:solidFill>
            <a:ln w="12700" cap="flat" cmpd="sng" algn="ctr">
              <a:solidFill>
                <a:srgbClr val="A57931">
                  <a:shade val="15000"/>
                </a:srgbClr>
              </a:solidFill>
              <a:prstDash val="solid"/>
              <a:miter lim="800000"/>
            </a:ln>
            <a:effectLst/>
          </p:spPr>
          <p:txBody>
            <a:bodyPr wrap="none" lIns="9144" tIns="9144" rIns="9144" bIns="9144"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4000" b="0" i="0" u="none" strike="noStrike" kern="0" cap="none" spc="0" normalizeH="0" baseline="0" noProof="0" dirty="0">
                  <a:ln>
                    <a:noFill/>
                  </a:ln>
                  <a:solidFill>
                    <a:prstClr val="white"/>
                  </a:solidFill>
                  <a:effectLst/>
                  <a:uLnTx/>
                  <a:uFillTx/>
                  <a:latin typeface="Univers Condensed Light" panose="020B0306020202040204" pitchFamily="34" charset="0"/>
                </a:rPr>
                <a:t>$1000</a:t>
              </a:r>
              <a:endParaRPr kumimoji="0" lang="en-CA" sz="4000" b="0" i="0" u="none" strike="noStrike" kern="0" cap="none" spc="0" normalizeH="0" baseline="0" noProof="0" dirty="0">
                <a:ln>
                  <a:noFill/>
                </a:ln>
                <a:solidFill>
                  <a:prstClr val="white"/>
                </a:solidFill>
                <a:effectLst/>
                <a:uLnTx/>
                <a:uFillTx/>
                <a:latin typeface="Univers Condensed Light" panose="020B0306020202040204" pitchFamily="34" charset="0"/>
              </a:endParaRPr>
            </a:p>
          </p:txBody>
        </p:sp>
        <p:sp>
          <p:nvSpPr>
            <p:cNvPr id="10" name="Flowchart: Connector 9">
              <a:extLst>
                <a:ext uri="{FF2B5EF4-FFF2-40B4-BE49-F238E27FC236}">
                  <a16:creationId xmlns:a16="http://schemas.microsoft.com/office/drawing/2014/main" id="{CB1340A7-EA07-86CE-842C-A650A0238190}"/>
                </a:ext>
              </a:extLst>
            </p:cNvPr>
            <p:cNvSpPr/>
            <p:nvPr/>
          </p:nvSpPr>
          <p:spPr>
            <a:xfrm>
              <a:off x="4209445" y="3268028"/>
              <a:ext cx="2560320" cy="2560320"/>
            </a:xfrm>
            <a:prstGeom prst="flowChartConnector">
              <a:avLst/>
            </a:prstGeom>
            <a:solidFill>
              <a:sysClr val="window" lastClr="FFFFFF">
                <a:lumMod val="75000"/>
              </a:sysClr>
            </a:solidFill>
            <a:ln w="12700" cap="flat" cmpd="sng" algn="ctr">
              <a:solidFill>
                <a:srgbClr val="A57931">
                  <a:shade val="15000"/>
                </a:srgbClr>
              </a:solidFill>
              <a:prstDash val="solid"/>
              <a:miter lim="800000"/>
            </a:ln>
            <a:effectLst/>
          </p:spPr>
          <p:txBody>
            <a:bodyPr wrap="none" lIns="9144" tIns="9144" rIns="9144" bIns="9144"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4000" b="0" i="0" u="none" strike="noStrike" kern="0" cap="none" spc="0" normalizeH="0" baseline="0" noProof="0" dirty="0">
                  <a:ln>
                    <a:noFill/>
                  </a:ln>
                  <a:solidFill>
                    <a:prstClr val="white"/>
                  </a:solidFill>
                  <a:effectLst/>
                  <a:uLnTx/>
                  <a:uFillTx/>
                  <a:latin typeface="Univers Condensed Light" panose="020B0306020202040204" pitchFamily="34" charset="0"/>
                </a:rPr>
                <a:t>$800</a:t>
              </a:r>
              <a:endParaRPr kumimoji="0" lang="en-CA" sz="4000" b="0" i="0" u="none" strike="noStrike" kern="0" cap="none" spc="0" normalizeH="0" baseline="0" noProof="0" dirty="0">
                <a:ln>
                  <a:noFill/>
                </a:ln>
                <a:solidFill>
                  <a:prstClr val="white"/>
                </a:solidFill>
                <a:effectLst/>
                <a:uLnTx/>
                <a:uFillTx/>
                <a:latin typeface="Univers Condensed Light" panose="020B0306020202040204" pitchFamily="34" charset="0"/>
              </a:endParaRPr>
            </a:p>
          </p:txBody>
        </p:sp>
        <p:sp>
          <p:nvSpPr>
            <p:cNvPr id="12" name="Flowchart: Connector 11">
              <a:extLst>
                <a:ext uri="{FF2B5EF4-FFF2-40B4-BE49-F238E27FC236}">
                  <a16:creationId xmlns:a16="http://schemas.microsoft.com/office/drawing/2014/main" id="{E203F504-AB16-C302-DC89-743B6B4AAC85}"/>
                </a:ext>
              </a:extLst>
            </p:cNvPr>
            <p:cNvSpPr/>
            <p:nvPr/>
          </p:nvSpPr>
          <p:spPr>
            <a:xfrm>
              <a:off x="11345756" y="3646997"/>
              <a:ext cx="2560320" cy="2560320"/>
            </a:xfrm>
            <a:prstGeom prst="flowChartConnector">
              <a:avLst/>
            </a:prstGeom>
            <a:solidFill>
              <a:srgbClr val="CC846E">
                <a:lumMod val="75000"/>
              </a:srgbClr>
            </a:solidFill>
            <a:ln w="12700" cap="flat" cmpd="sng" algn="ctr">
              <a:solidFill>
                <a:srgbClr val="A57931">
                  <a:shade val="15000"/>
                </a:srgbClr>
              </a:solidFill>
              <a:prstDash val="solid"/>
              <a:miter lim="800000"/>
            </a:ln>
            <a:effectLst/>
          </p:spPr>
          <p:txBody>
            <a:bodyPr wrap="none" lIns="9144" tIns="9144" rIns="9144" bIns="9144"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4000" b="0" i="0" u="none" strike="noStrike" kern="0" cap="none" spc="0" normalizeH="0" baseline="0" noProof="0" dirty="0">
                  <a:ln>
                    <a:noFill/>
                  </a:ln>
                  <a:solidFill>
                    <a:prstClr val="white"/>
                  </a:solidFill>
                  <a:effectLst/>
                  <a:uLnTx/>
                  <a:uFillTx/>
                  <a:latin typeface="Univers Condensed Light" panose="020B0306020202040204" pitchFamily="34" charset="0"/>
                </a:rPr>
                <a:t>$600</a:t>
              </a:r>
              <a:endParaRPr kumimoji="0" lang="en-CA" sz="4000" b="0" i="0" u="none" strike="noStrike" kern="0" cap="none" spc="0" normalizeH="0" baseline="0" noProof="0" dirty="0">
                <a:ln>
                  <a:noFill/>
                </a:ln>
                <a:solidFill>
                  <a:prstClr val="white"/>
                </a:solidFill>
                <a:effectLst/>
                <a:uLnTx/>
                <a:uFillTx/>
                <a:latin typeface="Univers Condensed Light" panose="020B0306020202040204" pitchFamily="34" charset="0"/>
              </a:endParaRPr>
            </a:p>
          </p:txBody>
        </p:sp>
        <p:sp>
          <p:nvSpPr>
            <p:cNvPr id="14" name="Rectangle 13">
              <a:extLst>
                <a:ext uri="{FF2B5EF4-FFF2-40B4-BE49-F238E27FC236}">
                  <a16:creationId xmlns:a16="http://schemas.microsoft.com/office/drawing/2014/main" id="{A0CD89EB-B07F-B7EF-29A8-79FA72469680}"/>
                </a:ext>
              </a:extLst>
            </p:cNvPr>
            <p:cNvSpPr/>
            <p:nvPr/>
          </p:nvSpPr>
          <p:spPr>
            <a:xfrm>
              <a:off x="7298085" y="5760459"/>
              <a:ext cx="3566160" cy="1442051"/>
            </a:xfrm>
            <a:prstGeom prst="rect">
              <a:avLst/>
            </a:prstGeom>
            <a:solidFill>
              <a:schemeClr val="bg2"/>
            </a:solidFill>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4000" dirty="0">
                  <a:solidFill>
                    <a:schemeClr val="tx1"/>
                  </a:solidFill>
                  <a:latin typeface="Univers Condensed Light" panose="020B0306020202040204" pitchFamily="34" charset="0"/>
                </a:rPr>
                <a:t>1</a:t>
              </a:r>
              <a:r>
                <a:rPr lang="en-US" sz="4000" baseline="30000" dirty="0">
                  <a:solidFill>
                    <a:schemeClr val="tx1"/>
                  </a:solidFill>
                  <a:latin typeface="Univers Condensed Light" panose="020B0306020202040204" pitchFamily="34" charset="0"/>
                </a:rPr>
                <a:t>st</a:t>
              </a:r>
              <a:r>
                <a:rPr lang="en-US" sz="4000" dirty="0">
                  <a:solidFill>
                    <a:schemeClr val="tx1"/>
                  </a:solidFill>
                  <a:latin typeface="Univers Condensed Light" panose="020B0306020202040204" pitchFamily="34" charset="0"/>
                </a:rPr>
                <a:t> place team</a:t>
              </a:r>
              <a:endParaRPr lang="en-CA" sz="4000" dirty="0">
                <a:solidFill>
                  <a:schemeClr val="tx1"/>
                </a:solidFill>
                <a:latin typeface="Univers Condensed Light" panose="020B0306020202040204" pitchFamily="34" charset="0"/>
              </a:endParaRPr>
            </a:p>
          </p:txBody>
        </p:sp>
        <p:sp>
          <p:nvSpPr>
            <p:cNvPr id="16" name="Rectangle 15">
              <a:extLst>
                <a:ext uri="{FF2B5EF4-FFF2-40B4-BE49-F238E27FC236}">
                  <a16:creationId xmlns:a16="http://schemas.microsoft.com/office/drawing/2014/main" id="{1D1064DC-8234-25A3-198C-3F1E4BE7CA4E}"/>
                </a:ext>
              </a:extLst>
            </p:cNvPr>
            <p:cNvSpPr/>
            <p:nvPr/>
          </p:nvSpPr>
          <p:spPr>
            <a:xfrm>
              <a:off x="3731925" y="6395757"/>
              <a:ext cx="3566160" cy="806753"/>
            </a:xfrm>
            <a:prstGeom prst="rect">
              <a:avLst/>
            </a:prstGeom>
            <a:solidFill>
              <a:schemeClr val="bg2"/>
            </a:solidFill>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4000" dirty="0">
                  <a:solidFill>
                    <a:schemeClr val="tx1"/>
                  </a:solidFill>
                  <a:latin typeface="Univers Condensed Light" panose="020B0306020202040204" pitchFamily="34" charset="0"/>
                </a:rPr>
                <a:t>2</a:t>
              </a:r>
              <a:r>
                <a:rPr lang="en-US" sz="4000" baseline="30000" dirty="0">
                  <a:solidFill>
                    <a:schemeClr val="tx1"/>
                  </a:solidFill>
                  <a:latin typeface="Univers Condensed Light" panose="020B0306020202040204" pitchFamily="34" charset="0"/>
                </a:rPr>
                <a:t>nd</a:t>
              </a:r>
              <a:r>
                <a:rPr lang="en-US" sz="4000" dirty="0">
                  <a:solidFill>
                    <a:schemeClr val="tx1"/>
                  </a:solidFill>
                  <a:latin typeface="Univers Condensed Light" panose="020B0306020202040204" pitchFamily="34" charset="0"/>
                </a:rPr>
                <a:t> place team</a:t>
              </a:r>
              <a:endParaRPr lang="en-CA" sz="4000" dirty="0">
                <a:solidFill>
                  <a:schemeClr val="tx1"/>
                </a:solidFill>
                <a:latin typeface="Univers Condensed Light" panose="020B0306020202040204" pitchFamily="34" charset="0"/>
              </a:endParaRPr>
            </a:p>
          </p:txBody>
        </p:sp>
        <p:sp>
          <p:nvSpPr>
            <p:cNvPr id="18" name="Rectangle 17">
              <a:extLst>
                <a:ext uri="{FF2B5EF4-FFF2-40B4-BE49-F238E27FC236}">
                  <a16:creationId xmlns:a16="http://schemas.microsoft.com/office/drawing/2014/main" id="{D13A3EA6-93F7-ABF7-1AA6-919E1A23DC1F}"/>
                </a:ext>
              </a:extLst>
            </p:cNvPr>
            <p:cNvSpPr/>
            <p:nvPr/>
          </p:nvSpPr>
          <p:spPr>
            <a:xfrm>
              <a:off x="10821428" y="6654175"/>
              <a:ext cx="3566160" cy="548335"/>
            </a:xfrm>
            <a:prstGeom prst="rect">
              <a:avLst/>
            </a:prstGeom>
            <a:solidFill>
              <a:schemeClr val="bg2"/>
            </a:solidFill>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4000" dirty="0">
                  <a:solidFill>
                    <a:schemeClr val="tx1"/>
                  </a:solidFill>
                  <a:latin typeface="Univers Condensed Light" panose="020B0306020202040204" pitchFamily="34" charset="0"/>
                </a:rPr>
                <a:t>3</a:t>
              </a:r>
              <a:r>
                <a:rPr lang="en-US" sz="4000" baseline="30000" dirty="0">
                  <a:solidFill>
                    <a:schemeClr val="tx1"/>
                  </a:solidFill>
                  <a:latin typeface="Univers Condensed Light" panose="020B0306020202040204" pitchFamily="34" charset="0"/>
                </a:rPr>
                <a:t>rd</a:t>
              </a:r>
              <a:r>
                <a:rPr lang="en-US" sz="4000" dirty="0">
                  <a:solidFill>
                    <a:schemeClr val="tx1"/>
                  </a:solidFill>
                  <a:latin typeface="Univers Condensed Light" panose="020B0306020202040204" pitchFamily="34" charset="0"/>
                </a:rPr>
                <a:t> place team</a:t>
              </a:r>
              <a:endParaRPr lang="en-CA" sz="4000" dirty="0">
                <a:solidFill>
                  <a:schemeClr val="tx1"/>
                </a:solidFill>
                <a:latin typeface="Univers Condensed Light" panose="020B0306020202040204" pitchFamily="34" charset="0"/>
              </a:endParaRPr>
            </a:p>
          </p:txBody>
        </p:sp>
      </p:grpSp>
      <p:sp>
        <p:nvSpPr>
          <p:cNvPr id="20" name="TextBox 19">
            <a:extLst>
              <a:ext uri="{FF2B5EF4-FFF2-40B4-BE49-F238E27FC236}">
                <a16:creationId xmlns:a16="http://schemas.microsoft.com/office/drawing/2014/main" id="{41250022-E214-174E-95A9-22931BDF1497}"/>
              </a:ext>
            </a:extLst>
          </p:cNvPr>
          <p:cNvSpPr txBox="1"/>
          <p:nvPr/>
        </p:nvSpPr>
        <p:spPr>
          <a:xfrm>
            <a:off x="0" y="1638300"/>
            <a:ext cx="18287999" cy="584775"/>
          </a:xfrm>
          <a:prstGeom prst="rect">
            <a:avLst/>
          </a:prstGeom>
          <a:noFill/>
        </p:spPr>
        <p:txBody>
          <a:bodyPr wrap="square" rtlCol="0">
            <a:spAutoFit/>
          </a:bodyPr>
          <a:lstStyle/>
          <a:p>
            <a:pPr algn="ctr"/>
            <a:r>
              <a:rPr lang="en-CA" sz="3200" dirty="0">
                <a:solidFill>
                  <a:schemeClr val="accent5">
                    <a:lumMod val="40000"/>
                    <a:lumOff val="60000"/>
                  </a:schemeClr>
                </a:solidFill>
                <a:latin typeface="Univers Condensed Light" panose="020B0306020202040204" pitchFamily="34" charset="0"/>
              </a:rPr>
              <a:t>MDA will award gift cards to the top three teams in the amounts of…</a:t>
            </a:r>
          </a:p>
        </p:txBody>
      </p:sp>
      <p:sp>
        <p:nvSpPr>
          <p:cNvPr id="22" name="TextBox 21">
            <a:extLst>
              <a:ext uri="{FF2B5EF4-FFF2-40B4-BE49-F238E27FC236}">
                <a16:creationId xmlns:a16="http://schemas.microsoft.com/office/drawing/2014/main" id="{7161ABDC-4AD1-04C3-CA64-60CE44265627}"/>
              </a:ext>
            </a:extLst>
          </p:cNvPr>
          <p:cNvSpPr txBox="1"/>
          <p:nvPr/>
        </p:nvSpPr>
        <p:spPr>
          <a:xfrm>
            <a:off x="0" y="8115300"/>
            <a:ext cx="18288000" cy="1569660"/>
          </a:xfrm>
          <a:prstGeom prst="rect">
            <a:avLst/>
          </a:prstGeom>
          <a:noFill/>
        </p:spPr>
        <p:txBody>
          <a:bodyPr wrap="square" rtlCol="0">
            <a:spAutoFit/>
          </a:bodyPr>
          <a:lstStyle/>
          <a:p>
            <a:pPr algn="ctr"/>
            <a:r>
              <a:rPr lang="en-CA" sz="3200" dirty="0">
                <a:solidFill>
                  <a:schemeClr val="bg1"/>
                </a:solidFill>
              </a:rPr>
              <a:t>Additionally, the CSA plans to showcase the CSA challenge winning team’s Value-added product (EO challenges 1 and 3) on its LinkedIn platform, with credit to the team. This will give the product visibility among the CSA’s LinkedIn community.</a:t>
            </a:r>
            <a:endParaRPr lang="en-CA" sz="3200" dirty="0">
              <a:solidFill>
                <a:schemeClr val="bg1"/>
              </a:solidFill>
              <a:latin typeface="Univers Condensed Light" panose="020B0306020202040204" pitchFamily="34" charset="0"/>
            </a:endParaRPr>
          </a:p>
        </p:txBody>
      </p:sp>
    </p:spTree>
    <p:extLst>
      <p:ext uri="{BB962C8B-B14F-4D97-AF65-F5344CB8AC3E}">
        <p14:creationId xmlns:p14="http://schemas.microsoft.com/office/powerpoint/2010/main" val="10156955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160205E3-E8EB-BCA5-33CC-39263DD113CB}"/>
              </a:ext>
            </a:extLst>
          </p:cNvPr>
          <p:cNvGrpSpPr/>
          <p:nvPr/>
        </p:nvGrpSpPr>
        <p:grpSpPr>
          <a:xfrm>
            <a:off x="12104897" y="0"/>
            <a:ext cx="6183103" cy="1128946"/>
            <a:chOff x="271187" y="95718"/>
            <a:chExt cx="6183103" cy="1128946"/>
          </a:xfrm>
        </p:grpSpPr>
        <p:sp>
          <p:nvSpPr>
            <p:cNvPr id="3" name="Freeform 7">
              <a:extLst>
                <a:ext uri="{FF2B5EF4-FFF2-40B4-BE49-F238E27FC236}">
                  <a16:creationId xmlns:a16="http://schemas.microsoft.com/office/drawing/2014/main" id="{60F7DAAD-2CC0-D89D-7105-ABD2A9485AA5}"/>
                </a:ext>
              </a:extLst>
            </p:cNvPr>
            <p:cNvSpPr/>
            <p:nvPr/>
          </p:nvSpPr>
          <p:spPr>
            <a:xfrm>
              <a:off x="2534828" y="468440"/>
              <a:ext cx="1765279" cy="756224"/>
            </a:xfrm>
            <a:custGeom>
              <a:avLst/>
              <a:gdLst/>
              <a:ahLst/>
              <a:cxnLst/>
              <a:rect l="l" t="t" r="r" b="b"/>
              <a:pathLst>
                <a:path w="1765279" h="756224">
                  <a:moveTo>
                    <a:pt x="0" y="0"/>
                  </a:moveTo>
                  <a:lnTo>
                    <a:pt x="1765279" y="0"/>
                  </a:lnTo>
                  <a:lnTo>
                    <a:pt x="1765279" y="756225"/>
                  </a:lnTo>
                  <a:lnTo>
                    <a:pt x="0" y="756225"/>
                  </a:lnTo>
                  <a:lnTo>
                    <a:pt x="0" y="0"/>
                  </a:lnTo>
                  <a:close/>
                </a:path>
              </a:pathLst>
            </a:custGeom>
            <a:blipFill>
              <a:blip r:embed="rId2"/>
              <a:stretch>
                <a:fillRect r="-2149"/>
              </a:stretch>
            </a:blipFill>
          </p:spPr>
          <p:txBody>
            <a:bodyPr/>
            <a:lstStyle/>
            <a:p>
              <a:endParaRPr lang="en-US"/>
            </a:p>
          </p:txBody>
        </p:sp>
        <p:sp>
          <p:nvSpPr>
            <p:cNvPr id="4" name="Freeform 8">
              <a:extLst>
                <a:ext uri="{FF2B5EF4-FFF2-40B4-BE49-F238E27FC236}">
                  <a16:creationId xmlns:a16="http://schemas.microsoft.com/office/drawing/2014/main" id="{57A8E7AE-A4F8-0087-2518-20ED842A6A9C}"/>
                </a:ext>
              </a:extLst>
            </p:cNvPr>
            <p:cNvSpPr/>
            <p:nvPr/>
          </p:nvSpPr>
          <p:spPr>
            <a:xfrm>
              <a:off x="271187" y="252914"/>
              <a:ext cx="1855370" cy="971750"/>
            </a:xfrm>
            <a:custGeom>
              <a:avLst/>
              <a:gdLst/>
              <a:ahLst/>
              <a:cxnLst/>
              <a:rect l="l" t="t" r="r" b="b"/>
              <a:pathLst>
                <a:path w="1855370" h="971750">
                  <a:moveTo>
                    <a:pt x="0" y="0"/>
                  </a:moveTo>
                  <a:lnTo>
                    <a:pt x="1855370" y="0"/>
                  </a:lnTo>
                  <a:lnTo>
                    <a:pt x="1855370" y="971750"/>
                  </a:lnTo>
                  <a:lnTo>
                    <a:pt x="0" y="971750"/>
                  </a:lnTo>
                  <a:lnTo>
                    <a:pt x="0" y="0"/>
                  </a:lnTo>
                  <a:close/>
                </a:path>
              </a:pathLst>
            </a:custGeom>
            <a:blipFill>
              <a:blip r:embed="rId3"/>
              <a:stretch>
                <a:fillRect/>
              </a:stretch>
            </a:blipFill>
          </p:spPr>
          <p:txBody>
            <a:bodyPr/>
            <a:lstStyle/>
            <a:p>
              <a:endParaRPr lang="en-US"/>
            </a:p>
          </p:txBody>
        </p:sp>
        <p:sp>
          <p:nvSpPr>
            <p:cNvPr id="5" name="Freeform 9">
              <a:extLst>
                <a:ext uri="{FF2B5EF4-FFF2-40B4-BE49-F238E27FC236}">
                  <a16:creationId xmlns:a16="http://schemas.microsoft.com/office/drawing/2014/main" id="{9476825D-B42D-7DF2-1A13-CE2945881592}"/>
                </a:ext>
              </a:extLst>
            </p:cNvPr>
            <p:cNvSpPr/>
            <p:nvPr/>
          </p:nvSpPr>
          <p:spPr>
            <a:xfrm>
              <a:off x="4477151" y="95718"/>
              <a:ext cx="1977139" cy="1128946"/>
            </a:xfrm>
            <a:custGeom>
              <a:avLst/>
              <a:gdLst/>
              <a:ahLst/>
              <a:cxnLst/>
              <a:rect l="l" t="t" r="r" b="b"/>
              <a:pathLst>
                <a:path w="1977139" h="1128946">
                  <a:moveTo>
                    <a:pt x="0" y="0"/>
                  </a:moveTo>
                  <a:lnTo>
                    <a:pt x="1977139" y="0"/>
                  </a:lnTo>
                  <a:lnTo>
                    <a:pt x="1977139" y="1128946"/>
                  </a:lnTo>
                  <a:lnTo>
                    <a:pt x="0" y="1128946"/>
                  </a:lnTo>
                  <a:lnTo>
                    <a:pt x="0" y="0"/>
                  </a:lnTo>
                  <a:close/>
                </a:path>
              </a:pathLst>
            </a:custGeom>
            <a:blipFill>
              <a:blip r:embed="rId4"/>
              <a:stretch>
                <a:fillRect/>
              </a:stretch>
            </a:blipFill>
          </p:spPr>
          <p:txBody>
            <a:bodyPr/>
            <a:lstStyle/>
            <a:p>
              <a:endParaRPr lang="en-US"/>
            </a:p>
          </p:txBody>
        </p:sp>
      </p:grpSp>
      <p:sp>
        <p:nvSpPr>
          <p:cNvPr id="6" name="TextBox 5">
            <a:extLst>
              <a:ext uri="{FF2B5EF4-FFF2-40B4-BE49-F238E27FC236}">
                <a16:creationId xmlns:a16="http://schemas.microsoft.com/office/drawing/2014/main" id="{00FBBE7A-9F3C-B5F1-1E80-B288F2414C0C}"/>
              </a:ext>
            </a:extLst>
          </p:cNvPr>
          <p:cNvSpPr txBox="1"/>
          <p:nvPr/>
        </p:nvSpPr>
        <p:spPr>
          <a:xfrm>
            <a:off x="132921" y="129301"/>
            <a:ext cx="5201079" cy="746999"/>
          </a:xfrm>
          <a:prstGeom prst="rect">
            <a:avLst/>
          </a:prstGeom>
        </p:spPr>
        <p:txBody>
          <a:bodyPr lIns="0" tIns="0" rIns="0" bIns="0" rtlCol="0" anchor="t">
            <a:spAutoFit/>
          </a:bodyPr>
          <a:lstStyle/>
          <a:p>
            <a:pPr>
              <a:lnSpc>
                <a:spcPts val="6699"/>
              </a:lnSpc>
              <a:spcBef>
                <a:spcPct val="0"/>
              </a:spcBef>
            </a:pPr>
            <a:r>
              <a:rPr lang="en-US" sz="4000" dirty="0">
                <a:solidFill>
                  <a:srgbClr val="FFFFFF"/>
                </a:solidFill>
                <a:latin typeface="HK Modular"/>
                <a:ea typeface="HK Modular"/>
                <a:cs typeface="HK Modular"/>
                <a:sym typeface="HK Modular"/>
              </a:rPr>
              <a:t>Mentors</a:t>
            </a:r>
          </a:p>
        </p:txBody>
      </p:sp>
      <p:graphicFrame>
        <p:nvGraphicFramePr>
          <p:cNvPr id="13" name="Table 12">
            <a:extLst>
              <a:ext uri="{FF2B5EF4-FFF2-40B4-BE49-F238E27FC236}">
                <a16:creationId xmlns:a16="http://schemas.microsoft.com/office/drawing/2014/main" id="{083939C6-6C33-3DD9-2115-1F25DC4A6895}"/>
              </a:ext>
            </a:extLst>
          </p:cNvPr>
          <p:cNvGraphicFramePr>
            <a:graphicFrameLocks noGrp="1"/>
          </p:cNvGraphicFramePr>
          <p:nvPr>
            <p:extLst>
              <p:ext uri="{D42A27DB-BD31-4B8C-83A1-F6EECF244321}">
                <p14:modId xmlns:p14="http://schemas.microsoft.com/office/powerpoint/2010/main" val="2110052719"/>
              </p:ext>
            </p:extLst>
          </p:nvPr>
        </p:nvGraphicFramePr>
        <p:xfrm>
          <a:off x="132921" y="1524294"/>
          <a:ext cx="17926479" cy="8633166"/>
        </p:xfrm>
        <a:graphic>
          <a:graphicData uri="http://schemas.openxmlformats.org/drawingml/2006/table">
            <a:tbl>
              <a:tblPr bandRow="1">
                <a:tableStyleId>{073A0DAA-6AF3-43AB-8588-CEC1D06C72B9}</a:tableStyleId>
              </a:tblPr>
              <a:tblGrid>
                <a:gridCol w="3829479">
                  <a:extLst>
                    <a:ext uri="{9D8B030D-6E8A-4147-A177-3AD203B41FA5}">
                      <a16:colId xmlns:a16="http://schemas.microsoft.com/office/drawing/2014/main" val="1137733399"/>
                    </a:ext>
                  </a:extLst>
                </a:gridCol>
                <a:gridCol w="4191000">
                  <a:extLst>
                    <a:ext uri="{9D8B030D-6E8A-4147-A177-3AD203B41FA5}">
                      <a16:colId xmlns:a16="http://schemas.microsoft.com/office/drawing/2014/main" val="3920451747"/>
                    </a:ext>
                  </a:extLst>
                </a:gridCol>
                <a:gridCol w="9906000">
                  <a:extLst>
                    <a:ext uri="{9D8B030D-6E8A-4147-A177-3AD203B41FA5}">
                      <a16:colId xmlns:a16="http://schemas.microsoft.com/office/drawing/2014/main" val="760261829"/>
                    </a:ext>
                  </a:extLst>
                </a:gridCol>
              </a:tblGrid>
              <a:tr h="784321">
                <a:tc gridSpan="2">
                  <a:txBody>
                    <a:bodyPr/>
                    <a:lstStyle/>
                    <a:p>
                      <a:pPr algn="ctr"/>
                      <a:endParaRPr lang="en-US" sz="4000" dirty="0">
                        <a:latin typeface="HK Modular" panose="020B0604020202020204" charset="0"/>
                      </a:endParaRPr>
                    </a:p>
                  </a:txBody>
                  <a:tcPr anchor="ctr"/>
                </a:tc>
                <a:tc hMerge="1">
                  <a:txBody>
                    <a:bodyPr/>
                    <a:lstStyle/>
                    <a:p>
                      <a:endParaRPr dirty="0"/>
                    </a:p>
                  </a:txBody>
                  <a:tcPr anchor="ctr"/>
                </a:tc>
                <a:tc>
                  <a:txBody>
                    <a:bodyPr/>
                    <a:lstStyle/>
                    <a:p>
                      <a:pPr marL="0" indent="0" algn="ctr">
                        <a:buFont typeface="Arial" panose="020B0604020202020204" pitchFamily="34" charset="0"/>
                        <a:buNone/>
                      </a:pPr>
                      <a:r>
                        <a:rPr lang="en-US" sz="4000" dirty="0">
                          <a:solidFill>
                            <a:schemeClr val="tx1"/>
                          </a:solidFill>
                          <a:latin typeface="HK Modular" panose="020B0604020202020204" charset="0"/>
                        </a:rPr>
                        <a:t>Area of Expertise</a:t>
                      </a:r>
                      <a:endParaRPr lang="en-CA" sz="4000" dirty="0">
                        <a:solidFill>
                          <a:schemeClr val="tx1"/>
                        </a:solidFill>
                        <a:latin typeface="HK Modular" panose="020B0604020202020204" charset="0"/>
                      </a:endParaRPr>
                    </a:p>
                  </a:txBody>
                  <a:tcPr anchor="ctr"/>
                </a:tc>
                <a:extLst>
                  <a:ext uri="{0D108BD9-81ED-4DB2-BD59-A6C34878D82A}">
                    <a16:rowId xmlns:a16="http://schemas.microsoft.com/office/drawing/2014/main" val="1190182734"/>
                  </a:ext>
                </a:extLst>
              </a:tr>
              <a:tr h="587279">
                <a:tc>
                  <a:txBody>
                    <a:bodyPr/>
                    <a:lstStyle/>
                    <a:p>
                      <a:pPr algn="ctr"/>
                      <a:r>
                        <a:rPr lang="en-US" sz="3200" dirty="0">
                          <a:latin typeface="Univers Condensed Light" panose="020B0306020202040204" pitchFamily="34" charset="0"/>
                        </a:rPr>
                        <a:t>Adam Fowler</a:t>
                      </a:r>
                      <a:endParaRPr lang="en-CA" sz="3200" dirty="0">
                        <a:latin typeface="Univers Condensed Light" panose="020B0306020202040204" pitchFamily="34" charset="0"/>
                      </a:endParaRPr>
                    </a:p>
                  </a:txBody>
                  <a:tcPr anchor="ctr"/>
                </a:tc>
                <a:tc>
                  <a:txBody>
                    <a:bodyPr/>
                    <a:lstStyle/>
                    <a:p>
                      <a:pPr algn="ctr"/>
                      <a:r>
                        <a:rPr lang="en-US" sz="3200" dirty="0">
                          <a:latin typeface="Univers Condensed Light" panose="020B0306020202040204" pitchFamily="34" charset="0"/>
                        </a:rPr>
                        <a:t>MDA Space (49North)</a:t>
                      </a:r>
                      <a:endParaRPr lang="en-CA" sz="3200" dirty="0">
                        <a:latin typeface="Univers Condensed Light" panose="020B0306020202040204" pitchFamily="34" charset="0"/>
                      </a:endParaRPr>
                    </a:p>
                  </a:txBody>
                  <a:tcPr anchor="ctr"/>
                </a:tc>
                <a:tc>
                  <a:txBody>
                    <a:bodyPr/>
                    <a:lstStyle/>
                    <a:p>
                      <a:pPr marL="285750" indent="-285750">
                        <a:lnSpc>
                          <a:spcPct val="150000"/>
                        </a:lnSpc>
                        <a:buFont typeface="Arial" panose="020B0604020202020204" pitchFamily="34" charset="0"/>
                        <a:buChar char="•"/>
                      </a:pPr>
                      <a:r>
                        <a:rPr lang="en-CA" sz="1600" dirty="0">
                          <a:solidFill>
                            <a:schemeClr val="tx1"/>
                          </a:solidFill>
                          <a:latin typeface="Univers Condensed Light" panose="020B0306020202040204" pitchFamily="34" charset="0"/>
                        </a:rPr>
                        <a:t>Full stack software developer</a:t>
                      </a:r>
                    </a:p>
                    <a:p>
                      <a:pPr marL="285750" indent="-285750">
                        <a:lnSpc>
                          <a:spcPct val="150000"/>
                        </a:lnSpc>
                        <a:buFont typeface="Arial" panose="020B0604020202020204" pitchFamily="34" charset="0"/>
                        <a:buChar char="•"/>
                      </a:pPr>
                      <a:r>
                        <a:rPr lang="en-CA" sz="1600" dirty="0">
                          <a:solidFill>
                            <a:schemeClr val="tx1"/>
                          </a:solidFill>
                          <a:latin typeface="Univers Condensed Light" panose="020B0306020202040204" pitchFamily="34" charset="0"/>
                        </a:rPr>
                        <a:t>Software design/architecture, automated deployment, &amp; cloud infrastructure knowledge</a:t>
                      </a:r>
                    </a:p>
                  </a:txBody>
                  <a:tcPr anchor="ctr"/>
                </a:tc>
                <a:extLst>
                  <a:ext uri="{0D108BD9-81ED-4DB2-BD59-A6C34878D82A}">
                    <a16:rowId xmlns:a16="http://schemas.microsoft.com/office/drawing/2014/main" val="2430103583"/>
                  </a:ext>
                </a:extLst>
              </a:tr>
              <a:tr h="185460">
                <a:tc>
                  <a:txBody>
                    <a:bodyPr/>
                    <a:lstStyle/>
                    <a:p>
                      <a:pPr algn="ctr"/>
                      <a:r>
                        <a:rPr lang="en-US" sz="3200" dirty="0">
                          <a:latin typeface="Univers Condensed Light" panose="020B0306020202040204" pitchFamily="34" charset="0"/>
                        </a:rPr>
                        <a:t>Ben Harriott</a:t>
                      </a:r>
                      <a:endParaRPr lang="en-CA" sz="3200" dirty="0">
                        <a:latin typeface="Univers Condensed Light" panose="020B0306020202040204" pitchFamily="34" charset="0"/>
                      </a:endParaRPr>
                    </a:p>
                  </a:txBody>
                  <a:tcPr anchor="ctr"/>
                </a:tc>
                <a:tc>
                  <a:txBody>
                    <a:bodyPr/>
                    <a:lstStyle/>
                    <a:p>
                      <a:pPr algn="ctr"/>
                      <a:r>
                        <a:rPr lang="en-US" sz="3200" dirty="0">
                          <a:latin typeface="Univers Condensed Light" panose="020B0306020202040204" pitchFamily="34" charset="0"/>
                        </a:rPr>
                        <a:t>MDA Space</a:t>
                      </a:r>
                      <a:endParaRPr lang="en-CA" sz="3200" dirty="0">
                        <a:latin typeface="Univers Condensed Light" panose="020B0306020202040204" pitchFamily="34" charset="0"/>
                      </a:endParaRPr>
                    </a:p>
                  </a:txBody>
                  <a:tcPr anchor="ctr"/>
                </a:tc>
                <a:tc>
                  <a:txBody>
                    <a:bodyPr/>
                    <a:lstStyle/>
                    <a:p>
                      <a:pPr marL="285750" indent="-285750">
                        <a:lnSpc>
                          <a:spcPct val="150000"/>
                        </a:lnSpc>
                        <a:buFont typeface="Arial" panose="020B0604020202020204" pitchFamily="34" charset="0"/>
                        <a:buChar char="•"/>
                      </a:pPr>
                      <a:r>
                        <a:rPr lang="en-CA" sz="1600" dirty="0">
                          <a:solidFill>
                            <a:schemeClr val="tx1"/>
                          </a:solidFill>
                          <a:latin typeface="Univers Condensed Light" panose="020B0306020202040204" pitchFamily="34" charset="0"/>
                        </a:rPr>
                        <a:t>Software developer on distributed systems </a:t>
                      </a:r>
                    </a:p>
                    <a:p>
                      <a:pPr marL="285750" indent="-285750">
                        <a:lnSpc>
                          <a:spcPct val="150000"/>
                        </a:lnSpc>
                        <a:buFont typeface="Arial" panose="020B0604020202020204" pitchFamily="34" charset="0"/>
                        <a:buChar char="•"/>
                      </a:pPr>
                      <a:r>
                        <a:rPr lang="en-CA" sz="1600" dirty="0">
                          <a:solidFill>
                            <a:schemeClr val="tx1"/>
                          </a:solidFill>
                          <a:latin typeface="Univers Condensed Light" panose="020B0306020202040204" pitchFamily="34" charset="0"/>
                        </a:rPr>
                        <a:t>Software architecture, distributed programming and project planning</a:t>
                      </a:r>
                      <a:endParaRPr lang="en-CA" sz="1600" dirty="0">
                        <a:latin typeface="Univers Condensed Light" panose="020B0306020202040204" pitchFamily="34" charset="0"/>
                      </a:endParaRPr>
                    </a:p>
                  </a:txBody>
                  <a:tcPr anchor="ctr"/>
                </a:tc>
                <a:extLst>
                  <a:ext uri="{0D108BD9-81ED-4DB2-BD59-A6C34878D82A}">
                    <a16:rowId xmlns:a16="http://schemas.microsoft.com/office/drawing/2014/main" val="2366565408"/>
                  </a:ext>
                </a:extLst>
              </a:tr>
              <a:tr h="968732">
                <a:tc>
                  <a:txBody>
                    <a:bodyPr/>
                    <a:lstStyle/>
                    <a:p>
                      <a:pPr algn="ctr"/>
                      <a:r>
                        <a:rPr lang="en-US" sz="3200" dirty="0">
                          <a:latin typeface="Univers Condensed Light" panose="020B0306020202040204" pitchFamily="34" charset="0"/>
                        </a:rPr>
                        <a:t>Keith Pineo</a:t>
                      </a:r>
                      <a:endParaRPr lang="en-CA" sz="3200" dirty="0">
                        <a:latin typeface="Univers Condensed Light" panose="020B0306020202040204" pitchFamily="34" charset="0"/>
                      </a:endParaRPr>
                    </a:p>
                  </a:txBody>
                  <a:tcPr anchor="ctr"/>
                </a:tc>
                <a:tc>
                  <a:txBody>
                    <a:bodyPr/>
                    <a:lstStyle/>
                    <a:p>
                      <a:pPr algn="ctr"/>
                      <a:r>
                        <a:rPr lang="en-US" sz="3200" dirty="0">
                          <a:latin typeface="Univers Condensed Light" panose="020B0306020202040204" pitchFamily="34" charset="0"/>
                        </a:rPr>
                        <a:t>MDA Space</a:t>
                      </a:r>
                      <a:endParaRPr lang="en-CA" sz="3200" dirty="0">
                        <a:latin typeface="Univers Condensed Light" panose="020B0306020202040204" pitchFamily="34" charset="0"/>
                      </a:endParaRPr>
                    </a:p>
                  </a:txBody>
                  <a:tcPr anchor="ctr"/>
                </a:tc>
                <a:tc>
                  <a:txBody>
                    <a:bodyPr/>
                    <a:lstStyle/>
                    <a:p>
                      <a:pPr marL="342900" lvl="0" indent="-342900">
                        <a:lnSpc>
                          <a:spcPct val="150000"/>
                        </a:lnSpc>
                        <a:buFont typeface="Arial" panose="020B0604020202020204" pitchFamily="34" charset="0"/>
                        <a:buChar char="•"/>
                      </a:pPr>
                      <a:r>
                        <a:rPr lang="en-CA" sz="1600" dirty="0">
                          <a:latin typeface="Univers Condensed Light" panose="020B0306020202040204" pitchFamily="34" charset="0"/>
                        </a:rPr>
                        <a:t>Full stack software developer</a:t>
                      </a:r>
                    </a:p>
                    <a:p>
                      <a:pPr marL="342900" lvl="0" indent="-342900">
                        <a:lnSpc>
                          <a:spcPct val="150000"/>
                        </a:lnSpc>
                        <a:buFont typeface="Arial" panose="020B0604020202020204" pitchFamily="34" charset="0"/>
                        <a:buChar char="•"/>
                      </a:pPr>
                      <a:r>
                        <a:rPr lang="en-CA" sz="1600" dirty="0">
                          <a:latin typeface="Univers Condensed Light" panose="020B0306020202040204" pitchFamily="34" charset="0"/>
                        </a:rPr>
                        <a:t>Developer on space mission ground segment systems</a:t>
                      </a:r>
                    </a:p>
                    <a:p>
                      <a:pPr marL="342900" lvl="0" indent="-342900">
                        <a:lnSpc>
                          <a:spcPct val="150000"/>
                        </a:lnSpc>
                        <a:buFont typeface="Arial" panose="020B0604020202020204" pitchFamily="34" charset="0"/>
                        <a:buChar char="•"/>
                      </a:pPr>
                      <a:r>
                        <a:rPr lang="en-CA" sz="1600" dirty="0">
                          <a:latin typeface="Univers Condensed Light" panose="020B0306020202040204" pitchFamily="34" charset="0"/>
                        </a:rPr>
                        <a:t>Electrical engineering</a:t>
                      </a:r>
                    </a:p>
                  </a:txBody>
                  <a:tcPr anchor="ctr"/>
                </a:tc>
                <a:extLst>
                  <a:ext uri="{0D108BD9-81ED-4DB2-BD59-A6C34878D82A}">
                    <a16:rowId xmlns:a16="http://schemas.microsoft.com/office/drawing/2014/main" val="4293749449"/>
                  </a:ext>
                </a:extLst>
              </a:tr>
              <a:tr h="927320">
                <a:tc>
                  <a:txBody>
                    <a:bodyPr/>
                    <a:lstStyle/>
                    <a:p>
                      <a:pPr algn="ctr"/>
                      <a:r>
                        <a:rPr lang="en-US" sz="3200" dirty="0">
                          <a:latin typeface="Univers Condensed Light" panose="020B0306020202040204" pitchFamily="34" charset="0"/>
                        </a:rPr>
                        <a:t>Dalia </a:t>
                      </a:r>
                      <a:r>
                        <a:rPr lang="en-US" sz="3200" dirty="0" err="1">
                          <a:latin typeface="Univers Condensed Light" panose="020B0306020202040204" pitchFamily="34" charset="0"/>
                        </a:rPr>
                        <a:t>Laoubi</a:t>
                      </a:r>
                      <a:endParaRPr lang="en-CA" sz="3200" dirty="0">
                        <a:latin typeface="Univers Condensed Light" panose="020B0306020202040204" pitchFamily="34" charset="0"/>
                      </a:endParaRPr>
                    </a:p>
                  </a:txBody>
                  <a:tcPr anchor="ctr"/>
                </a:tc>
                <a:tc>
                  <a:txBody>
                    <a:bodyPr/>
                    <a:lstStyle/>
                    <a:p>
                      <a:pPr algn="ctr"/>
                      <a:r>
                        <a:rPr lang="en-US" sz="3200" dirty="0">
                          <a:latin typeface="Univers Condensed Light" panose="020B0306020202040204" pitchFamily="34" charset="0"/>
                        </a:rPr>
                        <a:t>CSA</a:t>
                      </a:r>
                      <a:endParaRPr lang="en-CA" sz="3200" dirty="0">
                        <a:latin typeface="Univers Condensed Light" panose="020B0306020202040204" pitchFamily="34" charset="0"/>
                      </a:endParaRPr>
                    </a:p>
                  </a:txBody>
                  <a:tcPr anchor="ctr"/>
                </a:tc>
                <a:tc>
                  <a:txBody>
                    <a:bodyPr/>
                    <a:lstStyle/>
                    <a:p>
                      <a:pPr marL="285750" indent="-285750">
                        <a:lnSpc>
                          <a:spcPct val="150000"/>
                        </a:lnSpc>
                        <a:buFont typeface="Arial" panose="020B0604020202020204" pitchFamily="34" charset="0"/>
                        <a:buChar char="•"/>
                      </a:pPr>
                      <a:r>
                        <a:rPr lang="en-CA" sz="1600" dirty="0">
                          <a:solidFill>
                            <a:schemeClr val="tx1"/>
                          </a:solidFill>
                          <a:latin typeface="Univers Condensed Light" panose="020B0306020202040204" pitchFamily="34" charset="0"/>
                        </a:rPr>
                        <a:t>Mission planner,  Working on disaster monitoring (hurricanes, volcanoes, Floods etc.)</a:t>
                      </a:r>
                    </a:p>
                    <a:p>
                      <a:pPr marL="285750" indent="-285750">
                        <a:lnSpc>
                          <a:spcPct val="150000"/>
                        </a:lnSpc>
                        <a:buFont typeface="Arial" panose="020B0604020202020204" pitchFamily="34" charset="0"/>
                        <a:buChar char="•"/>
                      </a:pPr>
                      <a:r>
                        <a:rPr lang="en-CA" sz="1600" dirty="0">
                          <a:solidFill>
                            <a:schemeClr val="tx1"/>
                          </a:solidFill>
                          <a:latin typeface="Univers Condensed Light" panose="020B0306020202040204" pitchFamily="34" charset="0"/>
                        </a:rPr>
                        <a:t>Acquisitions / Processing of satellite imagery. Development of applications / Strategic planning and engagement.</a:t>
                      </a:r>
                    </a:p>
                  </a:txBody>
                  <a:tcPr anchor="ctr"/>
                </a:tc>
                <a:extLst>
                  <a:ext uri="{0D108BD9-81ED-4DB2-BD59-A6C34878D82A}">
                    <a16:rowId xmlns:a16="http://schemas.microsoft.com/office/drawing/2014/main" val="3922742395"/>
                  </a:ext>
                </a:extLst>
              </a:tr>
              <a:tr h="77408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200" dirty="0">
                          <a:latin typeface="Univers Condensed Light" panose="020B0306020202040204" pitchFamily="34" charset="0"/>
                        </a:rPr>
                        <a:t>Bryce McInnes</a:t>
                      </a:r>
                      <a:endParaRPr lang="en-CA" sz="3200" dirty="0">
                        <a:latin typeface="Univers Condensed Light" panose="020B0306020202040204" pitchFamily="34" charset="0"/>
                      </a:endParaRPr>
                    </a:p>
                  </a:txBody>
                  <a:tcPr anchor="ctr"/>
                </a:tc>
                <a:tc>
                  <a:txBody>
                    <a:bodyPr/>
                    <a:lstStyle/>
                    <a:p>
                      <a:pPr algn="ctr"/>
                      <a:r>
                        <a:rPr lang="en-US" sz="3200" dirty="0" err="1">
                          <a:latin typeface="Univers Condensed Light" panose="020B0306020202040204" pitchFamily="34" charset="0"/>
                        </a:rPr>
                        <a:t>DeepSense</a:t>
                      </a:r>
                      <a:endParaRPr lang="en-CA" sz="3200" dirty="0">
                        <a:latin typeface="Univers Condensed Light" panose="020B0306020202040204" pitchFamily="34" charset="0"/>
                      </a:endParaRPr>
                    </a:p>
                  </a:txBody>
                  <a:tcPr anchor="ctr"/>
                </a:tc>
                <a:tc>
                  <a:txBody>
                    <a:bodyPr/>
                    <a:lstStyle/>
                    <a:p>
                      <a:pPr marL="285750" indent="-285750">
                        <a:lnSpc>
                          <a:spcPct val="150000"/>
                        </a:lnSpc>
                        <a:buFont typeface="Arial" panose="020B0604020202020204" pitchFamily="34" charset="0"/>
                        <a:buChar char="•"/>
                      </a:pPr>
                      <a:r>
                        <a:rPr lang="en-US" sz="1600" dirty="0">
                          <a:solidFill>
                            <a:schemeClr val="tx1"/>
                          </a:solidFill>
                          <a:latin typeface="Univers Condensed Light" panose="020B0306020202040204" pitchFamily="34" charset="0"/>
                        </a:rPr>
                        <a:t>Data &amp; AI Algorithms</a:t>
                      </a:r>
                      <a:endParaRPr lang="en-CA" sz="1600" dirty="0">
                        <a:solidFill>
                          <a:schemeClr val="tx1"/>
                        </a:solidFill>
                        <a:latin typeface="Univers Condensed Light" panose="020B0306020202040204" pitchFamily="34" charset="0"/>
                      </a:endParaRPr>
                    </a:p>
                  </a:txBody>
                  <a:tcPr anchor="ctr"/>
                </a:tc>
                <a:extLst>
                  <a:ext uri="{0D108BD9-81ED-4DB2-BD59-A6C34878D82A}">
                    <a16:rowId xmlns:a16="http://schemas.microsoft.com/office/drawing/2014/main" val="1554304391"/>
                  </a:ext>
                </a:extLst>
              </a:tr>
              <a:tr h="765579">
                <a:tc>
                  <a:txBody>
                    <a:bodyPr/>
                    <a:lstStyle/>
                    <a:p>
                      <a:pPr algn="ctr"/>
                      <a:r>
                        <a:rPr lang="en-US" sz="3200" dirty="0">
                          <a:latin typeface="Univers Condensed Light" panose="020B0306020202040204" pitchFamily="34" charset="0"/>
                        </a:rPr>
                        <a:t>Anastasia Cook</a:t>
                      </a:r>
                      <a:endParaRPr lang="en-CA" sz="3200" dirty="0">
                        <a:latin typeface="Univers Condensed Light" panose="020B0306020202040204" pitchFamily="34" charset="0"/>
                      </a:endParaRPr>
                    </a:p>
                  </a:txBody>
                  <a:tcPr anchor="ctr"/>
                </a:tc>
                <a:tc>
                  <a:txBody>
                    <a:bodyPr/>
                    <a:lstStyle/>
                    <a:p>
                      <a:pPr algn="ctr"/>
                      <a:r>
                        <a:rPr lang="en-US" sz="3200" dirty="0">
                          <a:latin typeface="Univers Condensed Light" panose="020B0306020202040204" pitchFamily="34" charset="0"/>
                        </a:rPr>
                        <a:t>Maritime Launch</a:t>
                      </a:r>
                      <a:endParaRPr lang="en-CA" sz="3200" dirty="0">
                        <a:latin typeface="Univers Condensed Light" panose="020B0306020202040204" pitchFamily="34" charset="0"/>
                      </a:endParaRPr>
                    </a:p>
                  </a:txBody>
                  <a:tcPr anchor="ctr"/>
                </a:tc>
                <a:tc>
                  <a:txBody>
                    <a:bodyPr/>
                    <a:lstStyle/>
                    <a:p>
                      <a:pPr marL="285750" indent="-285750">
                        <a:lnSpc>
                          <a:spcPct val="150000"/>
                        </a:lnSpc>
                        <a:buFont typeface="Arial" panose="020B0604020202020204" pitchFamily="34" charset="0"/>
                        <a:buChar char="•"/>
                      </a:pPr>
                      <a:r>
                        <a:rPr lang="en-US" sz="1600" dirty="0">
                          <a:solidFill>
                            <a:schemeClr val="tx1"/>
                          </a:solidFill>
                          <a:latin typeface="Univers Condensed Light" panose="020B0306020202040204" pitchFamily="34" charset="0"/>
                        </a:rPr>
                        <a:t>3D modelling</a:t>
                      </a:r>
                    </a:p>
                    <a:p>
                      <a:pPr marL="285750" indent="-285750">
                        <a:lnSpc>
                          <a:spcPct val="150000"/>
                        </a:lnSpc>
                        <a:buFont typeface="Arial" panose="020B0604020202020204" pitchFamily="34" charset="0"/>
                        <a:buChar char="•"/>
                      </a:pPr>
                      <a:r>
                        <a:rPr lang="en-US" sz="1600" dirty="0">
                          <a:solidFill>
                            <a:schemeClr val="tx1"/>
                          </a:solidFill>
                          <a:latin typeface="Univers Condensed Light" panose="020B0306020202040204" pitchFamily="34" charset="0"/>
                        </a:rPr>
                        <a:t>Communications</a:t>
                      </a:r>
                    </a:p>
                    <a:p>
                      <a:pPr marL="285750" indent="-285750">
                        <a:lnSpc>
                          <a:spcPct val="150000"/>
                        </a:lnSpc>
                        <a:buFont typeface="Arial" panose="020B0604020202020204" pitchFamily="34" charset="0"/>
                        <a:buChar char="•"/>
                      </a:pPr>
                      <a:r>
                        <a:rPr lang="en-US" sz="1600" dirty="0">
                          <a:solidFill>
                            <a:schemeClr val="tx1"/>
                          </a:solidFill>
                          <a:latin typeface="Univers Condensed Light" panose="020B0306020202040204" pitchFamily="34" charset="0"/>
                        </a:rPr>
                        <a:t>Digital design</a:t>
                      </a:r>
                      <a:endParaRPr lang="en-CA" sz="1600" dirty="0">
                        <a:solidFill>
                          <a:schemeClr val="tx1"/>
                        </a:solidFill>
                        <a:latin typeface="Univers Condensed Light" panose="020B0306020202040204" pitchFamily="34" charset="0"/>
                      </a:endParaRPr>
                    </a:p>
                  </a:txBody>
                  <a:tcPr anchor="ctr"/>
                </a:tc>
                <a:extLst>
                  <a:ext uri="{0D108BD9-81ED-4DB2-BD59-A6C34878D82A}">
                    <a16:rowId xmlns:a16="http://schemas.microsoft.com/office/drawing/2014/main" val="708217330"/>
                  </a:ext>
                </a:extLst>
              </a:tr>
              <a:tr h="765579">
                <a:tc>
                  <a:txBody>
                    <a:bodyPr/>
                    <a:lstStyle/>
                    <a:p>
                      <a:pPr algn="ctr"/>
                      <a:r>
                        <a:rPr lang="en-US" sz="3200" dirty="0">
                          <a:latin typeface="Univers Condensed Light" panose="020B0306020202040204" pitchFamily="34" charset="0"/>
                        </a:rPr>
                        <a:t>David Muresan</a:t>
                      </a:r>
                      <a:endParaRPr lang="en-CA" sz="3200" dirty="0">
                        <a:latin typeface="Univers Condensed Light" panose="020B0306020202040204" pitchFamily="34" charset="0"/>
                      </a:endParaRPr>
                    </a:p>
                  </a:txBody>
                  <a:tcPr anchor="ctr"/>
                </a:tc>
                <a:tc>
                  <a:txBody>
                    <a:bodyPr/>
                    <a:lstStyle/>
                    <a:p>
                      <a:pPr algn="ctr"/>
                      <a:r>
                        <a:rPr lang="en-US" sz="3200" dirty="0">
                          <a:latin typeface="Univers Condensed Light" panose="020B0306020202040204" pitchFamily="34" charset="0"/>
                        </a:rPr>
                        <a:t>Maritime Launch</a:t>
                      </a:r>
                      <a:endParaRPr lang="en-CA" sz="3200" dirty="0">
                        <a:latin typeface="Univers Condensed Light" panose="020B0306020202040204" pitchFamily="34" charset="0"/>
                      </a:endParaRPr>
                    </a:p>
                  </a:txBody>
                  <a:tcPr anchor="ctr"/>
                </a:tc>
                <a:tc>
                  <a:txBody>
                    <a:bodyPr/>
                    <a:lstStyle/>
                    <a:p>
                      <a:pPr marL="285750" indent="-285750">
                        <a:lnSpc>
                          <a:spcPct val="150000"/>
                        </a:lnSpc>
                        <a:buFont typeface="Arial" panose="020B0604020202020204" pitchFamily="34" charset="0"/>
                        <a:buChar char="•"/>
                      </a:pPr>
                      <a:r>
                        <a:rPr lang="en-US" sz="1600" dirty="0">
                          <a:solidFill>
                            <a:schemeClr val="tx1"/>
                          </a:solidFill>
                          <a:latin typeface="Univers Condensed Light" panose="020B0306020202040204" pitchFamily="34" charset="0"/>
                        </a:rPr>
                        <a:t>Aerospace Engineer</a:t>
                      </a:r>
                    </a:p>
                    <a:p>
                      <a:pPr marL="285750" indent="-285750">
                        <a:lnSpc>
                          <a:spcPct val="150000"/>
                        </a:lnSpc>
                        <a:buFont typeface="Arial" panose="020B0604020202020204" pitchFamily="34" charset="0"/>
                        <a:buChar char="•"/>
                      </a:pPr>
                      <a:r>
                        <a:rPr lang="en-US" sz="1600" dirty="0">
                          <a:solidFill>
                            <a:schemeClr val="tx1"/>
                          </a:solidFill>
                          <a:latin typeface="Univers Condensed Light" panose="020B0306020202040204" pitchFamily="34" charset="0"/>
                        </a:rPr>
                        <a:t>Rocket Design</a:t>
                      </a:r>
                    </a:p>
                    <a:p>
                      <a:pPr marL="285750" indent="-285750">
                        <a:lnSpc>
                          <a:spcPct val="150000"/>
                        </a:lnSpc>
                        <a:buFont typeface="Arial" panose="020B0604020202020204" pitchFamily="34" charset="0"/>
                        <a:buChar char="•"/>
                      </a:pPr>
                      <a:r>
                        <a:rPr lang="en-US" sz="1600" dirty="0">
                          <a:solidFill>
                            <a:schemeClr val="tx1"/>
                          </a:solidFill>
                          <a:latin typeface="Univers Condensed Light" panose="020B0306020202040204" pitchFamily="34" charset="0"/>
                        </a:rPr>
                        <a:t>Flight simulations, safety</a:t>
                      </a:r>
                    </a:p>
                    <a:p>
                      <a:pPr marL="285750" indent="-285750">
                        <a:lnSpc>
                          <a:spcPct val="150000"/>
                        </a:lnSpc>
                        <a:buFont typeface="Arial" panose="020B0604020202020204" pitchFamily="34" charset="0"/>
                        <a:buChar char="•"/>
                      </a:pPr>
                      <a:r>
                        <a:rPr lang="en-US" sz="1600" dirty="0">
                          <a:solidFill>
                            <a:schemeClr val="tx1"/>
                          </a:solidFill>
                          <a:latin typeface="Univers Condensed Light" panose="020B0306020202040204" pitchFamily="34" charset="0"/>
                        </a:rPr>
                        <a:t>Data monitoring/analyst</a:t>
                      </a:r>
                    </a:p>
                  </a:txBody>
                  <a:tcPr anchor="ctr"/>
                </a:tc>
                <a:extLst>
                  <a:ext uri="{0D108BD9-81ED-4DB2-BD59-A6C34878D82A}">
                    <a16:rowId xmlns:a16="http://schemas.microsoft.com/office/drawing/2014/main" val="3836001614"/>
                  </a:ext>
                </a:extLst>
              </a:tr>
              <a:tr h="765579">
                <a:tc>
                  <a:txBody>
                    <a:bodyPr/>
                    <a:lstStyle/>
                    <a:p>
                      <a:pPr algn="ctr"/>
                      <a:r>
                        <a:rPr lang="en-US" sz="3200" dirty="0" err="1">
                          <a:latin typeface="Univers Condensed Light" panose="020B0306020202040204" pitchFamily="34" charset="0"/>
                        </a:rPr>
                        <a:t>Jitansh</a:t>
                      </a:r>
                      <a:r>
                        <a:rPr lang="en-US" sz="3200" dirty="0">
                          <a:latin typeface="Univers Condensed Light" panose="020B0306020202040204" pitchFamily="34" charset="0"/>
                        </a:rPr>
                        <a:t> Arora</a:t>
                      </a:r>
                      <a:endParaRPr lang="en-CA" sz="3200" dirty="0">
                        <a:latin typeface="Univers Condensed Light" panose="020B0306020202040204" pitchFamily="34" charset="0"/>
                      </a:endParaRPr>
                    </a:p>
                  </a:txBody>
                  <a:tcPr anchor="ctr"/>
                </a:tc>
                <a:tc>
                  <a:txBody>
                    <a:bodyPr/>
                    <a:lstStyle/>
                    <a:p>
                      <a:pPr algn="ctr"/>
                      <a:r>
                        <a:rPr lang="en-US" sz="3200" dirty="0">
                          <a:latin typeface="Univers Condensed Light" panose="020B0306020202040204" pitchFamily="34" charset="0"/>
                        </a:rPr>
                        <a:t>MDA Space</a:t>
                      </a:r>
                      <a:endParaRPr lang="en-CA" sz="3200" dirty="0">
                        <a:latin typeface="Univers Condensed Light" panose="020B0306020202040204" pitchFamily="34" charset="0"/>
                      </a:endParaRPr>
                    </a:p>
                  </a:txBody>
                  <a:tcPr anchor="ctr"/>
                </a:tc>
                <a:tc>
                  <a:txBody>
                    <a:bodyPr/>
                    <a:lstStyle/>
                    <a:p>
                      <a:pPr marL="285750" indent="-285750">
                        <a:lnSpc>
                          <a:spcPct val="150000"/>
                        </a:lnSpc>
                        <a:buFont typeface="Arial" panose="020B0604020202020204" pitchFamily="34" charset="0"/>
                        <a:buChar char="•"/>
                      </a:pPr>
                      <a:r>
                        <a:rPr lang="en-US" sz="1600" dirty="0">
                          <a:solidFill>
                            <a:schemeClr val="tx1"/>
                          </a:solidFill>
                          <a:latin typeface="Univers Condensed Light" panose="020B0306020202040204" pitchFamily="34" charset="0"/>
                        </a:rPr>
                        <a:t>Junior Mentor</a:t>
                      </a:r>
                    </a:p>
                    <a:p>
                      <a:pPr marL="285750" indent="-285750">
                        <a:lnSpc>
                          <a:spcPct val="150000"/>
                        </a:lnSpc>
                        <a:buFont typeface="Arial" panose="020B0604020202020204" pitchFamily="34" charset="0"/>
                        <a:buChar char="•"/>
                      </a:pPr>
                      <a:r>
                        <a:rPr lang="en-US" sz="1600" dirty="0">
                          <a:solidFill>
                            <a:schemeClr val="tx1"/>
                          </a:solidFill>
                          <a:latin typeface="Univers Condensed Light" panose="020B0306020202040204" pitchFamily="34" charset="0"/>
                        </a:rPr>
                        <a:t>Software Development</a:t>
                      </a:r>
                    </a:p>
                  </a:txBody>
                  <a:tcPr anchor="ctr"/>
                </a:tc>
                <a:extLst>
                  <a:ext uri="{0D108BD9-81ED-4DB2-BD59-A6C34878D82A}">
                    <a16:rowId xmlns:a16="http://schemas.microsoft.com/office/drawing/2014/main" val="3868560779"/>
                  </a:ext>
                </a:extLst>
              </a:tr>
            </a:tbl>
          </a:graphicData>
        </a:graphic>
      </p:graphicFrame>
    </p:spTree>
    <p:extLst>
      <p:ext uri="{BB962C8B-B14F-4D97-AF65-F5344CB8AC3E}">
        <p14:creationId xmlns:p14="http://schemas.microsoft.com/office/powerpoint/2010/main" val="8733491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86881CD-ED64-BE5D-0F1A-AED9710732A4}"/>
              </a:ext>
            </a:extLst>
          </p:cNvPr>
          <p:cNvPicPr>
            <a:picLocks noChangeAspect="1"/>
          </p:cNvPicPr>
          <p:nvPr/>
        </p:nvPicPr>
        <p:blipFill>
          <a:blip r:embed="rId2"/>
          <a:stretch>
            <a:fillRect/>
          </a:stretch>
        </p:blipFill>
        <p:spPr>
          <a:xfrm>
            <a:off x="7510461" y="6226510"/>
            <a:ext cx="3267078" cy="3336590"/>
          </a:xfrm>
          <a:prstGeom prst="rect">
            <a:avLst/>
          </a:prstGeom>
        </p:spPr>
      </p:pic>
      <p:grpSp>
        <p:nvGrpSpPr>
          <p:cNvPr id="2" name="Group 1">
            <a:extLst>
              <a:ext uri="{FF2B5EF4-FFF2-40B4-BE49-F238E27FC236}">
                <a16:creationId xmlns:a16="http://schemas.microsoft.com/office/drawing/2014/main" id="{6816D90D-547A-BBEE-151B-2BB985F80064}"/>
              </a:ext>
            </a:extLst>
          </p:cNvPr>
          <p:cNvGrpSpPr/>
          <p:nvPr/>
        </p:nvGrpSpPr>
        <p:grpSpPr>
          <a:xfrm>
            <a:off x="12104897" y="0"/>
            <a:ext cx="6183103" cy="1128946"/>
            <a:chOff x="271187" y="95718"/>
            <a:chExt cx="6183103" cy="1128946"/>
          </a:xfrm>
        </p:grpSpPr>
        <p:sp>
          <p:nvSpPr>
            <p:cNvPr id="3" name="Freeform 7">
              <a:extLst>
                <a:ext uri="{FF2B5EF4-FFF2-40B4-BE49-F238E27FC236}">
                  <a16:creationId xmlns:a16="http://schemas.microsoft.com/office/drawing/2014/main" id="{AB2D0D63-DED5-0AE2-D015-DA21666BA24F}"/>
                </a:ext>
              </a:extLst>
            </p:cNvPr>
            <p:cNvSpPr/>
            <p:nvPr/>
          </p:nvSpPr>
          <p:spPr>
            <a:xfrm>
              <a:off x="2534828" y="468440"/>
              <a:ext cx="1765279" cy="756224"/>
            </a:xfrm>
            <a:custGeom>
              <a:avLst/>
              <a:gdLst/>
              <a:ahLst/>
              <a:cxnLst/>
              <a:rect l="l" t="t" r="r" b="b"/>
              <a:pathLst>
                <a:path w="1765279" h="756224">
                  <a:moveTo>
                    <a:pt x="0" y="0"/>
                  </a:moveTo>
                  <a:lnTo>
                    <a:pt x="1765279" y="0"/>
                  </a:lnTo>
                  <a:lnTo>
                    <a:pt x="1765279" y="756225"/>
                  </a:lnTo>
                  <a:lnTo>
                    <a:pt x="0" y="756225"/>
                  </a:lnTo>
                  <a:lnTo>
                    <a:pt x="0" y="0"/>
                  </a:lnTo>
                  <a:close/>
                </a:path>
              </a:pathLst>
            </a:custGeom>
            <a:blipFill>
              <a:blip r:embed="rId3"/>
              <a:stretch>
                <a:fillRect r="-2149"/>
              </a:stretch>
            </a:blipFill>
          </p:spPr>
          <p:txBody>
            <a:bodyPr/>
            <a:lstStyle/>
            <a:p>
              <a:endParaRPr lang="en-US"/>
            </a:p>
          </p:txBody>
        </p:sp>
        <p:sp>
          <p:nvSpPr>
            <p:cNvPr id="4" name="Freeform 8">
              <a:extLst>
                <a:ext uri="{FF2B5EF4-FFF2-40B4-BE49-F238E27FC236}">
                  <a16:creationId xmlns:a16="http://schemas.microsoft.com/office/drawing/2014/main" id="{74F67A2C-3F9F-955D-5DC4-2E7149F2EDF9}"/>
                </a:ext>
              </a:extLst>
            </p:cNvPr>
            <p:cNvSpPr/>
            <p:nvPr/>
          </p:nvSpPr>
          <p:spPr>
            <a:xfrm>
              <a:off x="271187" y="252914"/>
              <a:ext cx="1855370" cy="971750"/>
            </a:xfrm>
            <a:custGeom>
              <a:avLst/>
              <a:gdLst/>
              <a:ahLst/>
              <a:cxnLst/>
              <a:rect l="l" t="t" r="r" b="b"/>
              <a:pathLst>
                <a:path w="1855370" h="971750">
                  <a:moveTo>
                    <a:pt x="0" y="0"/>
                  </a:moveTo>
                  <a:lnTo>
                    <a:pt x="1855370" y="0"/>
                  </a:lnTo>
                  <a:lnTo>
                    <a:pt x="1855370" y="971750"/>
                  </a:lnTo>
                  <a:lnTo>
                    <a:pt x="0" y="971750"/>
                  </a:lnTo>
                  <a:lnTo>
                    <a:pt x="0" y="0"/>
                  </a:lnTo>
                  <a:close/>
                </a:path>
              </a:pathLst>
            </a:custGeom>
            <a:blipFill>
              <a:blip r:embed="rId4"/>
              <a:stretch>
                <a:fillRect/>
              </a:stretch>
            </a:blipFill>
          </p:spPr>
          <p:txBody>
            <a:bodyPr/>
            <a:lstStyle/>
            <a:p>
              <a:endParaRPr lang="en-US"/>
            </a:p>
          </p:txBody>
        </p:sp>
        <p:sp>
          <p:nvSpPr>
            <p:cNvPr id="5" name="Freeform 9">
              <a:extLst>
                <a:ext uri="{FF2B5EF4-FFF2-40B4-BE49-F238E27FC236}">
                  <a16:creationId xmlns:a16="http://schemas.microsoft.com/office/drawing/2014/main" id="{A8F39135-5077-DF4E-0233-B3E1F3A688DF}"/>
                </a:ext>
              </a:extLst>
            </p:cNvPr>
            <p:cNvSpPr/>
            <p:nvPr/>
          </p:nvSpPr>
          <p:spPr>
            <a:xfrm>
              <a:off x="4477151" y="95718"/>
              <a:ext cx="1977139" cy="1128946"/>
            </a:xfrm>
            <a:custGeom>
              <a:avLst/>
              <a:gdLst/>
              <a:ahLst/>
              <a:cxnLst/>
              <a:rect l="l" t="t" r="r" b="b"/>
              <a:pathLst>
                <a:path w="1977139" h="1128946">
                  <a:moveTo>
                    <a:pt x="0" y="0"/>
                  </a:moveTo>
                  <a:lnTo>
                    <a:pt x="1977139" y="0"/>
                  </a:lnTo>
                  <a:lnTo>
                    <a:pt x="1977139" y="1128946"/>
                  </a:lnTo>
                  <a:lnTo>
                    <a:pt x="0" y="1128946"/>
                  </a:lnTo>
                  <a:lnTo>
                    <a:pt x="0" y="0"/>
                  </a:lnTo>
                  <a:close/>
                </a:path>
              </a:pathLst>
            </a:custGeom>
            <a:blipFill>
              <a:blip r:embed="rId5"/>
              <a:stretch>
                <a:fillRect/>
              </a:stretch>
            </a:blipFill>
          </p:spPr>
          <p:txBody>
            <a:bodyPr/>
            <a:lstStyle/>
            <a:p>
              <a:endParaRPr lang="en-US"/>
            </a:p>
          </p:txBody>
        </p:sp>
      </p:grpSp>
      <p:sp>
        <p:nvSpPr>
          <p:cNvPr id="8" name="TextBox 10">
            <a:extLst>
              <a:ext uri="{FF2B5EF4-FFF2-40B4-BE49-F238E27FC236}">
                <a16:creationId xmlns:a16="http://schemas.microsoft.com/office/drawing/2014/main" id="{06E85916-4FF6-08CD-F663-A281184C5FC4}"/>
              </a:ext>
            </a:extLst>
          </p:cNvPr>
          <p:cNvSpPr txBox="1"/>
          <p:nvPr/>
        </p:nvSpPr>
        <p:spPr>
          <a:xfrm>
            <a:off x="3543300" y="2705100"/>
            <a:ext cx="11552372" cy="1474763"/>
          </a:xfrm>
          <a:prstGeom prst="rect">
            <a:avLst/>
          </a:prstGeom>
        </p:spPr>
        <p:txBody>
          <a:bodyPr wrap="square" lIns="0" tIns="0" rIns="0" bIns="0" rtlCol="0" anchor="t">
            <a:spAutoFit/>
          </a:bodyPr>
          <a:lstStyle/>
          <a:p>
            <a:pPr algn="ctr">
              <a:lnSpc>
                <a:spcPts val="11528"/>
              </a:lnSpc>
              <a:spcBef>
                <a:spcPct val="0"/>
              </a:spcBef>
            </a:pPr>
            <a:r>
              <a:rPr lang="en-US" sz="10024" dirty="0">
                <a:solidFill>
                  <a:srgbClr val="FFFFFF"/>
                </a:solidFill>
                <a:latin typeface="HK Modular"/>
                <a:ea typeface="HK Modular"/>
                <a:cs typeface="HK Modular"/>
                <a:sym typeface="HK Modular"/>
              </a:rPr>
              <a:t>Questions?</a:t>
            </a:r>
          </a:p>
        </p:txBody>
      </p:sp>
      <p:sp>
        <p:nvSpPr>
          <p:cNvPr id="10" name="TextBox 9">
            <a:extLst>
              <a:ext uri="{FF2B5EF4-FFF2-40B4-BE49-F238E27FC236}">
                <a16:creationId xmlns:a16="http://schemas.microsoft.com/office/drawing/2014/main" id="{B41C43CD-4017-5559-C114-8C5A996A14ED}"/>
              </a:ext>
            </a:extLst>
          </p:cNvPr>
          <p:cNvSpPr txBox="1"/>
          <p:nvPr/>
        </p:nvSpPr>
        <p:spPr>
          <a:xfrm>
            <a:off x="2552700" y="4305300"/>
            <a:ext cx="13182600" cy="1658403"/>
          </a:xfrm>
          <a:prstGeom prst="rect">
            <a:avLst/>
          </a:prstGeom>
          <a:noFill/>
        </p:spPr>
        <p:txBody>
          <a:bodyPr wrap="square" rtlCol="0">
            <a:spAutoFit/>
          </a:bodyPr>
          <a:lstStyle/>
          <a:p>
            <a:pPr algn="ctr">
              <a:lnSpc>
                <a:spcPct val="150000"/>
              </a:lnSpc>
            </a:pPr>
            <a:r>
              <a:rPr lang="en-CA" sz="3600" dirty="0">
                <a:solidFill>
                  <a:schemeClr val="bg1"/>
                </a:solidFill>
                <a:latin typeface="Univers Condensed Light" panose="020B0306020202040204" pitchFamily="34" charset="0"/>
              </a:rPr>
              <a:t>Mentors will be on site from start until dinner on Saturday and all-day Sunday.</a:t>
            </a:r>
          </a:p>
          <a:p>
            <a:pPr algn="ctr">
              <a:lnSpc>
                <a:spcPct val="150000"/>
              </a:lnSpc>
            </a:pPr>
            <a:r>
              <a:rPr lang="en-CA" sz="3600" dirty="0">
                <a:solidFill>
                  <a:schemeClr val="bg1"/>
                </a:solidFill>
                <a:latin typeface="Univers Condensed Light" panose="020B0306020202040204" pitchFamily="34" charset="0"/>
              </a:rPr>
              <a:t>Questions can also be directed to the Discord channel</a:t>
            </a:r>
          </a:p>
        </p:txBody>
      </p:sp>
    </p:spTree>
    <p:extLst>
      <p:ext uri="{BB962C8B-B14F-4D97-AF65-F5344CB8AC3E}">
        <p14:creationId xmlns:p14="http://schemas.microsoft.com/office/powerpoint/2010/main" val="33537811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5"/>
          <p:cNvSpPr/>
          <p:nvPr/>
        </p:nvSpPr>
        <p:spPr>
          <a:xfrm>
            <a:off x="13542850" y="1812144"/>
            <a:ext cx="2788651" cy="2210006"/>
          </a:xfrm>
          <a:custGeom>
            <a:avLst/>
            <a:gdLst/>
            <a:ahLst/>
            <a:cxnLst/>
            <a:rect l="l" t="t" r="r" b="b"/>
            <a:pathLst>
              <a:path w="2788651" h="2210006">
                <a:moveTo>
                  <a:pt x="0" y="0"/>
                </a:moveTo>
                <a:lnTo>
                  <a:pt x="2788651" y="0"/>
                </a:lnTo>
                <a:lnTo>
                  <a:pt x="2788651" y="2210006"/>
                </a:lnTo>
                <a:lnTo>
                  <a:pt x="0" y="2210006"/>
                </a:lnTo>
                <a:lnTo>
                  <a:pt x="0" y="0"/>
                </a:lnTo>
                <a:close/>
              </a:path>
            </a:pathLst>
          </a:custGeom>
          <a:blipFill>
            <a:blip r:embed="rId2">
              <a:alphaModFix amt="67000"/>
            </a:blip>
            <a:stretch>
              <a:fillRect/>
            </a:stretch>
          </a:blipFill>
        </p:spPr>
        <p:txBody>
          <a:bodyPr/>
          <a:lstStyle/>
          <a:p>
            <a:endParaRPr lang="en-US"/>
          </a:p>
        </p:txBody>
      </p:sp>
      <p:sp>
        <p:nvSpPr>
          <p:cNvPr id="10" name="TextBox 10"/>
          <p:cNvSpPr txBox="1"/>
          <p:nvPr/>
        </p:nvSpPr>
        <p:spPr>
          <a:xfrm>
            <a:off x="4745150" y="3678159"/>
            <a:ext cx="8797700" cy="2930683"/>
          </a:xfrm>
          <a:prstGeom prst="rect">
            <a:avLst/>
          </a:prstGeom>
        </p:spPr>
        <p:txBody>
          <a:bodyPr wrap="square" lIns="0" tIns="0" rIns="0" bIns="0" rtlCol="0" anchor="t">
            <a:spAutoFit/>
          </a:bodyPr>
          <a:lstStyle/>
          <a:p>
            <a:pPr algn="ctr">
              <a:lnSpc>
                <a:spcPts val="11528"/>
              </a:lnSpc>
              <a:spcBef>
                <a:spcPct val="0"/>
              </a:spcBef>
            </a:pPr>
            <a:r>
              <a:rPr lang="en-US" sz="12400" dirty="0">
                <a:solidFill>
                  <a:srgbClr val="FFFFFF"/>
                </a:solidFill>
                <a:latin typeface="HK Modular"/>
                <a:ea typeface="HK Modular"/>
                <a:cs typeface="HK Modular"/>
                <a:sym typeface="HK Modular"/>
              </a:rPr>
              <a:t>THANK YOU!</a:t>
            </a:r>
          </a:p>
        </p:txBody>
      </p:sp>
      <p:grpSp>
        <p:nvGrpSpPr>
          <p:cNvPr id="20" name="Group 19">
            <a:extLst>
              <a:ext uri="{FF2B5EF4-FFF2-40B4-BE49-F238E27FC236}">
                <a16:creationId xmlns:a16="http://schemas.microsoft.com/office/drawing/2014/main" id="{ECC20E98-36D8-A1A0-B612-E6C17A5592F0}"/>
              </a:ext>
            </a:extLst>
          </p:cNvPr>
          <p:cNvGrpSpPr/>
          <p:nvPr/>
        </p:nvGrpSpPr>
        <p:grpSpPr>
          <a:xfrm>
            <a:off x="4639276" y="73463"/>
            <a:ext cx="9174194" cy="1764412"/>
            <a:chOff x="4639276" y="73463"/>
            <a:chExt cx="9174194" cy="1764412"/>
          </a:xfrm>
        </p:grpSpPr>
        <p:sp>
          <p:nvSpPr>
            <p:cNvPr id="21" name="Freeform 7">
              <a:extLst>
                <a:ext uri="{FF2B5EF4-FFF2-40B4-BE49-F238E27FC236}">
                  <a16:creationId xmlns:a16="http://schemas.microsoft.com/office/drawing/2014/main" id="{65B1ECD0-89BC-D33E-5941-9C6BEAE5B66F}"/>
                </a:ext>
              </a:extLst>
            </p:cNvPr>
            <p:cNvSpPr/>
            <p:nvPr/>
          </p:nvSpPr>
          <p:spPr>
            <a:xfrm>
              <a:off x="7418846" y="598857"/>
              <a:ext cx="2892280" cy="1239018"/>
            </a:xfrm>
            <a:custGeom>
              <a:avLst/>
              <a:gdLst/>
              <a:ahLst/>
              <a:cxnLst/>
              <a:rect l="l" t="t" r="r" b="b"/>
              <a:pathLst>
                <a:path w="2250797" h="964214">
                  <a:moveTo>
                    <a:pt x="0" y="0"/>
                  </a:moveTo>
                  <a:lnTo>
                    <a:pt x="2250798" y="0"/>
                  </a:lnTo>
                  <a:lnTo>
                    <a:pt x="2250798" y="964214"/>
                  </a:lnTo>
                  <a:lnTo>
                    <a:pt x="0" y="964214"/>
                  </a:lnTo>
                  <a:lnTo>
                    <a:pt x="0" y="0"/>
                  </a:lnTo>
                  <a:close/>
                </a:path>
              </a:pathLst>
            </a:custGeom>
            <a:blipFill>
              <a:blip r:embed="rId3"/>
              <a:stretch>
                <a:fillRect r="-2149"/>
              </a:stretch>
            </a:blipFill>
          </p:spPr>
          <p:txBody>
            <a:bodyPr/>
            <a:lstStyle/>
            <a:p>
              <a:endParaRPr lang="en-US" dirty="0"/>
            </a:p>
          </p:txBody>
        </p:sp>
        <p:sp>
          <p:nvSpPr>
            <p:cNvPr id="22" name="Freeform 8">
              <a:extLst>
                <a:ext uri="{FF2B5EF4-FFF2-40B4-BE49-F238E27FC236}">
                  <a16:creationId xmlns:a16="http://schemas.microsoft.com/office/drawing/2014/main" id="{5F898993-5581-5AE7-9633-32F23961462A}"/>
                </a:ext>
              </a:extLst>
            </p:cNvPr>
            <p:cNvSpPr/>
            <p:nvPr/>
          </p:nvSpPr>
          <p:spPr>
            <a:xfrm>
              <a:off x="4639276" y="598857"/>
              <a:ext cx="2365667" cy="1239018"/>
            </a:xfrm>
            <a:custGeom>
              <a:avLst/>
              <a:gdLst/>
              <a:ahLst/>
              <a:cxnLst/>
              <a:rect l="l" t="t" r="r" b="b"/>
              <a:pathLst>
                <a:path w="2365667" h="1239018">
                  <a:moveTo>
                    <a:pt x="0" y="0"/>
                  </a:moveTo>
                  <a:lnTo>
                    <a:pt x="2365667" y="0"/>
                  </a:lnTo>
                  <a:lnTo>
                    <a:pt x="2365667" y="1239018"/>
                  </a:lnTo>
                  <a:lnTo>
                    <a:pt x="0" y="1239018"/>
                  </a:lnTo>
                  <a:lnTo>
                    <a:pt x="0" y="0"/>
                  </a:lnTo>
                  <a:close/>
                </a:path>
              </a:pathLst>
            </a:custGeom>
            <a:blipFill>
              <a:blip r:embed="rId4"/>
              <a:stretch>
                <a:fillRect/>
              </a:stretch>
            </a:blipFill>
          </p:spPr>
          <p:txBody>
            <a:bodyPr/>
            <a:lstStyle/>
            <a:p>
              <a:endParaRPr lang="en-US"/>
            </a:p>
          </p:txBody>
        </p:sp>
        <p:sp>
          <p:nvSpPr>
            <p:cNvPr id="23" name="Freeform 9">
              <a:extLst>
                <a:ext uri="{FF2B5EF4-FFF2-40B4-BE49-F238E27FC236}">
                  <a16:creationId xmlns:a16="http://schemas.microsoft.com/office/drawing/2014/main" id="{A5A341FB-C716-F05D-96E7-0EB21271E993}"/>
                </a:ext>
              </a:extLst>
            </p:cNvPr>
            <p:cNvSpPr/>
            <p:nvPr/>
          </p:nvSpPr>
          <p:spPr>
            <a:xfrm>
              <a:off x="10723434" y="73463"/>
              <a:ext cx="3090036" cy="1764412"/>
            </a:xfrm>
            <a:custGeom>
              <a:avLst/>
              <a:gdLst/>
              <a:ahLst/>
              <a:cxnLst/>
              <a:rect l="l" t="t" r="r" b="b"/>
              <a:pathLst>
                <a:path w="2520926" h="1439449">
                  <a:moveTo>
                    <a:pt x="0" y="0"/>
                  </a:moveTo>
                  <a:lnTo>
                    <a:pt x="2520927" y="0"/>
                  </a:lnTo>
                  <a:lnTo>
                    <a:pt x="2520927" y="1439449"/>
                  </a:lnTo>
                  <a:lnTo>
                    <a:pt x="0" y="1439449"/>
                  </a:lnTo>
                  <a:lnTo>
                    <a:pt x="0" y="0"/>
                  </a:lnTo>
                  <a:close/>
                </a:path>
              </a:pathLst>
            </a:custGeom>
            <a:blipFill>
              <a:blip r:embed="rId5"/>
              <a:stretch>
                <a:fillRect/>
              </a:stretch>
            </a:blipFill>
          </p:spPr>
          <p:txBody>
            <a:bodyPr/>
            <a:lstStyle/>
            <a:p>
              <a:endParaRPr lang="en-US"/>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345DD93B-618A-CBB1-D909-BFC7AA2FD98E}"/>
              </a:ext>
            </a:extLst>
          </p:cNvPr>
          <p:cNvGrpSpPr/>
          <p:nvPr/>
        </p:nvGrpSpPr>
        <p:grpSpPr>
          <a:xfrm>
            <a:off x="12104897" y="0"/>
            <a:ext cx="6183103" cy="1128946"/>
            <a:chOff x="271187" y="95718"/>
            <a:chExt cx="6183103" cy="1128946"/>
          </a:xfrm>
        </p:grpSpPr>
        <p:sp>
          <p:nvSpPr>
            <p:cNvPr id="3" name="Freeform 7">
              <a:extLst>
                <a:ext uri="{FF2B5EF4-FFF2-40B4-BE49-F238E27FC236}">
                  <a16:creationId xmlns:a16="http://schemas.microsoft.com/office/drawing/2014/main" id="{3F3536B4-8C15-9367-BDD0-AD71345635CF}"/>
                </a:ext>
              </a:extLst>
            </p:cNvPr>
            <p:cNvSpPr/>
            <p:nvPr/>
          </p:nvSpPr>
          <p:spPr>
            <a:xfrm>
              <a:off x="2534828" y="468440"/>
              <a:ext cx="1765279" cy="756224"/>
            </a:xfrm>
            <a:custGeom>
              <a:avLst/>
              <a:gdLst/>
              <a:ahLst/>
              <a:cxnLst/>
              <a:rect l="l" t="t" r="r" b="b"/>
              <a:pathLst>
                <a:path w="1765279" h="756224">
                  <a:moveTo>
                    <a:pt x="0" y="0"/>
                  </a:moveTo>
                  <a:lnTo>
                    <a:pt x="1765279" y="0"/>
                  </a:lnTo>
                  <a:lnTo>
                    <a:pt x="1765279" y="756225"/>
                  </a:lnTo>
                  <a:lnTo>
                    <a:pt x="0" y="756225"/>
                  </a:lnTo>
                  <a:lnTo>
                    <a:pt x="0" y="0"/>
                  </a:lnTo>
                  <a:close/>
                </a:path>
              </a:pathLst>
            </a:custGeom>
            <a:blipFill>
              <a:blip r:embed="rId2"/>
              <a:stretch>
                <a:fillRect r="-2149"/>
              </a:stretch>
            </a:blipFill>
          </p:spPr>
          <p:txBody>
            <a:bodyPr/>
            <a:lstStyle/>
            <a:p>
              <a:endParaRPr lang="en-US"/>
            </a:p>
          </p:txBody>
        </p:sp>
        <p:sp>
          <p:nvSpPr>
            <p:cNvPr id="4" name="Freeform 8">
              <a:extLst>
                <a:ext uri="{FF2B5EF4-FFF2-40B4-BE49-F238E27FC236}">
                  <a16:creationId xmlns:a16="http://schemas.microsoft.com/office/drawing/2014/main" id="{A008EFA5-47FA-D81C-C4C3-7A2E8A548B75}"/>
                </a:ext>
              </a:extLst>
            </p:cNvPr>
            <p:cNvSpPr/>
            <p:nvPr/>
          </p:nvSpPr>
          <p:spPr>
            <a:xfrm>
              <a:off x="271187" y="252914"/>
              <a:ext cx="1855370" cy="971750"/>
            </a:xfrm>
            <a:custGeom>
              <a:avLst/>
              <a:gdLst/>
              <a:ahLst/>
              <a:cxnLst/>
              <a:rect l="l" t="t" r="r" b="b"/>
              <a:pathLst>
                <a:path w="1855370" h="971750">
                  <a:moveTo>
                    <a:pt x="0" y="0"/>
                  </a:moveTo>
                  <a:lnTo>
                    <a:pt x="1855370" y="0"/>
                  </a:lnTo>
                  <a:lnTo>
                    <a:pt x="1855370" y="971750"/>
                  </a:lnTo>
                  <a:lnTo>
                    <a:pt x="0" y="971750"/>
                  </a:lnTo>
                  <a:lnTo>
                    <a:pt x="0" y="0"/>
                  </a:lnTo>
                  <a:close/>
                </a:path>
              </a:pathLst>
            </a:custGeom>
            <a:blipFill>
              <a:blip r:embed="rId3"/>
              <a:stretch>
                <a:fillRect/>
              </a:stretch>
            </a:blipFill>
          </p:spPr>
          <p:txBody>
            <a:bodyPr/>
            <a:lstStyle/>
            <a:p>
              <a:endParaRPr lang="en-US"/>
            </a:p>
          </p:txBody>
        </p:sp>
        <p:sp>
          <p:nvSpPr>
            <p:cNvPr id="5" name="Freeform 9">
              <a:extLst>
                <a:ext uri="{FF2B5EF4-FFF2-40B4-BE49-F238E27FC236}">
                  <a16:creationId xmlns:a16="http://schemas.microsoft.com/office/drawing/2014/main" id="{89562CC5-A958-F9AB-3A60-0557E4F0195F}"/>
                </a:ext>
              </a:extLst>
            </p:cNvPr>
            <p:cNvSpPr/>
            <p:nvPr/>
          </p:nvSpPr>
          <p:spPr>
            <a:xfrm>
              <a:off x="4477151" y="95718"/>
              <a:ext cx="1977139" cy="1128946"/>
            </a:xfrm>
            <a:custGeom>
              <a:avLst/>
              <a:gdLst/>
              <a:ahLst/>
              <a:cxnLst/>
              <a:rect l="l" t="t" r="r" b="b"/>
              <a:pathLst>
                <a:path w="1977139" h="1128946">
                  <a:moveTo>
                    <a:pt x="0" y="0"/>
                  </a:moveTo>
                  <a:lnTo>
                    <a:pt x="1977139" y="0"/>
                  </a:lnTo>
                  <a:lnTo>
                    <a:pt x="1977139" y="1128946"/>
                  </a:lnTo>
                  <a:lnTo>
                    <a:pt x="0" y="1128946"/>
                  </a:lnTo>
                  <a:lnTo>
                    <a:pt x="0" y="0"/>
                  </a:lnTo>
                  <a:close/>
                </a:path>
              </a:pathLst>
            </a:custGeom>
            <a:blipFill>
              <a:blip r:embed="rId4"/>
              <a:stretch>
                <a:fillRect/>
              </a:stretch>
            </a:blipFill>
          </p:spPr>
          <p:txBody>
            <a:bodyPr/>
            <a:lstStyle/>
            <a:p>
              <a:endParaRPr lang="en-US"/>
            </a:p>
          </p:txBody>
        </p:sp>
      </p:grpSp>
      <p:sp>
        <p:nvSpPr>
          <p:cNvPr id="6" name="TextBox 5">
            <a:extLst>
              <a:ext uri="{FF2B5EF4-FFF2-40B4-BE49-F238E27FC236}">
                <a16:creationId xmlns:a16="http://schemas.microsoft.com/office/drawing/2014/main" id="{F80F45E1-A80A-525D-8988-BF4B8954FBB1}"/>
              </a:ext>
            </a:extLst>
          </p:cNvPr>
          <p:cNvSpPr txBox="1"/>
          <p:nvPr/>
        </p:nvSpPr>
        <p:spPr>
          <a:xfrm>
            <a:off x="132921" y="129301"/>
            <a:ext cx="5201079" cy="746999"/>
          </a:xfrm>
          <a:prstGeom prst="rect">
            <a:avLst/>
          </a:prstGeom>
        </p:spPr>
        <p:txBody>
          <a:bodyPr lIns="0" tIns="0" rIns="0" bIns="0" rtlCol="0" anchor="t">
            <a:spAutoFit/>
          </a:bodyPr>
          <a:lstStyle/>
          <a:p>
            <a:pPr>
              <a:lnSpc>
                <a:spcPts val="6699"/>
              </a:lnSpc>
              <a:spcBef>
                <a:spcPct val="0"/>
              </a:spcBef>
            </a:pPr>
            <a:r>
              <a:rPr lang="en-US" sz="4000" dirty="0">
                <a:solidFill>
                  <a:srgbClr val="FFFFFF"/>
                </a:solidFill>
                <a:latin typeface="HK Modular"/>
                <a:ea typeface="HK Modular"/>
                <a:cs typeface="HK Modular"/>
                <a:sym typeface="HK Modular"/>
              </a:rPr>
              <a:t>Resources</a:t>
            </a:r>
          </a:p>
        </p:txBody>
      </p:sp>
      <p:sp>
        <p:nvSpPr>
          <p:cNvPr id="12" name="TextBox 11">
            <a:extLst>
              <a:ext uri="{FF2B5EF4-FFF2-40B4-BE49-F238E27FC236}">
                <a16:creationId xmlns:a16="http://schemas.microsoft.com/office/drawing/2014/main" id="{F7E46DD6-A91F-7BA6-F3DC-71FE018D275B}"/>
              </a:ext>
            </a:extLst>
          </p:cNvPr>
          <p:cNvSpPr txBox="1"/>
          <p:nvPr/>
        </p:nvSpPr>
        <p:spPr>
          <a:xfrm>
            <a:off x="1" y="7316569"/>
            <a:ext cx="18287999" cy="646331"/>
          </a:xfrm>
          <a:prstGeom prst="rect">
            <a:avLst/>
          </a:prstGeom>
          <a:noFill/>
        </p:spPr>
        <p:txBody>
          <a:bodyPr wrap="square" rtlCol="0">
            <a:spAutoFit/>
          </a:bodyPr>
          <a:lstStyle/>
          <a:p>
            <a:pPr algn="ctr"/>
            <a:r>
              <a:rPr lang="en-CA" sz="3600" dirty="0">
                <a:solidFill>
                  <a:schemeClr val="accent5">
                    <a:lumMod val="40000"/>
                    <a:lumOff val="60000"/>
                  </a:schemeClr>
                </a:solidFill>
                <a:latin typeface="Univers Condensed Light" panose="020B0306020202040204" pitchFamily="34" charset="0"/>
              </a:rPr>
              <a:t>Note: Teams are welcome to use any other Open-Source dataset independently found</a:t>
            </a:r>
          </a:p>
        </p:txBody>
      </p:sp>
      <p:grpSp>
        <p:nvGrpSpPr>
          <p:cNvPr id="29" name="Group 28">
            <a:extLst>
              <a:ext uri="{FF2B5EF4-FFF2-40B4-BE49-F238E27FC236}">
                <a16:creationId xmlns:a16="http://schemas.microsoft.com/office/drawing/2014/main" id="{1EB5DDF9-3E76-2330-2358-CD6AF54BB46F}"/>
              </a:ext>
            </a:extLst>
          </p:cNvPr>
          <p:cNvGrpSpPr/>
          <p:nvPr/>
        </p:nvGrpSpPr>
        <p:grpSpPr>
          <a:xfrm>
            <a:off x="1461135" y="3009900"/>
            <a:ext cx="2743200" cy="3541931"/>
            <a:chOff x="1461135" y="3009900"/>
            <a:chExt cx="2743200" cy="3541931"/>
          </a:xfrm>
        </p:grpSpPr>
        <p:pic>
          <p:nvPicPr>
            <p:cNvPr id="14" name="Picture 13">
              <a:extLst>
                <a:ext uri="{FF2B5EF4-FFF2-40B4-BE49-F238E27FC236}">
                  <a16:creationId xmlns:a16="http://schemas.microsoft.com/office/drawing/2014/main" id="{E0ECFB48-BAF5-4016-CEBE-B889BA0BE9C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461135" y="3009900"/>
              <a:ext cx="2743200" cy="2743200"/>
            </a:xfrm>
            <a:prstGeom prst="rect">
              <a:avLst/>
            </a:prstGeom>
          </p:spPr>
        </p:pic>
        <p:sp>
          <p:nvSpPr>
            <p:cNvPr id="16" name="TextBox 15">
              <a:extLst>
                <a:ext uri="{FF2B5EF4-FFF2-40B4-BE49-F238E27FC236}">
                  <a16:creationId xmlns:a16="http://schemas.microsoft.com/office/drawing/2014/main" id="{0C7C9B74-4446-AEEB-6105-D1395946865E}"/>
                </a:ext>
              </a:extLst>
            </p:cNvPr>
            <p:cNvSpPr txBox="1"/>
            <p:nvPr/>
          </p:nvSpPr>
          <p:spPr>
            <a:xfrm>
              <a:off x="1847850" y="5905500"/>
              <a:ext cx="1969770" cy="646331"/>
            </a:xfrm>
            <a:prstGeom prst="rect">
              <a:avLst/>
            </a:prstGeom>
            <a:noFill/>
          </p:spPr>
          <p:txBody>
            <a:bodyPr wrap="square" rtlCol="0">
              <a:spAutoFit/>
            </a:bodyPr>
            <a:lstStyle/>
            <a:p>
              <a:pPr algn="ctr"/>
              <a:r>
                <a:rPr lang="en-US" sz="3600" dirty="0">
                  <a:solidFill>
                    <a:schemeClr val="accent5">
                      <a:lumMod val="40000"/>
                      <a:lumOff val="60000"/>
                    </a:schemeClr>
                  </a:solidFill>
                  <a:latin typeface="Univers Condensed Light" panose="020B0306020202040204" pitchFamily="34" charset="0"/>
                  <a:hlinkClick r:id="rId6">
                    <a:extLst>
                      <a:ext uri="{A12FA001-AC4F-418D-AE19-62706E023703}">
                        <ahyp:hlinkClr xmlns:ahyp="http://schemas.microsoft.com/office/drawing/2018/hyperlinkcolor" val="tx"/>
                      </a:ext>
                    </a:extLst>
                  </a:hlinkClick>
                </a:rPr>
                <a:t>EODMS</a:t>
              </a:r>
              <a:endParaRPr lang="en-CA" sz="3600" dirty="0">
                <a:solidFill>
                  <a:schemeClr val="accent5">
                    <a:lumMod val="40000"/>
                    <a:lumOff val="60000"/>
                  </a:schemeClr>
                </a:solidFill>
                <a:latin typeface="Univers Condensed Light" panose="020B0306020202040204" pitchFamily="34" charset="0"/>
              </a:endParaRPr>
            </a:p>
          </p:txBody>
        </p:sp>
      </p:grpSp>
      <p:grpSp>
        <p:nvGrpSpPr>
          <p:cNvPr id="30" name="Group 29">
            <a:extLst>
              <a:ext uri="{FF2B5EF4-FFF2-40B4-BE49-F238E27FC236}">
                <a16:creationId xmlns:a16="http://schemas.microsoft.com/office/drawing/2014/main" id="{4BCB6B0E-8AF2-F85B-FB70-91CAB14076BF}"/>
              </a:ext>
            </a:extLst>
          </p:cNvPr>
          <p:cNvGrpSpPr/>
          <p:nvPr/>
        </p:nvGrpSpPr>
        <p:grpSpPr>
          <a:xfrm>
            <a:off x="5534706" y="3009900"/>
            <a:ext cx="2743200" cy="3541931"/>
            <a:chOff x="5627883" y="3009900"/>
            <a:chExt cx="2743200" cy="3541931"/>
          </a:xfrm>
        </p:grpSpPr>
        <p:pic>
          <p:nvPicPr>
            <p:cNvPr id="18" name="Picture 17">
              <a:extLst>
                <a:ext uri="{FF2B5EF4-FFF2-40B4-BE49-F238E27FC236}">
                  <a16:creationId xmlns:a16="http://schemas.microsoft.com/office/drawing/2014/main" id="{845CC492-2081-F20A-F90D-EE2257967663}"/>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627883" y="3009900"/>
              <a:ext cx="2743200" cy="2743200"/>
            </a:xfrm>
            <a:prstGeom prst="rect">
              <a:avLst/>
            </a:prstGeom>
          </p:spPr>
        </p:pic>
        <p:sp>
          <p:nvSpPr>
            <p:cNvPr id="20" name="TextBox 19">
              <a:extLst>
                <a:ext uri="{FF2B5EF4-FFF2-40B4-BE49-F238E27FC236}">
                  <a16:creationId xmlns:a16="http://schemas.microsoft.com/office/drawing/2014/main" id="{C5832B44-10B0-FCDA-EFD7-C9AFBE098DA8}"/>
                </a:ext>
              </a:extLst>
            </p:cNvPr>
            <p:cNvSpPr txBox="1"/>
            <p:nvPr/>
          </p:nvSpPr>
          <p:spPr>
            <a:xfrm>
              <a:off x="5868471" y="5905500"/>
              <a:ext cx="2262025" cy="646331"/>
            </a:xfrm>
            <a:prstGeom prst="rect">
              <a:avLst/>
            </a:prstGeom>
            <a:noFill/>
          </p:spPr>
          <p:txBody>
            <a:bodyPr wrap="square" rtlCol="0">
              <a:spAutoFit/>
            </a:bodyPr>
            <a:lstStyle/>
            <a:p>
              <a:pPr algn="ctr"/>
              <a:r>
                <a:rPr lang="en-US" sz="3600" dirty="0" err="1">
                  <a:solidFill>
                    <a:schemeClr val="accent5">
                      <a:lumMod val="40000"/>
                      <a:lumOff val="60000"/>
                    </a:schemeClr>
                  </a:solidFill>
                  <a:latin typeface="Univers Condensed Light" panose="020B0306020202040204" pitchFamily="34" charset="0"/>
                  <a:hlinkClick r:id="rId8">
                    <a:extLst>
                      <a:ext uri="{A12FA001-AC4F-418D-AE19-62706E023703}">
                        <ahyp:hlinkClr xmlns:ahyp="http://schemas.microsoft.com/office/drawing/2018/hyperlinkcolor" val="tx"/>
                      </a:ext>
                    </a:extLst>
                  </a:hlinkClick>
                </a:rPr>
                <a:t>SpaceTrack</a:t>
              </a:r>
              <a:endParaRPr lang="en-CA" sz="3600" dirty="0">
                <a:solidFill>
                  <a:schemeClr val="accent5">
                    <a:lumMod val="40000"/>
                    <a:lumOff val="60000"/>
                  </a:schemeClr>
                </a:solidFill>
                <a:latin typeface="Univers Condensed Light" panose="020B0306020202040204" pitchFamily="34" charset="0"/>
              </a:endParaRPr>
            </a:p>
          </p:txBody>
        </p:sp>
      </p:grpSp>
      <p:grpSp>
        <p:nvGrpSpPr>
          <p:cNvPr id="31" name="Group 30">
            <a:extLst>
              <a:ext uri="{FF2B5EF4-FFF2-40B4-BE49-F238E27FC236}">
                <a16:creationId xmlns:a16="http://schemas.microsoft.com/office/drawing/2014/main" id="{20D22599-AC65-B412-C8A9-0E045E4EB655}"/>
              </a:ext>
            </a:extLst>
          </p:cNvPr>
          <p:cNvGrpSpPr/>
          <p:nvPr/>
        </p:nvGrpSpPr>
        <p:grpSpPr>
          <a:xfrm>
            <a:off x="9608277" y="3009900"/>
            <a:ext cx="2743200" cy="3541931"/>
            <a:chOff x="9700243" y="3009900"/>
            <a:chExt cx="2743200" cy="3541931"/>
          </a:xfrm>
        </p:grpSpPr>
        <p:pic>
          <p:nvPicPr>
            <p:cNvPr id="22" name="Picture 21">
              <a:extLst>
                <a:ext uri="{FF2B5EF4-FFF2-40B4-BE49-F238E27FC236}">
                  <a16:creationId xmlns:a16="http://schemas.microsoft.com/office/drawing/2014/main" id="{5684437D-3886-4B29-F032-199A1E6B1254}"/>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9700243" y="3009900"/>
              <a:ext cx="2743200" cy="2743200"/>
            </a:xfrm>
            <a:prstGeom prst="rect">
              <a:avLst/>
            </a:prstGeom>
          </p:spPr>
        </p:pic>
        <p:sp>
          <p:nvSpPr>
            <p:cNvPr id="24" name="TextBox 23">
              <a:extLst>
                <a:ext uri="{FF2B5EF4-FFF2-40B4-BE49-F238E27FC236}">
                  <a16:creationId xmlns:a16="http://schemas.microsoft.com/office/drawing/2014/main" id="{886874C2-B8FD-0429-56F7-7C1C2B83398C}"/>
                </a:ext>
              </a:extLst>
            </p:cNvPr>
            <p:cNvSpPr txBox="1"/>
            <p:nvPr/>
          </p:nvSpPr>
          <p:spPr>
            <a:xfrm>
              <a:off x="9711840" y="5905500"/>
              <a:ext cx="2720006" cy="646331"/>
            </a:xfrm>
            <a:prstGeom prst="rect">
              <a:avLst/>
            </a:prstGeom>
            <a:noFill/>
          </p:spPr>
          <p:txBody>
            <a:bodyPr wrap="square" rtlCol="0">
              <a:spAutoFit/>
            </a:bodyPr>
            <a:lstStyle/>
            <a:p>
              <a:pPr algn="ctr"/>
              <a:r>
                <a:rPr lang="en-US" sz="3600" dirty="0" err="1">
                  <a:solidFill>
                    <a:schemeClr val="accent5">
                      <a:lumMod val="40000"/>
                      <a:lumOff val="60000"/>
                    </a:schemeClr>
                  </a:solidFill>
                  <a:latin typeface="Univers Condensed Light" panose="020B0306020202040204" pitchFamily="34" charset="0"/>
                  <a:hlinkClick r:id="rId10">
                    <a:extLst>
                      <a:ext uri="{A12FA001-AC4F-418D-AE19-62706E023703}">
                        <ahyp:hlinkClr xmlns:ahyp="http://schemas.microsoft.com/office/drawing/2018/hyperlinkcolor" val="tx"/>
                      </a:ext>
                    </a:extLst>
                  </a:hlinkClick>
                </a:rPr>
                <a:t>Celestrak</a:t>
              </a:r>
              <a:endParaRPr lang="en-CA" sz="3600" dirty="0">
                <a:solidFill>
                  <a:schemeClr val="accent5">
                    <a:lumMod val="40000"/>
                    <a:lumOff val="60000"/>
                  </a:schemeClr>
                </a:solidFill>
                <a:latin typeface="Univers Condensed Light" panose="020B0306020202040204" pitchFamily="34" charset="0"/>
              </a:endParaRPr>
            </a:p>
          </p:txBody>
        </p:sp>
      </p:grpSp>
      <p:grpSp>
        <p:nvGrpSpPr>
          <p:cNvPr id="32" name="Group 31">
            <a:extLst>
              <a:ext uri="{FF2B5EF4-FFF2-40B4-BE49-F238E27FC236}">
                <a16:creationId xmlns:a16="http://schemas.microsoft.com/office/drawing/2014/main" id="{5FA06E10-C62C-5561-6F2D-B0DDCB105AFC}"/>
              </a:ext>
            </a:extLst>
          </p:cNvPr>
          <p:cNvGrpSpPr/>
          <p:nvPr/>
        </p:nvGrpSpPr>
        <p:grpSpPr>
          <a:xfrm>
            <a:off x="13681849" y="3009900"/>
            <a:ext cx="2743200" cy="3541931"/>
            <a:chOff x="13681849" y="3009900"/>
            <a:chExt cx="2743200" cy="3541931"/>
          </a:xfrm>
        </p:grpSpPr>
        <p:sp>
          <p:nvSpPr>
            <p:cNvPr id="26" name="TextBox 25">
              <a:extLst>
                <a:ext uri="{FF2B5EF4-FFF2-40B4-BE49-F238E27FC236}">
                  <a16:creationId xmlns:a16="http://schemas.microsoft.com/office/drawing/2014/main" id="{14671599-3D19-0437-0974-3CB595233943}"/>
                </a:ext>
              </a:extLst>
            </p:cNvPr>
            <p:cNvSpPr txBox="1"/>
            <p:nvPr/>
          </p:nvSpPr>
          <p:spPr>
            <a:xfrm>
              <a:off x="13693446" y="5905500"/>
              <a:ext cx="2720006" cy="646331"/>
            </a:xfrm>
            <a:prstGeom prst="rect">
              <a:avLst/>
            </a:prstGeom>
            <a:noFill/>
          </p:spPr>
          <p:txBody>
            <a:bodyPr wrap="square" rtlCol="0">
              <a:spAutoFit/>
            </a:bodyPr>
            <a:lstStyle/>
            <a:p>
              <a:pPr algn="ctr"/>
              <a:r>
                <a:rPr lang="en-US" sz="3600" dirty="0">
                  <a:solidFill>
                    <a:schemeClr val="accent5">
                      <a:lumMod val="40000"/>
                      <a:lumOff val="60000"/>
                    </a:schemeClr>
                  </a:solidFill>
                  <a:latin typeface="Univers Condensed Light" panose="020B0306020202040204" pitchFamily="34" charset="0"/>
                  <a:hlinkClick r:id="rId11">
                    <a:extLst>
                      <a:ext uri="{A12FA001-AC4F-418D-AE19-62706E023703}">
                        <ahyp:hlinkClr xmlns:ahyp="http://schemas.microsoft.com/office/drawing/2018/hyperlinkcolor" val="tx"/>
                      </a:ext>
                    </a:extLst>
                  </a:hlinkClick>
                </a:rPr>
                <a:t>CADC</a:t>
              </a:r>
              <a:endParaRPr lang="en-CA" sz="3600" dirty="0">
                <a:solidFill>
                  <a:schemeClr val="accent5">
                    <a:lumMod val="40000"/>
                    <a:lumOff val="60000"/>
                  </a:schemeClr>
                </a:solidFill>
                <a:latin typeface="Univers Condensed Light" panose="020B0306020202040204" pitchFamily="34" charset="0"/>
              </a:endParaRPr>
            </a:p>
          </p:txBody>
        </p:sp>
        <p:pic>
          <p:nvPicPr>
            <p:cNvPr id="28" name="Picture 27">
              <a:extLst>
                <a:ext uri="{FF2B5EF4-FFF2-40B4-BE49-F238E27FC236}">
                  <a16:creationId xmlns:a16="http://schemas.microsoft.com/office/drawing/2014/main" id="{8587A762-7498-F457-A00D-0DED8214C90D}"/>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13681849" y="3009900"/>
              <a:ext cx="2743200" cy="2743200"/>
            </a:xfrm>
            <a:prstGeom prst="rect">
              <a:avLst/>
            </a:prstGeom>
          </p:spPr>
        </p:pic>
      </p:grpSp>
    </p:spTree>
    <p:extLst>
      <p:ext uri="{BB962C8B-B14F-4D97-AF65-F5344CB8AC3E}">
        <p14:creationId xmlns:p14="http://schemas.microsoft.com/office/powerpoint/2010/main" val="32976014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695</TotalTime>
  <Words>1677</Words>
  <Application>Microsoft Office PowerPoint</Application>
  <PresentationFormat>Custom</PresentationFormat>
  <Paragraphs>257</Paragraphs>
  <Slides>15</Slides>
  <Notes>0</Notes>
  <HiddenSlides>2</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Calibri</vt:lpstr>
      <vt:lpstr>Modular</vt:lpstr>
      <vt:lpstr>Univers Condensed Light</vt:lpstr>
      <vt:lpstr>HK Modular</vt:lpstr>
      <vt:lpstr>Symbol</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Mission Accepted Space Hackathon - ShiftKey &amp; MDA (Presentation)</dc:title>
  <cp:lastModifiedBy>Adam Fowler</cp:lastModifiedBy>
  <cp:revision>40</cp:revision>
  <dcterms:created xsi:type="dcterms:W3CDTF">2006-08-16T00:00:00Z</dcterms:created>
  <dcterms:modified xsi:type="dcterms:W3CDTF">2026-10-02T20:54:01Z</dcterms:modified>
  <dc:identifier>DAG1CZxCevs</dc:identifier>
</cp:coreProperties>
</file>